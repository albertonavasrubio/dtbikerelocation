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72" r:id="rId5"/>
    <p:sldMasterId id="2147483680" r:id="rId6"/>
    <p:sldMasterId id="2147483660" r:id="rId7"/>
  </p:sldMasterIdLst>
  <p:notesMasterIdLst>
    <p:notesMasterId r:id="rId54"/>
  </p:notesMasterIdLst>
  <p:handoutMasterIdLst>
    <p:handoutMasterId r:id="rId55"/>
  </p:handoutMasterIdLst>
  <p:sldIdLst>
    <p:sldId id="257" r:id="rId8"/>
    <p:sldId id="260" r:id="rId9"/>
    <p:sldId id="258" r:id="rId10"/>
    <p:sldId id="338" r:id="rId11"/>
    <p:sldId id="303" r:id="rId12"/>
    <p:sldId id="261" r:id="rId13"/>
    <p:sldId id="302" r:id="rId14"/>
    <p:sldId id="311" r:id="rId15"/>
    <p:sldId id="262" r:id="rId16"/>
    <p:sldId id="312" r:id="rId17"/>
    <p:sldId id="339" r:id="rId18"/>
    <p:sldId id="340" r:id="rId19"/>
    <p:sldId id="315" r:id="rId20"/>
    <p:sldId id="291" r:id="rId21"/>
    <p:sldId id="293" r:id="rId22"/>
    <p:sldId id="325" r:id="rId23"/>
    <p:sldId id="326" r:id="rId24"/>
    <p:sldId id="285" r:id="rId25"/>
    <p:sldId id="308" r:id="rId26"/>
    <p:sldId id="313" r:id="rId27"/>
    <p:sldId id="329" r:id="rId28"/>
    <p:sldId id="330" r:id="rId29"/>
    <p:sldId id="328" r:id="rId30"/>
    <p:sldId id="331" r:id="rId31"/>
    <p:sldId id="314" r:id="rId32"/>
    <p:sldId id="316" r:id="rId33"/>
    <p:sldId id="317" r:id="rId34"/>
    <p:sldId id="307" r:id="rId35"/>
    <p:sldId id="318" r:id="rId36"/>
    <p:sldId id="332" r:id="rId37"/>
    <p:sldId id="333" r:id="rId38"/>
    <p:sldId id="310" r:id="rId39"/>
    <p:sldId id="334" r:id="rId40"/>
    <p:sldId id="294" r:id="rId41"/>
    <p:sldId id="300" r:id="rId42"/>
    <p:sldId id="336" r:id="rId43"/>
    <p:sldId id="335" r:id="rId44"/>
    <p:sldId id="322" r:id="rId45"/>
    <p:sldId id="321" r:id="rId46"/>
    <p:sldId id="301" r:id="rId47"/>
    <p:sldId id="337" r:id="rId48"/>
    <p:sldId id="319" r:id="rId49"/>
    <p:sldId id="320" r:id="rId50"/>
    <p:sldId id="295" r:id="rId51"/>
    <p:sldId id="299" r:id="rId52"/>
    <p:sldId id="290" r:id="rId5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666" y="4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handoutMaster" Target="handoutMasters/handout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3557772F-9FF9-8DA6-64DB-E8F65B0C2CA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E0543B24-5A4E-BB6A-5370-DE42A998EA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6D9389-0A30-CF43-B40A-AB1F8686F000}" type="datetimeFigureOut">
              <a:t>9/20/2024</a:t>
            </a:fld>
            <a:endParaRPr lang="es-ES"/>
          </a:p>
        </p:txBody>
      </p:sp>
      <p:sp>
        <p:nvSpPr>
          <p:cNvPr id="4" name="Marcador de pie de página 3">
            <a:extLst>
              <a:ext uri="{FF2B5EF4-FFF2-40B4-BE49-F238E27FC236}">
                <a16:creationId xmlns:a16="http://schemas.microsoft.com/office/drawing/2014/main" id="{80400BF0-4357-3802-12AA-D0A4F5E2EF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3EAA9A0E-EB13-A1E7-32B2-FB912C3F00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F5583F-0232-8A43-B3F5-EEE48465D73C}" type="slidenum">
              <a:t>‹#›</a:t>
            </a:fld>
            <a:endParaRPr lang="es-ES"/>
          </a:p>
        </p:txBody>
      </p:sp>
    </p:spTree>
    <p:extLst>
      <p:ext uri="{BB962C8B-B14F-4D97-AF65-F5344CB8AC3E}">
        <p14:creationId xmlns:p14="http://schemas.microsoft.com/office/powerpoint/2010/main" val="1607430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A0C01D-CBFD-4899-8F02-F1FA48119A92}" type="datetimeFigureOut">
              <a:rPr lang="es-ES" smtClean="0"/>
              <a:t>20/09/2024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C23654-A396-45A4-BC46-82A1C4034F84}" type="slidenum">
              <a:rPr lang="es-ES" smtClean="0"/>
              <a:t>‹#›</a:t>
            </a:fld>
            <a:endParaRPr lang="es-ES"/>
          </a:p>
        </p:txBody>
      </p:sp>
    </p:spTree>
    <p:extLst>
      <p:ext uri="{BB962C8B-B14F-4D97-AF65-F5344CB8AC3E}">
        <p14:creationId xmlns:p14="http://schemas.microsoft.com/office/powerpoint/2010/main" val="312573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C23654-A396-45A4-BC46-82A1C4034F84}"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78916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gital Twins - Cov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ítulo 12">
            <a:extLst>
              <a:ext uri="{FF2B5EF4-FFF2-40B4-BE49-F238E27FC236}">
                <a16:creationId xmlns:a16="http://schemas.microsoft.com/office/drawing/2014/main" id="{56CF445D-D9B0-87F9-3989-451695AE26F9}"/>
              </a:ext>
            </a:extLst>
          </p:cNvPr>
          <p:cNvSpPr>
            <a:spLocks noGrp="1"/>
          </p:cNvSpPr>
          <p:nvPr>
            <p:ph type="title"/>
          </p:nvPr>
        </p:nvSpPr>
        <p:spPr>
          <a:xfrm>
            <a:off x="500269" y="2103437"/>
            <a:ext cx="6367670" cy="1325563"/>
          </a:xfrm>
          <a:prstGeom prst="rect">
            <a:avLst/>
          </a:prstGeom>
        </p:spPr>
        <p:txBody>
          <a:bodyPr lIns="0" tIns="0" rIns="0" bIns="0"/>
          <a:lstStyle>
            <a:lvl1pPr>
              <a:defRPr sz="3600" b="1" i="0">
                <a:solidFill>
                  <a:schemeClr val="accent1"/>
                </a:solidFill>
                <a:latin typeface="Poppins" pitchFamily="2" charset="77"/>
                <a:cs typeface="Poppins" pitchFamily="2" charset="77"/>
              </a:defRPr>
            </a:lvl1pPr>
          </a:lstStyle>
          <a:p>
            <a:r>
              <a:rPr lang="es-ES"/>
              <a:t>Haga clic para modificar el estilo de título del patrón</a:t>
            </a:r>
          </a:p>
        </p:txBody>
      </p:sp>
      <p:sp>
        <p:nvSpPr>
          <p:cNvPr id="21" name="Marcador de texto 20">
            <a:extLst>
              <a:ext uri="{FF2B5EF4-FFF2-40B4-BE49-F238E27FC236}">
                <a16:creationId xmlns:a16="http://schemas.microsoft.com/office/drawing/2014/main" id="{C6616A20-C1D0-B73B-7DA4-3EAE95B15449}"/>
              </a:ext>
            </a:extLst>
          </p:cNvPr>
          <p:cNvSpPr>
            <a:spLocks noGrp="1"/>
          </p:cNvSpPr>
          <p:nvPr>
            <p:ph type="body" sz="quarter" idx="10"/>
          </p:nvPr>
        </p:nvSpPr>
        <p:spPr>
          <a:xfrm>
            <a:off x="500268" y="3618328"/>
            <a:ext cx="5710527" cy="913916"/>
          </a:xfrm>
          <a:prstGeom prst="rect">
            <a:avLst/>
          </a:prstGeom>
        </p:spPr>
        <p:txBody>
          <a:bodyPr lIns="0" tIns="0" rIns="0" bIns="0"/>
          <a:lstStyle>
            <a:lvl1pPr>
              <a:buClr>
                <a:schemeClr val="accent1"/>
              </a:buClr>
              <a:defRPr sz="2400" b="0" i="0">
                <a:latin typeface="Roboto Light" panose="02000000000000000000" pitchFamily="2" charset="0"/>
                <a:ea typeface="Roboto Light" panose="02000000000000000000" pitchFamily="2" charset="0"/>
              </a:defRPr>
            </a:lvl1pPr>
            <a:lvl2pPr>
              <a:buClr>
                <a:schemeClr val="accent1"/>
              </a:buClr>
              <a:defRPr sz="2000" b="0" i="0">
                <a:latin typeface="Roboto Light" panose="02000000000000000000" pitchFamily="2" charset="0"/>
                <a:ea typeface="Roboto Light" panose="02000000000000000000" pitchFamily="2" charset="0"/>
              </a:defRPr>
            </a:lvl2pPr>
            <a:lvl3pPr>
              <a:buClr>
                <a:schemeClr val="accent1"/>
              </a:buClr>
              <a:defRPr sz="1800" b="0" i="0">
                <a:latin typeface="Roboto Light" panose="02000000000000000000" pitchFamily="2" charset="0"/>
                <a:ea typeface="Roboto Light" panose="02000000000000000000" pitchFamily="2" charset="0"/>
              </a:defRPr>
            </a:lvl3pPr>
            <a:lvl4pPr>
              <a:buClr>
                <a:schemeClr val="accent1"/>
              </a:buClr>
              <a:defRPr sz="1600" b="0" i="0">
                <a:latin typeface="Roboto Light" panose="02000000000000000000" pitchFamily="2" charset="0"/>
                <a:ea typeface="Roboto Light" panose="02000000000000000000" pitchFamily="2" charset="0"/>
              </a:defRPr>
            </a:lvl4pPr>
            <a:lvl5pPr>
              <a:buClr>
                <a:schemeClr val="accent1"/>
              </a:buClr>
              <a:defRPr sz="1600" b="0" i="0">
                <a:latin typeface="Roboto Light" panose="02000000000000000000" pitchFamily="2" charset="0"/>
                <a:ea typeface="Roboto Light" panose="02000000000000000000" pitchFamily="2"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973584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gital Twins - Subsection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ítulo 12">
            <a:extLst>
              <a:ext uri="{FF2B5EF4-FFF2-40B4-BE49-F238E27FC236}">
                <a16:creationId xmlns:a16="http://schemas.microsoft.com/office/drawing/2014/main" id="{ABA4CF48-2F50-10C2-AB3E-493992BFBDD5}"/>
              </a:ext>
            </a:extLst>
          </p:cNvPr>
          <p:cNvSpPr>
            <a:spLocks noGrp="1"/>
          </p:cNvSpPr>
          <p:nvPr>
            <p:ph type="title"/>
          </p:nvPr>
        </p:nvSpPr>
        <p:spPr>
          <a:xfrm>
            <a:off x="1123121" y="2117036"/>
            <a:ext cx="9829801" cy="2246244"/>
          </a:xfrm>
          <a:prstGeom prst="rect">
            <a:avLst/>
          </a:prstGeom>
        </p:spPr>
        <p:txBody>
          <a:bodyPr anchor="ctr"/>
          <a:lstStyle>
            <a:lvl1pPr>
              <a:defRPr sz="5400" b="1" i="0">
                <a:solidFill>
                  <a:schemeClr val="bg1"/>
                </a:solidFill>
                <a:latin typeface="Poppins" pitchFamily="2" charset="77"/>
                <a:cs typeface="Poppins" pitchFamily="2" charset="77"/>
              </a:defRPr>
            </a:lvl1pPr>
          </a:lstStyle>
          <a:p>
            <a:r>
              <a:rPr lang="es-ES"/>
              <a:t>Haga clic para modificar el estilo de título del patrón</a:t>
            </a:r>
          </a:p>
        </p:txBody>
      </p:sp>
    </p:spTree>
    <p:extLst>
      <p:ext uri="{BB962C8B-B14F-4D97-AF65-F5344CB8AC3E}">
        <p14:creationId xmlns:p14="http://schemas.microsoft.com/office/powerpoint/2010/main" val="1064278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gital Twins - Subsection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665CA18F-54CF-C542-6E30-1C00C81A455A}"/>
              </a:ext>
            </a:extLst>
          </p:cNvPr>
          <p:cNvSpPr>
            <a:spLocks noGrp="1"/>
          </p:cNvSpPr>
          <p:nvPr>
            <p:ph type="title"/>
          </p:nvPr>
        </p:nvSpPr>
        <p:spPr>
          <a:xfrm>
            <a:off x="1123121" y="2117036"/>
            <a:ext cx="9829801" cy="2246244"/>
          </a:xfrm>
          <a:prstGeom prst="rect">
            <a:avLst/>
          </a:prstGeom>
        </p:spPr>
        <p:txBody>
          <a:bodyPr anchor="ctr"/>
          <a:lstStyle>
            <a:lvl1pPr>
              <a:defRPr sz="5400" b="1" i="0">
                <a:solidFill>
                  <a:schemeClr val="bg1"/>
                </a:solidFill>
                <a:latin typeface="Poppins" pitchFamily="2" charset="77"/>
                <a:cs typeface="Poppins" pitchFamily="2" charset="77"/>
              </a:defRPr>
            </a:lvl1pPr>
          </a:lstStyle>
          <a:p>
            <a:r>
              <a:rPr lang="es-ES"/>
              <a:t>Haga clic para modificar el estilo de título del patrón</a:t>
            </a:r>
          </a:p>
        </p:txBody>
      </p:sp>
    </p:spTree>
    <p:extLst>
      <p:ext uri="{BB962C8B-B14F-4D97-AF65-F5344CB8AC3E}">
        <p14:creationId xmlns:p14="http://schemas.microsoft.com/office/powerpoint/2010/main" val="2196774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gital Twins - Subsection 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2">
            <a:extLst>
              <a:ext uri="{FF2B5EF4-FFF2-40B4-BE49-F238E27FC236}">
                <a16:creationId xmlns:a16="http://schemas.microsoft.com/office/drawing/2014/main" id="{14551407-4455-54B0-38ED-03F0A3398B8A}"/>
              </a:ext>
            </a:extLst>
          </p:cNvPr>
          <p:cNvSpPr>
            <a:spLocks noGrp="1"/>
          </p:cNvSpPr>
          <p:nvPr>
            <p:ph type="title"/>
          </p:nvPr>
        </p:nvSpPr>
        <p:spPr>
          <a:xfrm>
            <a:off x="1123121" y="2117036"/>
            <a:ext cx="9829801" cy="2246244"/>
          </a:xfrm>
          <a:prstGeom prst="rect">
            <a:avLst/>
          </a:prstGeom>
        </p:spPr>
        <p:txBody>
          <a:bodyPr anchor="ctr"/>
          <a:lstStyle>
            <a:lvl1pPr>
              <a:defRPr sz="5400" b="1" i="0">
                <a:solidFill>
                  <a:schemeClr val="bg1"/>
                </a:solidFill>
                <a:latin typeface="Poppins" pitchFamily="2" charset="77"/>
                <a:cs typeface="Poppins" pitchFamily="2" charset="77"/>
              </a:defRPr>
            </a:lvl1pPr>
          </a:lstStyle>
          <a:p>
            <a:r>
              <a:rPr lang="es-ES"/>
              <a:t>Haga clic para modificar el estilo de título del patrón</a:t>
            </a:r>
          </a:p>
        </p:txBody>
      </p:sp>
    </p:spTree>
    <p:extLst>
      <p:ext uri="{BB962C8B-B14F-4D97-AF65-F5344CB8AC3E}">
        <p14:creationId xmlns:p14="http://schemas.microsoft.com/office/powerpoint/2010/main" val="1044545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gital Twins - End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2">
            <a:extLst>
              <a:ext uri="{FF2B5EF4-FFF2-40B4-BE49-F238E27FC236}">
                <a16:creationId xmlns:a16="http://schemas.microsoft.com/office/drawing/2014/main" id="{FA7660D7-4F13-3E70-1347-083120D8BCDF}"/>
              </a:ext>
            </a:extLst>
          </p:cNvPr>
          <p:cNvSpPr>
            <a:spLocks noGrp="1"/>
          </p:cNvSpPr>
          <p:nvPr>
            <p:ph type="title"/>
          </p:nvPr>
        </p:nvSpPr>
        <p:spPr>
          <a:xfrm>
            <a:off x="1066799" y="1451406"/>
            <a:ext cx="9829801" cy="2246244"/>
          </a:xfrm>
          <a:prstGeom prst="rect">
            <a:avLst/>
          </a:prstGeom>
        </p:spPr>
        <p:txBody>
          <a:bodyPr anchor="ctr"/>
          <a:lstStyle>
            <a:lvl1pPr algn="ctr">
              <a:defRPr sz="4400" b="1" i="0">
                <a:solidFill>
                  <a:schemeClr val="accent1"/>
                </a:solidFill>
                <a:latin typeface="Poppins" pitchFamily="2" charset="77"/>
                <a:cs typeface="Poppins" pitchFamily="2" charset="77"/>
              </a:defRPr>
            </a:lvl1pPr>
          </a:lstStyle>
          <a:p>
            <a:r>
              <a:rPr lang="es-ES"/>
              <a:t>Haga clic para modificar el estilo de título del patrón</a:t>
            </a:r>
          </a:p>
        </p:txBody>
      </p:sp>
      <p:sp>
        <p:nvSpPr>
          <p:cNvPr id="3" name="Marcador de texto 20">
            <a:extLst>
              <a:ext uri="{FF2B5EF4-FFF2-40B4-BE49-F238E27FC236}">
                <a16:creationId xmlns:a16="http://schemas.microsoft.com/office/drawing/2014/main" id="{FCC07AF7-6467-A1CB-6270-6CF97856C55C}"/>
              </a:ext>
            </a:extLst>
          </p:cNvPr>
          <p:cNvSpPr>
            <a:spLocks noGrp="1"/>
          </p:cNvSpPr>
          <p:nvPr>
            <p:ph type="body" sz="quarter" idx="10"/>
          </p:nvPr>
        </p:nvSpPr>
        <p:spPr>
          <a:xfrm>
            <a:off x="3996260" y="4875628"/>
            <a:ext cx="4199479" cy="824464"/>
          </a:xfrm>
          <a:prstGeom prst="rect">
            <a:avLst/>
          </a:prstGeom>
        </p:spPr>
        <p:txBody>
          <a:bodyPr/>
          <a:lstStyle>
            <a:lvl1pPr>
              <a:buClr>
                <a:schemeClr val="accent1"/>
              </a:buClr>
              <a:defRPr sz="2400" b="0" i="0">
                <a:latin typeface="Roboto Light" panose="02000000000000000000" pitchFamily="2" charset="0"/>
                <a:ea typeface="Roboto Light" panose="02000000000000000000" pitchFamily="2" charset="0"/>
              </a:defRPr>
            </a:lvl1pPr>
            <a:lvl2pPr>
              <a:buClr>
                <a:schemeClr val="accent1"/>
              </a:buClr>
              <a:defRPr sz="2000" b="0" i="0">
                <a:latin typeface="Roboto Light" panose="02000000000000000000" pitchFamily="2" charset="0"/>
                <a:ea typeface="Roboto Light" panose="02000000000000000000" pitchFamily="2" charset="0"/>
              </a:defRPr>
            </a:lvl2pPr>
            <a:lvl3pPr>
              <a:buClr>
                <a:schemeClr val="accent1"/>
              </a:buClr>
              <a:defRPr sz="1800" b="0" i="0">
                <a:latin typeface="Roboto Light" panose="02000000000000000000" pitchFamily="2" charset="0"/>
                <a:ea typeface="Roboto Light" panose="02000000000000000000" pitchFamily="2" charset="0"/>
              </a:defRPr>
            </a:lvl3pPr>
            <a:lvl4pPr>
              <a:buClr>
                <a:schemeClr val="accent1"/>
              </a:buClr>
              <a:defRPr sz="1600" b="0" i="0">
                <a:latin typeface="Roboto Light" panose="02000000000000000000" pitchFamily="2" charset="0"/>
                <a:ea typeface="Roboto Light" panose="02000000000000000000" pitchFamily="2" charset="0"/>
              </a:defRPr>
            </a:lvl4pPr>
            <a:lvl5pPr>
              <a:buClr>
                <a:schemeClr val="accent1"/>
              </a:buClr>
              <a:defRPr sz="1600" b="0" i="0">
                <a:latin typeface="Roboto Light" panose="02000000000000000000" pitchFamily="2" charset="0"/>
                <a:ea typeface="Roboto Light" panose="02000000000000000000" pitchFamily="2"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4100985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gital Twins - Table of content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D3F344-4944-AD92-DFAD-73E5B33FB795}"/>
              </a:ext>
            </a:extLst>
          </p:cNvPr>
          <p:cNvSpPr>
            <a:spLocks noGrp="1"/>
          </p:cNvSpPr>
          <p:nvPr>
            <p:ph type="ctrTitle"/>
          </p:nvPr>
        </p:nvSpPr>
        <p:spPr>
          <a:xfrm>
            <a:off x="540026" y="516077"/>
            <a:ext cx="11108636" cy="930206"/>
          </a:xfrm>
        </p:spPr>
        <p:txBody>
          <a:bodyPr anchor="t">
            <a:noAutofit/>
          </a:bodyPr>
          <a:lstStyle>
            <a:lvl1pPr algn="l">
              <a:defRPr sz="4400" b="1" i="0">
                <a:latin typeface="Poppins" pitchFamily="2" charset="77"/>
                <a:cs typeface="Poppins" pitchFamily="2" charset="77"/>
              </a:defRPr>
            </a:lvl1pPr>
          </a:lstStyle>
          <a:p>
            <a:r>
              <a:rPr lang="es-ES"/>
              <a:t>Haga clic para modificar el estilo de título del patrón</a:t>
            </a:r>
          </a:p>
        </p:txBody>
      </p:sp>
      <p:sp>
        <p:nvSpPr>
          <p:cNvPr id="3" name="Subtítulo 2">
            <a:extLst>
              <a:ext uri="{FF2B5EF4-FFF2-40B4-BE49-F238E27FC236}">
                <a16:creationId xmlns:a16="http://schemas.microsoft.com/office/drawing/2014/main" id="{ABE64040-1D6E-4D3E-FE1D-E489D0A8BE85}"/>
              </a:ext>
            </a:extLst>
          </p:cNvPr>
          <p:cNvSpPr>
            <a:spLocks noGrp="1"/>
          </p:cNvSpPr>
          <p:nvPr>
            <p:ph type="subTitle" idx="1"/>
          </p:nvPr>
        </p:nvSpPr>
        <p:spPr>
          <a:xfrm>
            <a:off x="540026" y="3154778"/>
            <a:ext cx="1447800" cy="1655762"/>
          </a:xfrm>
        </p:spPr>
        <p:txBody>
          <a:bodyPr>
            <a:noAutofit/>
          </a:bodyPr>
          <a:lstStyle>
            <a:lvl1pPr marL="0" indent="0" algn="l">
              <a:buNone/>
              <a:defRPr sz="4400" b="1" i="0">
                <a:solidFill>
                  <a:schemeClr val="accent1"/>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13" name="Marcador de texto 12">
            <a:extLst>
              <a:ext uri="{FF2B5EF4-FFF2-40B4-BE49-F238E27FC236}">
                <a16:creationId xmlns:a16="http://schemas.microsoft.com/office/drawing/2014/main" id="{1AD6D224-DCBA-D3A6-EB46-CE0555524F71}"/>
              </a:ext>
            </a:extLst>
          </p:cNvPr>
          <p:cNvSpPr>
            <a:spLocks noGrp="1"/>
          </p:cNvSpPr>
          <p:nvPr>
            <p:ph type="body" sz="quarter" idx="10"/>
          </p:nvPr>
        </p:nvSpPr>
        <p:spPr>
          <a:xfrm>
            <a:off x="2251109" y="3154778"/>
            <a:ext cx="5372204" cy="930205"/>
          </a:xfrm>
        </p:spPr>
        <p:txBody>
          <a:bodyPr>
            <a:noAutofit/>
          </a:bodyPr>
          <a:lstStyle>
            <a:lvl1pPr>
              <a:defRPr sz="2400" b="1" i="0">
                <a:solidFill>
                  <a:schemeClr val="accent1"/>
                </a:solidFill>
                <a:latin typeface="Poppins" pitchFamily="2" charset="77"/>
                <a:cs typeface="Poppins" pitchFamily="2" charset="77"/>
              </a:defRPr>
            </a:lvl1pPr>
            <a:lvl2pPr>
              <a:defRPr sz="2400" b="1" i="0">
                <a:solidFill>
                  <a:schemeClr val="accent1"/>
                </a:solidFill>
                <a:latin typeface="Poppins" pitchFamily="2" charset="77"/>
                <a:cs typeface="Poppins" pitchFamily="2" charset="77"/>
              </a:defRPr>
            </a:lvl2pPr>
            <a:lvl3pPr>
              <a:defRPr sz="2400" b="1" i="0">
                <a:solidFill>
                  <a:schemeClr val="accent1"/>
                </a:solidFill>
                <a:latin typeface="Poppins" pitchFamily="2" charset="77"/>
                <a:cs typeface="Poppins" pitchFamily="2" charset="77"/>
              </a:defRPr>
            </a:lvl3pPr>
            <a:lvl4pPr>
              <a:defRPr sz="2400" b="1" i="0">
                <a:solidFill>
                  <a:schemeClr val="accent1"/>
                </a:solidFill>
                <a:latin typeface="Poppins" pitchFamily="2" charset="77"/>
                <a:cs typeface="Poppins" pitchFamily="2" charset="77"/>
              </a:defRPr>
            </a:lvl4pPr>
            <a:lvl5pPr>
              <a:defRPr sz="2400" b="1" i="0">
                <a:solidFill>
                  <a:schemeClr val="accent1"/>
                </a:solidFill>
                <a:latin typeface="Poppins" pitchFamily="2" charset="77"/>
                <a:cs typeface="Poppins" pitchFamily="2" charset="77"/>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14" name="Marcador de texto 12">
            <a:extLst>
              <a:ext uri="{FF2B5EF4-FFF2-40B4-BE49-F238E27FC236}">
                <a16:creationId xmlns:a16="http://schemas.microsoft.com/office/drawing/2014/main" id="{421635F2-2787-39AF-B8DE-89E765D5B996}"/>
              </a:ext>
            </a:extLst>
          </p:cNvPr>
          <p:cNvSpPr>
            <a:spLocks noGrp="1"/>
          </p:cNvSpPr>
          <p:nvPr>
            <p:ph type="body" sz="quarter" idx="11"/>
          </p:nvPr>
        </p:nvSpPr>
        <p:spPr>
          <a:xfrm>
            <a:off x="2251109" y="4345437"/>
            <a:ext cx="5372204" cy="930205"/>
          </a:xfrm>
        </p:spPr>
        <p:txBody>
          <a:bodyPr>
            <a:noAutofit/>
          </a:bodyPr>
          <a:lstStyle>
            <a:lvl1pPr>
              <a:defRPr sz="1600" b="0" i="0">
                <a:solidFill>
                  <a:schemeClr val="tx2"/>
                </a:solidFill>
                <a:latin typeface="Roboto Light" panose="02000000000000000000" pitchFamily="2" charset="0"/>
                <a:ea typeface="Roboto Light" panose="02000000000000000000" pitchFamily="2" charset="0"/>
              </a:defRPr>
            </a:lvl1pPr>
            <a:lvl2pPr>
              <a:defRPr sz="1600" b="0" i="0">
                <a:solidFill>
                  <a:schemeClr val="tx2"/>
                </a:solidFill>
                <a:latin typeface="Roboto Light" panose="02000000000000000000" pitchFamily="2" charset="0"/>
                <a:ea typeface="Roboto Light" panose="02000000000000000000" pitchFamily="2" charset="0"/>
              </a:defRPr>
            </a:lvl2pPr>
            <a:lvl3pPr>
              <a:defRPr sz="1600" b="0" i="0">
                <a:solidFill>
                  <a:schemeClr val="tx2"/>
                </a:solidFill>
                <a:latin typeface="Roboto Light" panose="02000000000000000000" pitchFamily="2" charset="0"/>
                <a:ea typeface="Roboto Light" panose="02000000000000000000" pitchFamily="2" charset="0"/>
              </a:defRPr>
            </a:lvl3pPr>
            <a:lvl4pPr>
              <a:defRPr sz="1600" b="0" i="0">
                <a:solidFill>
                  <a:schemeClr val="tx2"/>
                </a:solidFill>
                <a:latin typeface="Roboto Light" panose="02000000000000000000" pitchFamily="2" charset="0"/>
                <a:ea typeface="Roboto Light" panose="02000000000000000000" pitchFamily="2" charset="0"/>
              </a:defRPr>
            </a:lvl4pPr>
            <a:lvl5pPr>
              <a:defRPr sz="1600" b="0" i="0">
                <a:solidFill>
                  <a:schemeClr val="tx2"/>
                </a:solidFill>
                <a:latin typeface="Roboto Light" panose="02000000000000000000" pitchFamily="2" charset="0"/>
                <a:ea typeface="Roboto Light" panose="02000000000000000000" pitchFamily="2"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2532787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gital Twins - Title and 1 column content">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D3F344-4944-AD92-DFAD-73E5B33FB795}"/>
              </a:ext>
            </a:extLst>
          </p:cNvPr>
          <p:cNvSpPr>
            <a:spLocks noGrp="1"/>
          </p:cNvSpPr>
          <p:nvPr>
            <p:ph type="ctrTitle"/>
          </p:nvPr>
        </p:nvSpPr>
        <p:spPr>
          <a:xfrm>
            <a:off x="540026" y="516077"/>
            <a:ext cx="11108636" cy="905220"/>
          </a:xfrm>
        </p:spPr>
        <p:txBody>
          <a:bodyPr anchor="t">
            <a:noAutofit/>
          </a:bodyPr>
          <a:lstStyle>
            <a:lvl1pPr algn="l">
              <a:defRPr sz="4400" b="1" i="0">
                <a:latin typeface="Poppins" pitchFamily="2" charset="77"/>
                <a:cs typeface="Poppins" pitchFamily="2" charset="77"/>
              </a:defRPr>
            </a:lvl1pPr>
          </a:lstStyle>
          <a:p>
            <a:r>
              <a:rPr lang="es-ES"/>
              <a:t>Haga clic para modificar el estilo de título del patrón</a:t>
            </a:r>
          </a:p>
        </p:txBody>
      </p:sp>
      <p:sp>
        <p:nvSpPr>
          <p:cNvPr id="4" name="Marcador de contenido 2">
            <a:extLst>
              <a:ext uri="{FF2B5EF4-FFF2-40B4-BE49-F238E27FC236}">
                <a16:creationId xmlns:a16="http://schemas.microsoft.com/office/drawing/2014/main" id="{2FDB5BAE-279B-7C88-FED7-09267C2E5F6B}"/>
              </a:ext>
            </a:extLst>
          </p:cNvPr>
          <p:cNvSpPr>
            <a:spLocks noGrp="1"/>
          </p:cNvSpPr>
          <p:nvPr>
            <p:ph idx="1"/>
          </p:nvPr>
        </p:nvSpPr>
        <p:spPr>
          <a:xfrm>
            <a:off x="540025" y="2352399"/>
            <a:ext cx="11108635" cy="3740288"/>
          </a:xfrm>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959871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gital Twins - Title and 2 columns content">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D3F344-4944-AD92-DFAD-73E5B33FB795}"/>
              </a:ext>
            </a:extLst>
          </p:cNvPr>
          <p:cNvSpPr>
            <a:spLocks noGrp="1"/>
          </p:cNvSpPr>
          <p:nvPr>
            <p:ph type="ctrTitle"/>
          </p:nvPr>
        </p:nvSpPr>
        <p:spPr>
          <a:xfrm>
            <a:off x="540026" y="516076"/>
            <a:ext cx="11108636" cy="865463"/>
          </a:xfrm>
        </p:spPr>
        <p:txBody>
          <a:bodyPr anchor="t">
            <a:noAutofit/>
          </a:bodyPr>
          <a:lstStyle>
            <a:lvl1pPr algn="l">
              <a:defRPr sz="4400" b="1" i="0">
                <a:latin typeface="Poppins" pitchFamily="2" charset="77"/>
                <a:cs typeface="Poppins" pitchFamily="2" charset="77"/>
              </a:defRPr>
            </a:lvl1pPr>
          </a:lstStyle>
          <a:p>
            <a:r>
              <a:rPr lang="es-ES"/>
              <a:t>Haga clic para modificar el estilo de título del patrón</a:t>
            </a:r>
          </a:p>
        </p:txBody>
      </p:sp>
      <p:sp>
        <p:nvSpPr>
          <p:cNvPr id="4" name="Marcador de contenido 2">
            <a:extLst>
              <a:ext uri="{FF2B5EF4-FFF2-40B4-BE49-F238E27FC236}">
                <a16:creationId xmlns:a16="http://schemas.microsoft.com/office/drawing/2014/main" id="{2FDB5BAE-279B-7C88-FED7-09267C2E5F6B}"/>
              </a:ext>
            </a:extLst>
          </p:cNvPr>
          <p:cNvSpPr>
            <a:spLocks noGrp="1"/>
          </p:cNvSpPr>
          <p:nvPr>
            <p:ph idx="1"/>
          </p:nvPr>
        </p:nvSpPr>
        <p:spPr>
          <a:xfrm>
            <a:off x="540025" y="2352399"/>
            <a:ext cx="5393638" cy="3740288"/>
          </a:xfrm>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3" name="Marcador de contenido 2">
            <a:extLst>
              <a:ext uri="{FF2B5EF4-FFF2-40B4-BE49-F238E27FC236}">
                <a16:creationId xmlns:a16="http://schemas.microsoft.com/office/drawing/2014/main" id="{2B5D4C8A-AD80-ED3D-FDAF-04CB9A57ED82}"/>
              </a:ext>
            </a:extLst>
          </p:cNvPr>
          <p:cNvSpPr>
            <a:spLocks noGrp="1"/>
          </p:cNvSpPr>
          <p:nvPr>
            <p:ph idx="10"/>
          </p:nvPr>
        </p:nvSpPr>
        <p:spPr>
          <a:xfrm>
            <a:off x="6255024" y="2352399"/>
            <a:ext cx="5393638" cy="3740288"/>
          </a:xfrm>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377136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gital Twins - Title and 3 columns content">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D3F344-4944-AD92-DFAD-73E5B33FB795}"/>
              </a:ext>
            </a:extLst>
          </p:cNvPr>
          <p:cNvSpPr>
            <a:spLocks noGrp="1"/>
          </p:cNvSpPr>
          <p:nvPr>
            <p:ph type="ctrTitle"/>
          </p:nvPr>
        </p:nvSpPr>
        <p:spPr>
          <a:xfrm>
            <a:off x="540026" y="516076"/>
            <a:ext cx="11108636" cy="865463"/>
          </a:xfrm>
        </p:spPr>
        <p:txBody>
          <a:bodyPr anchor="t">
            <a:noAutofit/>
          </a:bodyPr>
          <a:lstStyle>
            <a:lvl1pPr algn="l">
              <a:defRPr sz="4400" b="1" i="0">
                <a:latin typeface="Poppins" pitchFamily="2" charset="77"/>
                <a:cs typeface="Poppins" pitchFamily="2" charset="77"/>
              </a:defRPr>
            </a:lvl1pPr>
          </a:lstStyle>
          <a:p>
            <a:r>
              <a:rPr lang="es-ES"/>
              <a:t>Haga clic para modificar el estilo de título del patrón</a:t>
            </a:r>
          </a:p>
        </p:txBody>
      </p:sp>
      <p:sp>
        <p:nvSpPr>
          <p:cNvPr id="4" name="Marcador de contenido 2">
            <a:extLst>
              <a:ext uri="{FF2B5EF4-FFF2-40B4-BE49-F238E27FC236}">
                <a16:creationId xmlns:a16="http://schemas.microsoft.com/office/drawing/2014/main" id="{2FDB5BAE-279B-7C88-FED7-09267C2E5F6B}"/>
              </a:ext>
            </a:extLst>
          </p:cNvPr>
          <p:cNvSpPr>
            <a:spLocks noGrp="1"/>
          </p:cNvSpPr>
          <p:nvPr>
            <p:ph idx="1"/>
          </p:nvPr>
        </p:nvSpPr>
        <p:spPr>
          <a:xfrm>
            <a:off x="540026" y="2352399"/>
            <a:ext cx="3349488" cy="3740288"/>
          </a:xfrm>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3" name="Marcador de contenido 2">
            <a:extLst>
              <a:ext uri="{FF2B5EF4-FFF2-40B4-BE49-F238E27FC236}">
                <a16:creationId xmlns:a16="http://schemas.microsoft.com/office/drawing/2014/main" id="{2B5D4C8A-AD80-ED3D-FDAF-04CB9A57ED82}"/>
              </a:ext>
            </a:extLst>
          </p:cNvPr>
          <p:cNvSpPr>
            <a:spLocks noGrp="1"/>
          </p:cNvSpPr>
          <p:nvPr>
            <p:ph idx="10"/>
          </p:nvPr>
        </p:nvSpPr>
        <p:spPr>
          <a:xfrm>
            <a:off x="4419600" y="2352399"/>
            <a:ext cx="3349488" cy="3740288"/>
          </a:xfrm>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contenido 2">
            <a:extLst>
              <a:ext uri="{FF2B5EF4-FFF2-40B4-BE49-F238E27FC236}">
                <a16:creationId xmlns:a16="http://schemas.microsoft.com/office/drawing/2014/main" id="{01B8C199-D536-F672-8555-AC30D6F187C4}"/>
              </a:ext>
            </a:extLst>
          </p:cNvPr>
          <p:cNvSpPr>
            <a:spLocks noGrp="1"/>
          </p:cNvSpPr>
          <p:nvPr>
            <p:ph idx="11"/>
          </p:nvPr>
        </p:nvSpPr>
        <p:spPr>
          <a:xfrm>
            <a:off x="8299174" y="2352399"/>
            <a:ext cx="3349488" cy="3740288"/>
          </a:xfrm>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4272185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gital Twins - Quotatio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D3F344-4944-AD92-DFAD-73E5B33FB795}"/>
              </a:ext>
            </a:extLst>
          </p:cNvPr>
          <p:cNvSpPr>
            <a:spLocks noGrp="1"/>
          </p:cNvSpPr>
          <p:nvPr>
            <p:ph type="ctrTitle"/>
          </p:nvPr>
        </p:nvSpPr>
        <p:spPr>
          <a:xfrm>
            <a:off x="1524000" y="3831945"/>
            <a:ext cx="9144000" cy="477837"/>
          </a:xfrm>
        </p:spPr>
        <p:txBody>
          <a:bodyPr anchor="t">
            <a:normAutofit/>
          </a:bodyPr>
          <a:lstStyle>
            <a:lvl1pPr algn="ctr">
              <a:defRPr sz="2400" b="1" i="0">
                <a:latin typeface="Poppins" pitchFamily="2" charset="77"/>
                <a:cs typeface="Poppins" pitchFamily="2" charset="77"/>
              </a:defRPr>
            </a:lvl1pPr>
          </a:lstStyle>
          <a:p>
            <a:r>
              <a:rPr lang="es-ES"/>
              <a:t>Haga clic para modificar el estilo de título del patrón</a:t>
            </a:r>
          </a:p>
        </p:txBody>
      </p:sp>
      <p:sp>
        <p:nvSpPr>
          <p:cNvPr id="3" name="Subtítulo 2">
            <a:extLst>
              <a:ext uri="{FF2B5EF4-FFF2-40B4-BE49-F238E27FC236}">
                <a16:creationId xmlns:a16="http://schemas.microsoft.com/office/drawing/2014/main" id="{ABE64040-1D6E-4D3E-FE1D-E489D0A8BE85}"/>
              </a:ext>
            </a:extLst>
          </p:cNvPr>
          <p:cNvSpPr>
            <a:spLocks noGrp="1"/>
          </p:cNvSpPr>
          <p:nvPr>
            <p:ph type="subTitle" idx="1"/>
          </p:nvPr>
        </p:nvSpPr>
        <p:spPr>
          <a:xfrm>
            <a:off x="1524000" y="2028732"/>
            <a:ext cx="9144000" cy="1655762"/>
          </a:xfrm>
        </p:spPr>
        <p:txBody>
          <a:bodyPr>
            <a:normAutofit/>
          </a:bodyPr>
          <a:lstStyle>
            <a:lvl1pPr marL="0" indent="0" algn="ctr">
              <a:buNone/>
              <a:defRPr sz="4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Tree>
    <p:extLst>
      <p:ext uri="{BB962C8B-B14F-4D97-AF65-F5344CB8AC3E}">
        <p14:creationId xmlns:p14="http://schemas.microsoft.com/office/powerpoint/2010/main" val="21745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Digital Twins - Section headin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2AF080-18CF-68F7-938A-2C486AB561A6}"/>
              </a:ext>
            </a:extLst>
          </p:cNvPr>
          <p:cNvSpPr>
            <a:spLocks noGrp="1"/>
          </p:cNvSpPr>
          <p:nvPr>
            <p:ph type="title"/>
          </p:nvPr>
        </p:nvSpPr>
        <p:spPr>
          <a:xfrm>
            <a:off x="831850" y="1128492"/>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D12BB224-3991-107F-A33B-608299E67899}"/>
              </a:ext>
            </a:extLst>
          </p:cNvPr>
          <p:cNvSpPr>
            <a:spLocks noGrp="1"/>
          </p:cNvSpPr>
          <p:nvPr>
            <p:ph type="body" idx="1"/>
          </p:nvPr>
        </p:nvSpPr>
        <p:spPr>
          <a:xfrm>
            <a:off x="831850" y="4229321"/>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Tree>
    <p:extLst>
      <p:ext uri="{BB962C8B-B14F-4D97-AF65-F5344CB8AC3E}">
        <p14:creationId xmlns:p14="http://schemas.microsoft.com/office/powerpoint/2010/main" val="957304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gital Twins - Comparation">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91930D51-3FAD-3DE2-EFD9-920B552E0E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FD58049-07ED-BB7E-BFB0-272E6DB4A1C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7E042CBC-9F9E-A590-4FB9-342EF0DA3E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1E4CF88-6C7B-22B8-FA2C-DA2D9E5F897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Título 1">
            <a:extLst>
              <a:ext uri="{FF2B5EF4-FFF2-40B4-BE49-F238E27FC236}">
                <a16:creationId xmlns:a16="http://schemas.microsoft.com/office/drawing/2014/main" id="{1C242BEB-C3E0-5D74-2427-FE62C35991D8}"/>
              </a:ext>
            </a:extLst>
          </p:cNvPr>
          <p:cNvSpPr>
            <a:spLocks noGrp="1"/>
          </p:cNvSpPr>
          <p:nvPr>
            <p:ph type="ctrTitle"/>
          </p:nvPr>
        </p:nvSpPr>
        <p:spPr>
          <a:xfrm>
            <a:off x="540026" y="516076"/>
            <a:ext cx="11108636" cy="865463"/>
          </a:xfrm>
        </p:spPr>
        <p:txBody>
          <a:bodyPr anchor="t">
            <a:normAutofit/>
          </a:bodyPr>
          <a:lstStyle>
            <a:lvl1pPr algn="l">
              <a:defRPr sz="4800" b="1" i="0">
                <a:latin typeface="Poppins" pitchFamily="2" charset="77"/>
                <a:cs typeface="Poppins" pitchFamily="2" charset="77"/>
              </a:defRPr>
            </a:lvl1pPr>
          </a:lstStyle>
          <a:p>
            <a:r>
              <a:rPr lang="es-ES"/>
              <a:t>Haga clic para modificar el estilo de título del patrón</a:t>
            </a:r>
          </a:p>
        </p:txBody>
      </p:sp>
    </p:spTree>
    <p:extLst>
      <p:ext uri="{BB962C8B-B14F-4D97-AF65-F5344CB8AC3E}">
        <p14:creationId xmlns:p14="http://schemas.microsoft.com/office/powerpoint/2010/main" val="2236308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gital Twins - Just title">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C7AA5DB6-1022-57B0-C4D6-8830DC6EB53D}"/>
              </a:ext>
            </a:extLst>
          </p:cNvPr>
          <p:cNvSpPr>
            <a:spLocks noGrp="1"/>
          </p:cNvSpPr>
          <p:nvPr>
            <p:ph type="ctrTitle"/>
          </p:nvPr>
        </p:nvSpPr>
        <p:spPr>
          <a:xfrm>
            <a:off x="540026" y="516076"/>
            <a:ext cx="11108636" cy="865463"/>
          </a:xfrm>
        </p:spPr>
        <p:txBody>
          <a:bodyPr anchor="t">
            <a:noAutofit/>
          </a:bodyPr>
          <a:lstStyle>
            <a:lvl1pPr algn="l">
              <a:defRPr sz="4400" b="1" i="0">
                <a:latin typeface="Poppins" pitchFamily="2" charset="77"/>
                <a:cs typeface="Poppins" pitchFamily="2" charset="77"/>
              </a:defRPr>
            </a:lvl1pPr>
          </a:lstStyle>
          <a:p>
            <a:r>
              <a:rPr lang="es-ES"/>
              <a:t>Haga clic para modificar el estilo de título del patrón</a:t>
            </a:r>
          </a:p>
        </p:txBody>
      </p:sp>
    </p:spTree>
    <p:extLst>
      <p:ext uri="{BB962C8B-B14F-4D97-AF65-F5344CB8AC3E}">
        <p14:creationId xmlns:p14="http://schemas.microsoft.com/office/powerpoint/2010/main" val="648933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Digital Twins -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8705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Digital Twins - Content with titl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50EBEE-0F3E-78D5-A1A1-B3593C922210}"/>
              </a:ext>
            </a:extLst>
          </p:cNvPr>
          <p:cNvSpPr>
            <a:spLocks noGrp="1"/>
          </p:cNvSpPr>
          <p:nvPr>
            <p:ph type="title"/>
          </p:nvPr>
        </p:nvSpPr>
        <p:spPr>
          <a:xfrm>
            <a:off x="839788" y="457200"/>
            <a:ext cx="3932237" cy="1600200"/>
          </a:xfrm>
        </p:spPr>
        <p:txBody>
          <a:bodyPr anchor="b"/>
          <a:lstStyle>
            <a:lvl1pPr>
              <a:defRPr sz="3200" b="1" i="0">
                <a:latin typeface="Poppins" pitchFamily="2" charset="77"/>
                <a:cs typeface="Poppins" pitchFamily="2" charset="77"/>
              </a:defRPr>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EFA0E23-DDC1-06AE-E366-391BAE76BA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53592175-20A2-D756-F310-ACADB55E99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Tree>
    <p:extLst>
      <p:ext uri="{BB962C8B-B14F-4D97-AF65-F5344CB8AC3E}">
        <p14:creationId xmlns:p14="http://schemas.microsoft.com/office/powerpoint/2010/main" val="1789936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Digital Twins - Image with titl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0C6539-D2FA-29DA-B79A-8C72FE7DB9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24101429-C4BB-276D-3E62-10C04DA2E8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2FC06908-944C-18FB-69B8-C52E452A64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Tree>
    <p:extLst>
      <p:ext uri="{BB962C8B-B14F-4D97-AF65-F5344CB8AC3E}">
        <p14:creationId xmlns:p14="http://schemas.microsoft.com/office/powerpoint/2010/main" val="26387332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AEC6588-3987-E23E-619C-17BDD3E430E5}"/>
              </a:ext>
            </a:extLst>
          </p:cNvPr>
          <p:cNvPicPr>
            <a:picLocks noChangeAspect="1"/>
          </p:cNvPicPr>
          <p:nvPr userDrawn="1"/>
        </p:nvPicPr>
        <p:blipFill>
          <a:blip r:embed="rId4"/>
          <a:stretch>
            <a:fillRect/>
          </a:stretch>
        </p:blipFill>
        <p:spPr>
          <a:xfrm>
            <a:off x="527050" y="432707"/>
            <a:ext cx="3486150" cy="1196738"/>
          </a:xfrm>
          <a:prstGeom prst="rect">
            <a:avLst/>
          </a:prstGeom>
        </p:spPr>
      </p:pic>
    </p:spTree>
    <p:extLst>
      <p:ext uri="{BB962C8B-B14F-4D97-AF65-F5344CB8AC3E}">
        <p14:creationId xmlns:p14="http://schemas.microsoft.com/office/powerpoint/2010/main" val="960104779"/>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b="0" i="0" kern="1200">
          <a:solidFill>
            <a:schemeClr val="accent1"/>
          </a:solidFill>
          <a:latin typeface="Encode Sans Light" pitchFamily="2" charset="77"/>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800" kern="1200">
          <a:solidFill>
            <a:schemeClr val="tx2"/>
          </a:solidFill>
          <a:latin typeface="Nunito Sans"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2400" kern="1200">
          <a:solidFill>
            <a:schemeClr val="tx2"/>
          </a:solidFill>
          <a:latin typeface="Nunito Sans"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2000" kern="1200">
          <a:solidFill>
            <a:schemeClr val="tx2"/>
          </a:solidFill>
          <a:latin typeface="Nunito Sans"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1800" kern="1200">
          <a:solidFill>
            <a:schemeClr val="tx2"/>
          </a:solidFill>
          <a:latin typeface="Nunito Sans"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800" kern="1200">
          <a:solidFill>
            <a:schemeClr val="tx2"/>
          </a:solidFill>
          <a:latin typeface="Nunito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274F0EF-C9D7-DAA6-B4C2-682C6077E900}"/>
              </a:ext>
            </a:extLst>
          </p:cNvPr>
          <p:cNvPicPr>
            <a:picLocks noChangeAspect="1"/>
          </p:cNvPicPr>
          <p:nvPr userDrawn="1"/>
        </p:nvPicPr>
        <p:blipFill>
          <a:blip r:embed="rId5"/>
          <a:stretch>
            <a:fillRect/>
          </a:stretch>
        </p:blipFill>
        <p:spPr>
          <a:xfrm>
            <a:off x="10101262" y="5997146"/>
            <a:ext cx="1861279" cy="633627"/>
          </a:xfrm>
          <a:prstGeom prst="rect">
            <a:avLst/>
          </a:prstGeom>
        </p:spPr>
      </p:pic>
    </p:spTree>
    <p:extLst>
      <p:ext uri="{BB962C8B-B14F-4D97-AF65-F5344CB8AC3E}">
        <p14:creationId xmlns:p14="http://schemas.microsoft.com/office/powerpoint/2010/main" val="3367066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defTabSz="914400" rtl="0" eaLnBrk="1" latinLnBrk="0" hangingPunct="1">
        <a:lnSpc>
          <a:spcPct val="90000"/>
        </a:lnSpc>
        <a:spcBef>
          <a:spcPct val="0"/>
        </a:spcBef>
        <a:buNone/>
        <a:defRPr sz="4400" b="0" i="0" kern="1200">
          <a:solidFill>
            <a:schemeClr val="accent1"/>
          </a:solidFill>
          <a:latin typeface="Encode Sans Light" pitchFamily="2" charset="77"/>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800" kern="1200">
          <a:solidFill>
            <a:schemeClr val="tx2"/>
          </a:solidFill>
          <a:latin typeface="Nunito Sans"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2400" kern="1200">
          <a:solidFill>
            <a:schemeClr val="tx2"/>
          </a:solidFill>
          <a:latin typeface="Nunito Sans"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2000" kern="1200">
          <a:solidFill>
            <a:schemeClr val="tx2"/>
          </a:solidFill>
          <a:latin typeface="Nunito Sans"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1800" kern="1200">
          <a:solidFill>
            <a:schemeClr val="tx2"/>
          </a:solidFill>
          <a:latin typeface="Nunito Sans"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800" kern="1200">
          <a:solidFill>
            <a:schemeClr val="tx2"/>
          </a:solidFill>
          <a:latin typeface="Nunito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644057"/>
      </p:ext>
    </p:extLst>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b="0" i="0" kern="1200">
          <a:solidFill>
            <a:schemeClr val="accent1"/>
          </a:solidFill>
          <a:latin typeface="Encode Sans Light" pitchFamily="2" charset="77"/>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800" kern="1200">
          <a:solidFill>
            <a:schemeClr val="tx2"/>
          </a:solidFill>
          <a:latin typeface="Nunito Sans"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2400" kern="1200">
          <a:solidFill>
            <a:schemeClr val="tx2"/>
          </a:solidFill>
          <a:latin typeface="Nunito Sans"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2000" kern="1200">
          <a:solidFill>
            <a:schemeClr val="tx2"/>
          </a:solidFill>
          <a:latin typeface="Nunito Sans"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1800" kern="1200">
          <a:solidFill>
            <a:schemeClr val="tx2"/>
          </a:solidFill>
          <a:latin typeface="Nunito Sans"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800" kern="1200">
          <a:solidFill>
            <a:schemeClr val="tx2"/>
          </a:solidFill>
          <a:latin typeface="Nunito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49AA82F-C5F2-3BA8-829C-3258603933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ECF90F95-10A4-8113-4D1B-6CEFB51A09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ángulo 3">
            <a:extLst>
              <a:ext uri="{FF2B5EF4-FFF2-40B4-BE49-F238E27FC236}">
                <a16:creationId xmlns:a16="http://schemas.microsoft.com/office/drawing/2014/main" id="{4E9270EF-FD58-14C7-54F8-8B4A4A99E812}"/>
              </a:ext>
            </a:extLst>
          </p:cNvPr>
          <p:cNvSpPr/>
          <p:nvPr userDrawn="1"/>
        </p:nvSpPr>
        <p:spPr>
          <a:xfrm>
            <a:off x="1" y="6664411"/>
            <a:ext cx="6095999" cy="193589"/>
          </a:xfrm>
          <a:prstGeom prst="rect">
            <a:avLst/>
          </a:prstGeom>
          <a:gradFill flip="none" rotWithShape="1">
            <a:gsLst>
              <a:gs pos="0">
                <a:schemeClr val="accent1"/>
              </a:gs>
              <a:gs pos="100000">
                <a:schemeClr val="accent2">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 name="Imagen 4">
            <a:extLst>
              <a:ext uri="{FF2B5EF4-FFF2-40B4-BE49-F238E27FC236}">
                <a16:creationId xmlns:a16="http://schemas.microsoft.com/office/drawing/2014/main" id="{CB29D36E-E3F2-D1EC-463A-F036FAEA6652}"/>
              </a:ext>
            </a:extLst>
          </p:cNvPr>
          <p:cNvPicPr>
            <a:picLocks noChangeAspect="1"/>
          </p:cNvPicPr>
          <p:nvPr userDrawn="1"/>
        </p:nvPicPr>
        <p:blipFill>
          <a:blip r:embed="rId13"/>
          <a:stretch>
            <a:fillRect/>
          </a:stretch>
        </p:blipFill>
        <p:spPr>
          <a:xfrm>
            <a:off x="11062282" y="6447239"/>
            <a:ext cx="985610" cy="338344"/>
          </a:xfrm>
          <a:prstGeom prst="rect">
            <a:avLst/>
          </a:prstGeom>
        </p:spPr>
      </p:pic>
    </p:spTree>
    <p:extLst>
      <p:ext uri="{BB962C8B-B14F-4D97-AF65-F5344CB8AC3E}">
        <p14:creationId xmlns:p14="http://schemas.microsoft.com/office/powerpoint/2010/main" val="1806934570"/>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78" r:id="rId3"/>
    <p:sldLayoutId id="2147483679" r:id="rId4"/>
    <p:sldLayoutId id="2147483676" r:id="rId5"/>
    <p:sldLayoutId id="2147483663" r:id="rId6"/>
    <p:sldLayoutId id="2147483665" r:id="rId7"/>
    <p:sldLayoutId id="2147483666" r:id="rId8"/>
    <p:sldLayoutId id="2147483667" r:id="rId9"/>
    <p:sldLayoutId id="2147483668" r:id="rId10"/>
    <p:sldLayoutId id="2147483669" r:id="rId11"/>
  </p:sldLayoutIdLst>
  <p:txStyles>
    <p:titleStyle>
      <a:lvl1pPr algn="l" defTabSz="914400" rtl="0" eaLnBrk="1" latinLnBrk="0" hangingPunct="1">
        <a:lnSpc>
          <a:spcPct val="90000"/>
        </a:lnSpc>
        <a:spcBef>
          <a:spcPct val="0"/>
        </a:spcBef>
        <a:buNone/>
        <a:defRPr sz="4000" b="1" i="0" kern="1200">
          <a:solidFill>
            <a:schemeClr val="accent1"/>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b="0" i="0" kern="1200">
          <a:solidFill>
            <a:schemeClr val="tx2"/>
          </a:solidFill>
          <a:latin typeface="Roboto Light" panose="02000000000000000000" pitchFamily="2" charset="0"/>
          <a:ea typeface="Roboto Light" panose="02000000000000000000" pitchFamily="2" charset="0"/>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0" i="0" kern="1200">
          <a:solidFill>
            <a:schemeClr val="tx2"/>
          </a:solidFill>
          <a:latin typeface="Roboto Light" panose="02000000000000000000" pitchFamily="2" charset="0"/>
          <a:ea typeface="Roboto Light" panose="02000000000000000000" pitchFamily="2" charset="0"/>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000" b="0" i="0" kern="1200">
          <a:solidFill>
            <a:schemeClr val="tx2"/>
          </a:solidFill>
          <a:latin typeface="Roboto Light" panose="02000000000000000000" pitchFamily="2" charset="0"/>
          <a:ea typeface="Roboto Light" panose="02000000000000000000" pitchFamily="2" charset="0"/>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Roboto Light" panose="02000000000000000000" pitchFamily="2" charset="0"/>
          <a:ea typeface="Roboto Light" panose="02000000000000000000" pitchFamily="2" charset="0"/>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chemeClr val="tx2"/>
          </a:solidFill>
          <a:latin typeface="Roboto Light" panose="02000000000000000000" pitchFamily="2" charset="0"/>
          <a:ea typeface="Roboto Light"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 Id="rId9" Type="http://schemas.openxmlformats.org/officeDocument/2006/relationships/image" Target="../media/image17.jpe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 Id="rId14" Type="http://schemas.openxmlformats.org/officeDocument/2006/relationships/image" Target="../media/image30.sv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png"/><Relationship Id="rId3" Type="http://schemas.microsoft.com/office/2007/relationships/hdphoto" Target="../media/hdphoto1.wdp"/><Relationship Id="rId21" Type="http://schemas.openxmlformats.org/officeDocument/2006/relationships/image" Target="../media/image50.svg"/><Relationship Id="rId7" Type="http://schemas.openxmlformats.org/officeDocument/2006/relationships/image" Target="../media/image36.svg"/><Relationship Id="rId12" Type="http://schemas.openxmlformats.org/officeDocument/2006/relationships/image" Target="../media/image41.png"/><Relationship Id="rId17" Type="http://schemas.openxmlformats.org/officeDocument/2006/relationships/image" Target="../media/image46.svg"/><Relationship Id="rId25" Type="http://schemas.openxmlformats.org/officeDocument/2006/relationships/image" Target="../media/image54.svg"/><Relationship Id="rId2" Type="http://schemas.openxmlformats.org/officeDocument/2006/relationships/image" Target="../media/image32.png"/><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9.xml"/><Relationship Id="rId6" Type="http://schemas.openxmlformats.org/officeDocument/2006/relationships/image" Target="../media/image35.png"/><Relationship Id="rId11" Type="http://schemas.openxmlformats.org/officeDocument/2006/relationships/image" Target="../media/image40.svg"/><Relationship Id="rId24" Type="http://schemas.openxmlformats.org/officeDocument/2006/relationships/image" Target="../media/image53.png"/><Relationship Id="rId5" Type="http://schemas.openxmlformats.org/officeDocument/2006/relationships/image" Target="../media/image34.svg"/><Relationship Id="rId15" Type="http://schemas.openxmlformats.org/officeDocument/2006/relationships/image" Target="../media/image44.svg"/><Relationship Id="rId23" Type="http://schemas.openxmlformats.org/officeDocument/2006/relationships/image" Target="../media/image52.svg"/><Relationship Id="rId10" Type="http://schemas.openxmlformats.org/officeDocument/2006/relationships/image" Target="../media/image39.png"/><Relationship Id="rId19" Type="http://schemas.openxmlformats.org/officeDocument/2006/relationships/image" Target="../media/image48.svg"/><Relationship Id="rId4" Type="http://schemas.openxmlformats.org/officeDocument/2006/relationships/image" Target="../media/image33.png"/><Relationship Id="rId9" Type="http://schemas.openxmlformats.org/officeDocument/2006/relationships/image" Target="../media/image38.svg"/><Relationship Id="rId14" Type="http://schemas.openxmlformats.org/officeDocument/2006/relationships/image" Target="../media/image43.png"/><Relationship Id="rId22" Type="http://schemas.openxmlformats.org/officeDocument/2006/relationships/image" Target="../media/image51.png"/></Relationships>
</file>

<file path=ppt/slides/_rels/slide1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5.png"/><Relationship Id="rId7" Type="http://schemas.openxmlformats.org/officeDocument/2006/relationships/image" Target="../media/image58.jpe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jpeg"/><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1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3.xml"/><Relationship Id="rId4" Type="http://schemas.openxmlformats.org/officeDocument/2006/relationships/image" Target="../media/image70.png"/></Relationships>
</file>

<file path=ppt/slides/_rels/slide1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3.xml"/><Relationship Id="rId5" Type="http://schemas.openxmlformats.org/officeDocument/2006/relationships/hyperlink" Target="https://barcelona.publicbikesystem.net/customer/gbfs/v2/en/station_status" TargetMode="External"/><Relationship Id="rId4" Type="http://schemas.openxmlformats.org/officeDocument/2006/relationships/image" Target="../media/image73.png"/></Relationships>
</file>

<file path=ppt/slides/_rels/slide1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3.xml"/><Relationship Id="rId5" Type="http://schemas.openxmlformats.org/officeDocument/2006/relationships/image" Target="../media/image78.jpeg"/><Relationship Id="rId4" Type="http://schemas.openxmlformats.org/officeDocument/2006/relationships/image" Target="../media/image77.png"/></Relationships>
</file>

<file path=ppt/slides/_rels/slide21.xml.rels><?xml version="1.0" encoding="UTF-8" standalone="yes"?>
<Relationships xmlns="http://schemas.openxmlformats.org/package/2006/relationships"><Relationship Id="rId3" Type="http://schemas.openxmlformats.org/officeDocument/2006/relationships/image" Target="../media/image80.jpeg"/><Relationship Id="rId7" Type="http://schemas.openxmlformats.org/officeDocument/2006/relationships/image" Target="../media/image65.png"/><Relationship Id="rId2" Type="http://schemas.openxmlformats.org/officeDocument/2006/relationships/image" Target="../media/image79.png"/><Relationship Id="rId1" Type="http://schemas.openxmlformats.org/officeDocument/2006/relationships/slideLayout" Target="../slideLayouts/slideLayout13.xml"/><Relationship Id="rId6" Type="http://schemas.openxmlformats.org/officeDocument/2006/relationships/image" Target="../media/image64.png"/><Relationship Id="rId5" Type="http://schemas.openxmlformats.org/officeDocument/2006/relationships/hyperlink" Target="https://github.com/albertonavasrubio/DTBikeRelocation" TargetMode="External"/><Relationship Id="rId4" Type="http://schemas.openxmlformats.org/officeDocument/2006/relationships/image" Target="../media/image7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 Id="rId4" Type="http://schemas.openxmlformats.org/officeDocument/2006/relationships/image" Target="../media/image83.png"/></Relationships>
</file>

<file path=ppt/slides/_rels/slide2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3.xml"/><Relationship Id="rId5" Type="http://schemas.openxmlformats.org/officeDocument/2006/relationships/image" Target="../media/image91.png"/><Relationship Id="rId4" Type="http://schemas.openxmlformats.org/officeDocument/2006/relationships/image" Target="../media/image90.png"/></Relationships>
</file>

<file path=ppt/slides/_rels/slide2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13.xml"/><Relationship Id="rId5" Type="http://schemas.openxmlformats.org/officeDocument/2006/relationships/image" Target="../media/image109.jpeg"/><Relationship Id="rId4" Type="http://schemas.openxmlformats.org/officeDocument/2006/relationships/image" Target="../media/image10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11.svg"/><Relationship Id="rId2" Type="http://schemas.openxmlformats.org/officeDocument/2006/relationships/image" Target="../media/image110.png"/><Relationship Id="rId1" Type="http://schemas.openxmlformats.org/officeDocument/2006/relationships/slideLayout" Target="../slideLayouts/slideLayout5.xml"/><Relationship Id="rId6" Type="http://schemas.openxmlformats.org/officeDocument/2006/relationships/image" Target="../media/image2.png"/><Relationship Id="rId5" Type="http://schemas.openxmlformats.org/officeDocument/2006/relationships/image" Target="../media/image113.svg"/><Relationship Id="rId4"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Imagen 5" descr="Logotipo&#10;&#10;Descripción generada automáticamente">
            <a:extLst>
              <a:ext uri="{FF2B5EF4-FFF2-40B4-BE49-F238E27FC236}">
                <a16:creationId xmlns:a16="http://schemas.microsoft.com/office/drawing/2014/main" id="{7EBE4F17-34F6-61BF-0D2E-29AA05AF0045}"/>
              </a:ext>
            </a:extLst>
          </p:cNvPr>
          <p:cNvPicPr>
            <a:picLocks noChangeAspect="1"/>
          </p:cNvPicPr>
          <p:nvPr/>
        </p:nvPicPr>
        <p:blipFill>
          <a:blip r:embed="rId3"/>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7C319B18-1089-83C9-4EEB-45D437C762A0}"/>
              </a:ext>
            </a:extLst>
          </p:cNvPr>
          <p:cNvSpPr>
            <a:spLocks noGrp="1"/>
          </p:cNvSpPr>
          <p:nvPr>
            <p:ph type="title"/>
          </p:nvPr>
        </p:nvSpPr>
        <p:spPr>
          <a:xfrm>
            <a:off x="405265" y="2103437"/>
            <a:ext cx="5959910" cy="1696667"/>
          </a:xfrm>
        </p:spPr>
        <p:txBody>
          <a:bodyPr/>
          <a:lstStyle/>
          <a:p>
            <a:pPr>
              <a:lnSpc>
                <a:spcPct val="100000"/>
              </a:lnSpc>
            </a:pPr>
            <a:r>
              <a:rPr lang="es-ES" b="1" dirty="0"/>
              <a:t>Project </a:t>
            </a:r>
            <a:r>
              <a:rPr lang="es-ES" dirty="0" err="1"/>
              <a:t>B</a:t>
            </a:r>
            <a:r>
              <a:rPr lang="es-ES" b="1" dirty="0" err="1"/>
              <a:t>ike</a:t>
            </a:r>
            <a:r>
              <a:rPr lang="es-ES" b="1" dirty="0"/>
              <a:t> </a:t>
            </a:r>
            <a:r>
              <a:rPr lang="es-ES" dirty="0" err="1"/>
              <a:t>S</a:t>
            </a:r>
            <a:r>
              <a:rPr lang="es-ES" b="1" dirty="0" err="1"/>
              <a:t>haring</a:t>
            </a:r>
            <a:r>
              <a:rPr lang="es-ES" b="1" dirty="0"/>
              <a:t> </a:t>
            </a:r>
            <a:r>
              <a:rPr lang="es-ES" dirty="0" err="1"/>
              <a:t>S</a:t>
            </a:r>
            <a:r>
              <a:rPr lang="es-ES" b="1" dirty="0" err="1"/>
              <a:t>ervice</a:t>
            </a:r>
            <a:endParaRPr lang="es-ES" b="1" dirty="0"/>
          </a:p>
        </p:txBody>
      </p:sp>
      <p:sp>
        <p:nvSpPr>
          <p:cNvPr id="3" name="Marcador de texto 2">
            <a:extLst>
              <a:ext uri="{FF2B5EF4-FFF2-40B4-BE49-F238E27FC236}">
                <a16:creationId xmlns:a16="http://schemas.microsoft.com/office/drawing/2014/main" id="{75CB9BC0-85D7-6B46-EE2F-2B67B471FA39}"/>
              </a:ext>
            </a:extLst>
          </p:cNvPr>
          <p:cNvSpPr>
            <a:spLocks noGrp="1"/>
          </p:cNvSpPr>
          <p:nvPr>
            <p:ph type="body" sz="quarter" idx="10"/>
          </p:nvPr>
        </p:nvSpPr>
        <p:spPr>
          <a:xfrm>
            <a:off x="405265" y="4033950"/>
            <a:ext cx="4855503" cy="391974"/>
          </a:xfrm>
        </p:spPr>
        <p:txBody>
          <a:bodyPr/>
          <a:lstStyle/>
          <a:p>
            <a:pPr marL="0" indent="0">
              <a:buNone/>
            </a:pPr>
            <a:r>
              <a:rPr lang="es-ES" sz="2000" dirty="0"/>
              <a:t>Alberto Navas Rubio</a:t>
            </a:r>
          </a:p>
          <a:p>
            <a:pPr marL="0" indent="0">
              <a:buNone/>
            </a:pPr>
            <a:r>
              <a:rPr lang="es-ES" sz="2000" dirty="0"/>
              <a:t>Iván Revilla Hernández</a:t>
            </a:r>
          </a:p>
          <a:p>
            <a:pPr marL="0" indent="0">
              <a:buNone/>
            </a:pPr>
            <a:r>
              <a:rPr lang="es-ES" sz="2000" dirty="0"/>
              <a:t>Natalia Sobrino </a:t>
            </a:r>
          </a:p>
          <a:p>
            <a:pPr marL="0" indent="0">
              <a:buNone/>
            </a:pPr>
            <a:r>
              <a:rPr lang="es-ES" sz="2000" dirty="0"/>
              <a:t>Juan Benavente</a:t>
            </a:r>
          </a:p>
          <a:p>
            <a:pPr marL="0" indent="0">
              <a:buNone/>
            </a:pPr>
            <a:r>
              <a:rPr lang="es-ES" sz="2000" dirty="0" err="1"/>
              <a:t>Nommon</a:t>
            </a:r>
            <a:r>
              <a:rPr lang="es-ES" sz="2000" dirty="0"/>
              <a:t> </a:t>
            </a:r>
            <a:r>
              <a:rPr lang="es-ES" sz="2000" dirty="0" err="1"/>
              <a:t>Team</a:t>
            </a:r>
            <a:endParaRPr lang="es-ES" sz="2000" dirty="0"/>
          </a:p>
        </p:txBody>
      </p:sp>
      <p:sp>
        <p:nvSpPr>
          <p:cNvPr id="4" name="Título 1">
            <a:extLst>
              <a:ext uri="{FF2B5EF4-FFF2-40B4-BE49-F238E27FC236}">
                <a16:creationId xmlns:a16="http://schemas.microsoft.com/office/drawing/2014/main" id="{9D6E6320-406F-FF63-5DDF-B90F8C9FC141}"/>
              </a:ext>
            </a:extLst>
          </p:cNvPr>
          <p:cNvSpPr txBox="1">
            <a:spLocks/>
          </p:cNvSpPr>
          <p:nvPr/>
        </p:nvSpPr>
        <p:spPr>
          <a:xfrm>
            <a:off x="500268" y="6075661"/>
            <a:ext cx="4855503" cy="391974"/>
          </a:xfrm>
          <a:prstGeom prst="rect">
            <a:avLst/>
          </a:prstGeom>
        </p:spPr>
        <p:txBody>
          <a:bodyPr lIns="0" tIns="0" rIns="0" bIns="0"/>
          <a:lstStyle>
            <a:lvl1pPr algn="l" defTabSz="914400" rtl="0" eaLnBrk="1" latinLnBrk="0" hangingPunct="1">
              <a:lnSpc>
                <a:spcPct val="90000"/>
              </a:lnSpc>
              <a:spcBef>
                <a:spcPct val="0"/>
              </a:spcBef>
              <a:buNone/>
              <a:defRPr sz="4000" b="0" i="0" kern="1200">
                <a:solidFill>
                  <a:schemeClr val="accent1"/>
                </a:solidFill>
                <a:latin typeface="Encode Sans Light" pitchFamily="2" charset="77"/>
                <a:ea typeface="+mj-ea"/>
                <a:cs typeface="+mj-cs"/>
              </a:defRPr>
            </a:lvl1pPr>
          </a:lstStyle>
          <a:p>
            <a:r>
              <a:rPr lang="es-ES" sz="1800" dirty="0" err="1">
                <a:solidFill>
                  <a:schemeClr val="accent1">
                    <a:lumMod val="75000"/>
                  </a:schemeClr>
                </a:solidFill>
                <a:latin typeface="Poppins" pitchFamily="2" charset="77"/>
                <a:cs typeface="Poppins" pitchFamily="2" charset="77"/>
              </a:rPr>
              <a:t>September</a:t>
            </a:r>
            <a:r>
              <a:rPr lang="es-ES" sz="1800" dirty="0">
                <a:solidFill>
                  <a:schemeClr val="accent1">
                    <a:lumMod val="75000"/>
                  </a:schemeClr>
                </a:solidFill>
                <a:latin typeface="Poppins" pitchFamily="2" charset="77"/>
                <a:cs typeface="Poppins" pitchFamily="2" charset="77"/>
              </a:rPr>
              <a:t>, 2024</a:t>
            </a:r>
          </a:p>
        </p:txBody>
      </p:sp>
      <p:pic>
        <p:nvPicPr>
          <p:cNvPr id="7" name="Imagen 6">
            <a:extLst>
              <a:ext uri="{FF2B5EF4-FFF2-40B4-BE49-F238E27FC236}">
                <a16:creationId xmlns:a16="http://schemas.microsoft.com/office/drawing/2014/main" id="{834B1CB1-70CD-FD92-EA13-293199789783}"/>
              </a:ext>
            </a:extLst>
          </p:cNvPr>
          <p:cNvPicPr>
            <a:picLocks noChangeAspect="1"/>
          </p:cNvPicPr>
          <p:nvPr/>
        </p:nvPicPr>
        <p:blipFill>
          <a:blip r:embed="rId4"/>
          <a:stretch>
            <a:fillRect/>
          </a:stretch>
        </p:blipFill>
        <p:spPr>
          <a:xfrm>
            <a:off x="500268" y="497862"/>
            <a:ext cx="3254400" cy="1117182"/>
          </a:xfrm>
          <a:prstGeom prst="rect">
            <a:avLst/>
          </a:prstGeom>
        </p:spPr>
      </p:pic>
      <p:pic>
        <p:nvPicPr>
          <p:cNvPr id="26" name="Imagen 25" descr="Imagen que contiene dibujo, reloj&#10;&#10;Descripción generada automáticamente">
            <a:extLst>
              <a:ext uri="{FF2B5EF4-FFF2-40B4-BE49-F238E27FC236}">
                <a16:creationId xmlns:a16="http://schemas.microsoft.com/office/drawing/2014/main" id="{67F51F58-5234-3B66-9D65-7727CA3836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78142" y="5841204"/>
            <a:ext cx="2345391" cy="626431"/>
          </a:xfrm>
          <a:prstGeom prst="rect">
            <a:avLst/>
          </a:prstGeom>
        </p:spPr>
      </p:pic>
    </p:spTree>
    <p:extLst>
      <p:ext uri="{BB962C8B-B14F-4D97-AF65-F5344CB8AC3E}">
        <p14:creationId xmlns:p14="http://schemas.microsoft.com/office/powerpoint/2010/main" val="576976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D31433-FE5E-F193-DC42-2BB55BEA0161}"/>
              </a:ext>
            </a:extLst>
          </p:cNvPr>
          <p:cNvSpPr>
            <a:spLocks noGrp="1"/>
          </p:cNvSpPr>
          <p:nvPr>
            <p:ph type="ctrTitle"/>
          </p:nvPr>
        </p:nvSpPr>
        <p:spPr>
          <a:xfrm>
            <a:off x="540026" y="516076"/>
            <a:ext cx="11108636" cy="930205"/>
          </a:xfrm>
        </p:spPr>
        <p:txBody>
          <a:bodyPr/>
          <a:lstStyle/>
          <a:p>
            <a:r>
              <a:rPr lang="es-ES"/>
              <a:t>Contents</a:t>
            </a:r>
          </a:p>
        </p:txBody>
      </p:sp>
      <p:sp>
        <p:nvSpPr>
          <p:cNvPr id="3" name="Subtítulo 2">
            <a:extLst>
              <a:ext uri="{FF2B5EF4-FFF2-40B4-BE49-F238E27FC236}">
                <a16:creationId xmlns:a16="http://schemas.microsoft.com/office/drawing/2014/main" id="{EA70796B-666F-A84D-6A8F-E0106212A829}"/>
              </a:ext>
            </a:extLst>
          </p:cNvPr>
          <p:cNvSpPr>
            <a:spLocks noGrp="1"/>
          </p:cNvSpPr>
          <p:nvPr>
            <p:ph type="subTitle" idx="1"/>
          </p:nvPr>
        </p:nvSpPr>
        <p:spPr>
          <a:xfrm>
            <a:off x="838201" y="1634092"/>
            <a:ext cx="980661" cy="731422"/>
          </a:xfrm>
        </p:spPr>
        <p:txBody>
          <a:bodyPr/>
          <a:lstStyle/>
          <a:p>
            <a:pPr algn="r"/>
            <a:r>
              <a:rPr lang="es-ES" dirty="0"/>
              <a:t>01</a:t>
            </a:r>
          </a:p>
        </p:txBody>
      </p:sp>
      <p:sp>
        <p:nvSpPr>
          <p:cNvPr id="4" name="Marcador de texto 3">
            <a:extLst>
              <a:ext uri="{FF2B5EF4-FFF2-40B4-BE49-F238E27FC236}">
                <a16:creationId xmlns:a16="http://schemas.microsoft.com/office/drawing/2014/main" id="{11D8B3D2-6461-AC4F-337B-B12D8718E418}"/>
              </a:ext>
            </a:extLst>
          </p:cNvPr>
          <p:cNvSpPr>
            <a:spLocks noGrp="1"/>
          </p:cNvSpPr>
          <p:nvPr>
            <p:ph type="body" sz="quarter" idx="10"/>
          </p:nvPr>
        </p:nvSpPr>
        <p:spPr>
          <a:xfrm>
            <a:off x="1987827" y="1634092"/>
            <a:ext cx="2733261" cy="413370"/>
          </a:xfrm>
        </p:spPr>
        <p:txBody>
          <a:bodyPr/>
          <a:lstStyle/>
          <a:p>
            <a:pPr marL="0" indent="0">
              <a:buNone/>
            </a:pPr>
            <a:r>
              <a:rPr lang="es-ES" err="1"/>
              <a:t>Introduction</a:t>
            </a:r>
            <a:endParaRPr lang="es-ES" dirty="0"/>
          </a:p>
        </p:txBody>
      </p:sp>
      <p:sp>
        <p:nvSpPr>
          <p:cNvPr id="5" name="Marcador de texto 4">
            <a:extLst>
              <a:ext uri="{FF2B5EF4-FFF2-40B4-BE49-F238E27FC236}">
                <a16:creationId xmlns:a16="http://schemas.microsoft.com/office/drawing/2014/main" id="{80A47F4D-882E-169F-E6B6-72F37D4FB4B7}"/>
              </a:ext>
            </a:extLst>
          </p:cNvPr>
          <p:cNvSpPr>
            <a:spLocks noGrp="1"/>
          </p:cNvSpPr>
          <p:nvPr>
            <p:ph type="body" sz="quarter" idx="11"/>
          </p:nvPr>
        </p:nvSpPr>
        <p:spPr>
          <a:xfrm>
            <a:off x="1987827" y="2117036"/>
            <a:ext cx="3026569" cy="930205"/>
          </a:xfrm>
        </p:spPr>
        <p:txBody>
          <a:bodyPr/>
          <a:lstStyle/>
          <a:p>
            <a:pPr marL="0" indent="0">
              <a:buNone/>
            </a:pPr>
            <a:r>
              <a:rPr lang="es-ES" err="1"/>
              <a:t>Team</a:t>
            </a:r>
            <a:endParaRPr lang="es-ES"/>
          </a:p>
          <a:p>
            <a:pPr marL="0" indent="0">
              <a:buNone/>
            </a:pPr>
            <a:r>
              <a:rPr lang="es-ES" dirty="0">
                <a:latin typeface="Roboto Light" panose="02000000000000000000" pitchFamily="2" charset="0"/>
                <a:ea typeface="Roboto Light" panose="02000000000000000000" pitchFamily="2" charset="0"/>
              </a:rPr>
              <a:t>Project </a:t>
            </a:r>
            <a:r>
              <a:rPr lang="es-ES" dirty="0" err="1">
                <a:latin typeface="Roboto Light" panose="02000000000000000000" pitchFamily="2" charset="0"/>
                <a:ea typeface="Roboto Light" panose="02000000000000000000" pitchFamily="2" charset="0"/>
              </a:rPr>
              <a:t>Definition</a:t>
            </a:r>
            <a:endParaRPr lang="es-ES" dirty="0">
              <a:latin typeface="Roboto Light" panose="02000000000000000000" pitchFamily="2" charset="0"/>
              <a:ea typeface="Roboto Light" panose="02000000000000000000" pitchFamily="2" charset="0"/>
            </a:endParaRPr>
          </a:p>
        </p:txBody>
      </p:sp>
      <p:sp>
        <p:nvSpPr>
          <p:cNvPr id="6" name="Subtítulo 2">
            <a:extLst>
              <a:ext uri="{FF2B5EF4-FFF2-40B4-BE49-F238E27FC236}">
                <a16:creationId xmlns:a16="http://schemas.microsoft.com/office/drawing/2014/main" id="{6A3BC46C-C8F4-450F-7BE8-0117A0DE3F01}"/>
              </a:ext>
            </a:extLst>
          </p:cNvPr>
          <p:cNvSpPr txBox="1">
            <a:spLocks/>
          </p:cNvSpPr>
          <p:nvPr/>
        </p:nvSpPr>
        <p:spPr>
          <a:xfrm>
            <a:off x="838201" y="3079338"/>
            <a:ext cx="980661" cy="73142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accent3"/>
              </a:buClr>
              <a:buFont typeface="Arial" panose="020B0604020202020204" pitchFamily="34" charset="0"/>
              <a:buNone/>
              <a:defRPr sz="4400" b="1" i="0" kern="1200">
                <a:solidFill>
                  <a:schemeClr val="accent1"/>
                </a:solidFill>
                <a:latin typeface="Encode Sans" pitchFamily="2" charset="77"/>
                <a:ea typeface="+mn-ea"/>
                <a:cs typeface="+mn-cs"/>
              </a:defRPr>
            </a:lvl1pPr>
            <a:lvl2pPr marL="457200" indent="0" algn="ctr" defTabSz="914400" rtl="0" eaLnBrk="1" latinLnBrk="0" hangingPunct="1">
              <a:lnSpc>
                <a:spcPct val="90000"/>
              </a:lnSpc>
              <a:spcBef>
                <a:spcPts val="500"/>
              </a:spcBef>
              <a:buClr>
                <a:schemeClr val="accent3"/>
              </a:buClr>
              <a:buFont typeface="Arial" panose="020B0604020202020204" pitchFamily="34" charset="0"/>
              <a:buNone/>
              <a:defRPr sz="2000" kern="1200">
                <a:solidFill>
                  <a:schemeClr val="tx2"/>
                </a:solidFill>
                <a:latin typeface="Nunito Sans" pitchFamily="2" charset="77"/>
                <a:ea typeface="+mn-ea"/>
                <a:cs typeface="+mn-cs"/>
              </a:defRPr>
            </a:lvl2pPr>
            <a:lvl3pPr marL="914400" indent="0" algn="ctr" defTabSz="914400" rtl="0" eaLnBrk="1" latinLnBrk="0" hangingPunct="1">
              <a:lnSpc>
                <a:spcPct val="90000"/>
              </a:lnSpc>
              <a:spcBef>
                <a:spcPts val="500"/>
              </a:spcBef>
              <a:buClr>
                <a:schemeClr val="accent3"/>
              </a:buClr>
              <a:buFont typeface="Arial" panose="020B0604020202020204" pitchFamily="34" charset="0"/>
              <a:buNone/>
              <a:defRPr sz="1800" kern="1200">
                <a:solidFill>
                  <a:schemeClr val="tx2"/>
                </a:solidFill>
                <a:latin typeface="Nunito Sans" pitchFamily="2" charset="77"/>
                <a:ea typeface="+mn-ea"/>
                <a:cs typeface="+mn-cs"/>
              </a:defRPr>
            </a:lvl3pPr>
            <a:lvl4pPr marL="1371600" indent="0" algn="ctr" defTabSz="914400" rtl="0" eaLnBrk="1" latinLnBrk="0" hangingPunct="1">
              <a:lnSpc>
                <a:spcPct val="90000"/>
              </a:lnSpc>
              <a:spcBef>
                <a:spcPts val="500"/>
              </a:spcBef>
              <a:buClr>
                <a:schemeClr val="accent3"/>
              </a:buClr>
              <a:buFont typeface="Arial" panose="020B0604020202020204" pitchFamily="34" charset="0"/>
              <a:buNone/>
              <a:defRPr sz="1600" kern="1200">
                <a:solidFill>
                  <a:schemeClr val="tx2"/>
                </a:solidFill>
                <a:latin typeface="Nunito Sans" pitchFamily="2" charset="77"/>
                <a:ea typeface="+mn-ea"/>
                <a:cs typeface="+mn-cs"/>
              </a:defRPr>
            </a:lvl4pPr>
            <a:lvl5pPr marL="1828800" indent="0" algn="ctr" defTabSz="914400" rtl="0" eaLnBrk="1" latinLnBrk="0" hangingPunct="1">
              <a:lnSpc>
                <a:spcPct val="90000"/>
              </a:lnSpc>
              <a:spcBef>
                <a:spcPts val="500"/>
              </a:spcBef>
              <a:buClr>
                <a:schemeClr val="accent3"/>
              </a:buClr>
              <a:buFont typeface="Arial" panose="020B0604020202020204" pitchFamily="34" charset="0"/>
              <a:buNone/>
              <a:defRPr sz="1600" kern="1200">
                <a:solidFill>
                  <a:schemeClr val="tx2"/>
                </a:solidFill>
                <a:latin typeface="Nunito Sans"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ES" dirty="0">
                <a:latin typeface="Poppins" pitchFamily="2" charset="77"/>
                <a:cs typeface="Poppins" pitchFamily="2" charset="77"/>
              </a:rPr>
              <a:t>02</a:t>
            </a:r>
          </a:p>
        </p:txBody>
      </p:sp>
      <p:sp>
        <p:nvSpPr>
          <p:cNvPr id="7" name="Marcador de texto 3">
            <a:extLst>
              <a:ext uri="{FF2B5EF4-FFF2-40B4-BE49-F238E27FC236}">
                <a16:creationId xmlns:a16="http://schemas.microsoft.com/office/drawing/2014/main" id="{44A213C1-3967-B182-5D8B-2F07B2075308}"/>
              </a:ext>
            </a:extLst>
          </p:cNvPr>
          <p:cNvSpPr txBox="1">
            <a:spLocks/>
          </p:cNvSpPr>
          <p:nvPr/>
        </p:nvSpPr>
        <p:spPr>
          <a:xfrm>
            <a:off x="1987827" y="3116815"/>
            <a:ext cx="4108173" cy="4133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dirty="0" err="1">
                <a:latin typeface="Poppins" pitchFamily="2" charset="77"/>
                <a:cs typeface="Poppins" pitchFamily="2" charset="77"/>
              </a:rPr>
              <a:t>Objectives</a:t>
            </a:r>
            <a:endParaRPr lang="es-ES" dirty="0">
              <a:latin typeface="Poppins" pitchFamily="2" charset="77"/>
              <a:cs typeface="Poppins" pitchFamily="2" charset="77"/>
            </a:endParaRPr>
          </a:p>
        </p:txBody>
      </p:sp>
      <p:sp>
        <p:nvSpPr>
          <p:cNvPr id="8" name="Marcador de texto 4">
            <a:extLst>
              <a:ext uri="{FF2B5EF4-FFF2-40B4-BE49-F238E27FC236}">
                <a16:creationId xmlns:a16="http://schemas.microsoft.com/office/drawing/2014/main" id="{F0A250CD-EED6-1F5F-DDD9-7E4E41D086B0}"/>
              </a:ext>
            </a:extLst>
          </p:cNvPr>
          <p:cNvSpPr txBox="1">
            <a:spLocks/>
          </p:cNvSpPr>
          <p:nvPr/>
        </p:nvSpPr>
        <p:spPr>
          <a:xfrm>
            <a:off x="2077016" y="3694175"/>
            <a:ext cx="3026569" cy="9302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dirty="0" err="1">
                <a:latin typeface="Roboto Light" panose="02000000000000000000" pitchFamily="2" charset="0"/>
                <a:ea typeface="Roboto Light" panose="02000000000000000000" pitchFamily="2" charset="0"/>
              </a:rPr>
              <a:t>Main</a:t>
            </a:r>
            <a:r>
              <a:rPr lang="es-ES" dirty="0">
                <a:latin typeface="Roboto Light" panose="02000000000000000000" pitchFamily="2" charset="0"/>
                <a:ea typeface="Roboto Light" panose="02000000000000000000" pitchFamily="2" charset="0"/>
              </a:rPr>
              <a:t> </a:t>
            </a:r>
            <a:r>
              <a:rPr lang="es-ES" dirty="0" err="1">
                <a:latin typeface="Roboto Light" panose="02000000000000000000" pitchFamily="2" charset="0"/>
                <a:ea typeface="Roboto Light" panose="02000000000000000000" pitchFamily="2" charset="0"/>
              </a:rPr>
              <a:t>Objectives</a:t>
            </a:r>
            <a:endParaRPr lang="es-ES" dirty="0">
              <a:latin typeface="Roboto Light" panose="02000000000000000000" pitchFamily="2" charset="0"/>
              <a:ea typeface="Roboto Light" panose="02000000000000000000" pitchFamily="2" charset="0"/>
            </a:endParaRPr>
          </a:p>
          <a:p>
            <a:pPr marL="0" indent="0">
              <a:buFont typeface="Arial" panose="020B0604020202020204" pitchFamily="34" charset="0"/>
              <a:buNone/>
            </a:pPr>
            <a:r>
              <a:rPr lang="es-ES" dirty="0" err="1">
                <a:latin typeface="Roboto Light" panose="02000000000000000000" pitchFamily="2" charset="0"/>
                <a:ea typeface="Roboto Light" panose="02000000000000000000" pitchFamily="2" charset="0"/>
              </a:rPr>
              <a:t>Technical</a:t>
            </a:r>
            <a:r>
              <a:rPr lang="es-ES" dirty="0">
                <a:latin typeface="Roboto Light" panose="02000000000000000000" pitchFamily="2" charset="0"/>
                <a:ea typeface="Roboto Light" panose="02000000000000000000" pitchFamily="2" charset="0"/>
              </a:rPr>
              <a:t> </a:t>
            </a:r>
            <a:r>
              <a:rPr lang="es-ES" dirty="0" err="1">
                <a:latin typeface="Roboto Light" panose="02000000000000000000" pitchFamily="2" charset="0"/>
                <a:ea typeface="Roboto Light" panose="02000000000000000000" pitchFamily="2" charset="0"/>
              </a:rPr>
              <a:t>objectives</a:t>
            </a:r>
            <a:endParaRPr lang="es-ES" dirty="0">
              <a:latin typeface="Roboto Light" panose="02000000000000000000" pitchFamily="2" charset="0"/>
              <a:ea typeface="Roboto Light" panose="02000000000000000000" pitchFamily="2" charset="0"/>
            </a:endParaRPr>
          </a:p>
        </p:txBody>
      </p:sp>
      <p:sp>
        <p:nvSpPr>
          <p:cNvPr id="9" name="Subtítulo 2">
            <a:extLst>
              <a:ext uri="{FF2B5EF4-FFF2-40B4-BE49-F238E27FC236}">
                <a16:creationId xmlns:a16="http://schemas.microsoft.com/office/drawing/2014/main" id="{84EA3204-C188-E1E5-C5AD-0BDFF55B53D3}"/>
              </a:ext>
            </a:extLst>
          </p:cNvPr>
          <p:cNvSpPr txBox="1">
            <a:spLocks/>
          </p:cNvSpPr>
          <p:nvPr/>
        </p:nvSpPr>
        <p:spPr>
          <a:xfrm>
            <a:off x="838200" y="5223908"/>
            <a:ext cx="980661" cy="73142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accent3"/>
              </a:buClr>
              <a:buFont typeface="Arial" panose="020B0604020202020204" pitchFamily="34" charset="0"/>
              <a:buNone/>
              <a:defRPr sz="4400" b="1" i="0" kern="1200">
                <a:solidFill>
                  <a:schemeClr val="accent1"/>
                </a:solidFill>
                <a:latin typeface="Encode Sans" pitchFamily="2" charset="77"/>
                <a:ea typeface="+mn-ea"/>
                <a:cs typeface="+mn-cs"/>
              </a:defRPr>
            </a:lvl1pPr>
            <a:lvl2pPr marL="457200" indent="0" algn="ctr" defTabSz="914400" rtl="0" eaLnBrk="1" latinLnBrk="0" hangingPunct="1">
              <a:lnSpc>
                <a:spcPct val="90000"/>
              </a:lnSpc>
              <a:spcBef>
                <a:spcPts val="500"/>
              </a:spcBef>
              <a:buClr>
                <a:schemeClr val="accent3"/>
              </a:buClr>
              <a:buFont typeface="Arial" panose="020B0604020202020204" pitchFamily="34" charset="0"/>
              <a:buNone/>
              <a:defRPr sz="2000" kern="1200">
                <a:solidFill>
                  <a:schemeClr val="tx2"/>
                </a:solidFill>
                <a:latin typeface="Nunito Sans" pitchFamily="2" charset="77"/>
                <a:ea typeface="+mn-ea"/>
                <a:cs typeface="+mn-cs"/>
              </a:defRPr>
            </a:lvl2pPr>
            <a:lvl3pPr marL="914400" indent="0" algn="ctr" defTabSz="914400" rtl="0" eaLnBrk="1" latinLnBrk="0" hangingPunct="1">
              <a:lnSpc>
                <a:spcPct val="90000"/>
              </a:lnSpc>
              <a:spcBef>
                <a:spcPts val="500"/>
              </a:spcBef>
              <a:buClr>
                <a:schemeClr val="accent3"/>
              </a:buClr>
              <a:buFont typeface="Arial" panose="020B0604020202020204" pitchFamily="34" charset="0"/>
              <a:buNone/>
              <a:defRPr sz="1800" kern="1200">
                <a:solidFill>
                  <a:schemeClr val="tx2"/>
                </a:solidFill>
                <a:latin typeface="Nunito Sans" pitchFamily="2" charset="77"/>
                <a:ea typeface="+mn-ea"/>
                <a:cs typeface="+mn-cs"/>
              </a:defRPr>
            </a:lvl3pPr>
            <a:lvl4pPr marL="1371600" indent="0" algn="ctr" defTabSz="914400" rtl="0" eaLnBrk="1" latinLnBrk="0" hangingPunct="1">
              <a:lnSpc>
                <a:spcPct val="90000"/>
              </a:lnSpc>
              <a:spcBef>
                <a:spcPts val="500"/>
              </a:spcBef>
              <a:buClr>
                <a:schemeClr val="accent3"/>
              </a:buClr>
              <a:buFont typeface="Arial" panose="020B0604020202020204" pitchFamily="34" charset="0"/>
              <a:buNone/>
              <a:defRPr sz="1600" kern="1200">
                <a:solidFill>
                  <a:schemeClr val="tx2"/>
                </a:solidFill>
                <a:latin typeface="Nunito Sans" pitchFamily="2" charset="77"/>
                <a:ea typeface="+mn-ea"/>
                <a:cs typeface="+mn-cs"/>
              </a:defRPr>
            </a:lvl4pPr>
            <a:lvl5pPr marL="1828800" indent="0" algn="ctr" defTabSz="914400" rtl="0" eaLnBrk="1" latinLnBrk="0" hangingPunct="1">
              <a:lnSpc>
                <a:spcPct val="90000"/>
              </a:lnSpc>
              <a:spcBef>
                <a:spcPts val="500"/>
              </a:spcBef>
              <a:buClr>
                <a:schemeClr val="accent3"/>
              </a:buClr>
              <a:buFont typeface="Arial" panose="020B0604020202020204" pitchFamily="34" charset="0"/>
              <a:buNone/>
              <a:defRPr sz="1600" kern="1200">
                <a:solidFill>
                  <a:schemeClr val="tx2"/>
                </a:solidFill>
                <a:latin typeface="Nunito Sans"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ES" dirty="0">
                <a:latin typeface="Poppins" pitchFamily="2" charset="77"/>
                <a:cs typeface="Poppins" pitchFamily="2" charset="77"/>
              </a:rPr>
              <a:t>03</a:t>
            </a:r>
          </a:p>
        </p:txBody>
      </p:sp>
      <p:sp>
        <p:nvSpPr>
          <p:cNvPr id="10" name="Marcador de texto 3">
            <a:extLst>
              <a:ext uri="{FF2B5EF4-FFF2-40B4-BE49-F238E27FC236}">
                <a16:creationId xmlns:a16="http://schemas.microsoft.com/office/drawing/2014/main" id="{D577F0A1-8C6E-F254-E121-1C40BC9B3418}"/>
              </a:ext>
            </a:extLst>
          </p:cNvPr>
          <p:cNvSpPr txBox="1">
            <a:spLocks/>
          </p:cNvSpPr>
          <p:nvPr/>
        </p:nvSpPr>
        <p:spPr>
          <a:xfrm>
            <a:off x="1987826" y="5138639"/>
            <a:ext cx="2733261" cy="4133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dirty="0" err="1">
                <a:latin typeface="Poppins" pitchFamily="2" charset="77"/>
                <a:cs typeface="Poppins" pitchFamily="2" charset="77"/>
              </a:rPr>
              <a:t>Methodology</a:t>
            </a:r>
            <a:endParaRPr lang="es-ES" dirty="0">
              <a:latin typeface="Poppins" pitchFamily="2" charset="77"/>
              <a:cs typeface="Poppins" pitchFamily="2" charset="77"/>
            </a:endParaRPr>
          </a:p>
        </p:txBody>
      </p:sp>
      <p:sp>
        <p:nvSpPr>
          <p:cNvPr id="11" name="Marcador de texto 4">
            <a:extLst>
              <a:ext uri="{FF2B5EF4-FFF2-40B4-BE49-F238E27FC236}">
                <a16:creationId xmlns:a16="http://schemas.microsoft.com/office/drawing/2014/main" id="{C487FB2D-FF38-4B1B-1BCD-5712353A785F}"/>
              </a:ext>
            </a:extLst>
          </p:cNvPr>
          <p:cNvSpPr txBox="1">
            <a:spLocks/>
          </p:cNvSpPr>
          <p:nvPr/>
        </p:nvSpPr>
        <p:spPr>
          <a:xfrm>
            <a:off x="2077016" y="5490227"/>
            <a:ext cx="3026569" cy="9302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a:latin typeface="Roboto Light" panose="02000000000000000000" pitchFamily="2" charset="0"/>
                <a:ea typeface="Roboto Light" panose="02000000000000000000" pitchFamily="2" charset="0"/>
              </a:rPr>
              <a:t>Project </a:t>
            </a:r>
            <a:r>
              <a:rPr lang="es-ES" err="1">
                <a:latin typeface="Roboto Light" panose="02000000000000000000" pitchFamily="2" charset="0"/>
                <a:ea typeface="Roboto Light" panose="02000000000000000000" pitchFamily="2" charset="0"/>
              </a:rPr>
              <a:t>Phases</a:t>
            </a:r>
            <a:endParaRPr lang="es-ES">
              <a:latin typeface="Roboto Light" panose="02000000000000000000" pitchFamily="2" charset="0"/>
              <a:ea typeface="Roboto Light" panose="02000000000000000000" pitchFamily="2" charset="0"/>
            </a:endParaRPr>
          </a:p>
          <a:p>
            <a:pPr marL="0" indent="0">
              <a:buFont typeface="Arial" panose="020B0604020202020204" pitchFamily="34" charset="0"/>
              <a:buNone/>
            </a:pPr>
            <a:r>
              <a:rPr lang="es-ES">
                <a:latin typeface="Roboto Light" panose="02000000000000000000" pitchFamily="2" charset="0"/>
                <a:ea typeface="Roboto Light" panose="02000000000000000000" pitchFamily="2" charset="0"/>
              </a:rPr>
              <a:t>Tools Selection</a:t>
            </a:r>
          </a:p>
          <a:p>
            <a:pPr marL="0" indent="0">
              <a:buFont typeface="Arial" panose="020B0604020202020204" pitchFamily="34" charset="0"/>
              <a:buNone/>
            </a:pPr>
            <a:r>
              <a:rPr lang="es-ES" err="1">
                <a:latin typeface="Roboto Light" panose="02000000000000000000" pitchFamily="2" charset="0"/>
                <a:ea typeface="Roboto Light" panose="02000000000000000000" pitchFamily="2" charset="0"/>
              </a:rPr>
              <a:t>Planning</a:t>
            </a:r>
            <a:endParaRPr lang="es-ES" dirty="0">
              <a:latin typeface="Roboto Light" panose="02000000000000000000" pitchFamily="2" charset="0"/>
              <a:ea typeface="Roboto Light" panose="02000000000000000000" pitchFamily="2" charset="0"/>
            </a:endParaRPr>
          </a:p>
        </p:txBody>
      </p:sp>
      <p:sp>
        <p:nvSpPr>
          <p:cNvPr id="12" name="Subtítulo 2">
            <a:extLst>
              <a:ext uri="{FF2B5EF4-FFF2-40B4-BE49-F238E27FC236}">
                <a16:creationId xmlns:a16="http://schemas.microsoft.com/office/drawing/2014/main" id="{8B93EEE1-2BCD-80DD-EA9B-0E30AB251A5E}"/>
              </a:ext>
            </a:extLst>
          </p:cNvPr>
          <p:cNvSpPr txBox="1">
            <a:spLocks/>
          </p:cNvSpPr>
          <p:nvPr/>
        </p:nvSpPr>
        <p:spPr>
          <a:xfrm>
            <a:off x="6516330" y="1634092"/>
            <a:ext cx="980661" cy="73142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sz="4400" b="1" i="0" kern="1200">
                <a:solidFill>
                  <a:schemeClr val="accent1"/>
                </a:solidFill>
                <a:latin typeface="Poppins" pitchFamily="2" charset="77"/>
                <a:ea typeface="Roboto Light" panose="02000000000000000000" pitchFamily="2" charset="0"/>
                <a:cs typeface="Poppins" pitchFamily="2" charset="77"/>
              </a:defRPr>
            </a:lvl1pPr>
            <a:lvl2pPr marL="457200" indent="0" algn="ctr" defTabSz="914400" rtl="0" eaLnBrk="1" latinLnBrk="0" hangingPunct="1">
              <a:lnSpc>
                <a:spcPct val="90000"/>
              </a:lnSpc>
              <a:spcBef>
                <a:spcPts val="500"/>
              </a:spcBef>
              <a:buClr>
                <a:schemeClr val="accent1"/>
              </a:buClr>
              <a:buFont typeface="Arial" panose="020B0604020202020204" pitchFamily="34" charset="0"/>
              <a:buNone/>
              <a:defRPr sz="2000" b="0" i="0" kern="1200">
                <a:solidFill>
                  <a:schemeClr val="tx2"/>
                </a:solidFill>
                <a:latin typeface="Roboto Light" panose="02000000000000000000" pitchFamily="2" charset="0"/>
                <a:ea typeface="Roboto Light" panose="02000000000000000000" pitchFamily="2" charset="0"/>
                <a:cs typeface="+mn-cs"/>
              </a:defRPr>
            </a:lvl2pPr>
            <a:lvl3pPr marL="914400" indent="0" algn="ctr" defTabSz="914400" rtl="0" eaLnBrk="1" latinLnBrk="0" hangingPunct="1">
              <a:lnSpc>
                <a:spcPct val="90000"/>
              </a:lnSpc>
              <a:spcBef>
                <a:spcPts val="500"/>
              </a:spcBef>
              <a:buClr>
                <a:schemeClr val="accent1"/>
              </a:buClr>
              <a:buFont typeface="Arial" panose="020B0604020202020204" pitchFamily="34" charset="0"/>
              <a:buNone/>
              <a:defRPr sz="1800" b="0" i="0" kern="1200">
                <a:solidFill>
                  <a:schemeClr val="tx2"/>
                </a:solidFill>
                <a:latin typeface="Roboto Light" panose="02000000000000000000" pitchFamily="2" charset="0"/>
                <a:ea typeface="Roboto Light" panose="02000000000000000000" pitchFamily="2" charset="0"/>
                <a:cs typeface="+mn-cs"/>
              </a:defRPr>
            </a:lvl3pPr>
            <a:lvl4pPr marL="1371600" indent="0" algn="ctr" defTabSz="914400" rtl="0" eaLnBrk="1" latinLnBrk="0" hangingPunct="1">
              <a:lnSpc>
                <a:spcPct val="90000"/>
              </a:lnSpc>
              <a:spcBef>
                <a:spcPts val="500"/>
              </a:spcBef>
              <a:buClr>
                <a:schemeClr val="accent1"/>
              </a:buClr>
              <a:buFont typeface="Arial" panose="020B0604020202020204" pitchFamily="34" charset="0"/>
              <a:buNone/>
              <a:defRPr sz="1600" b="0" i="0" kern="1200">
                <a:solidFill>
                  <a:schemeClr val="tx2"/>
                </a:solidFill>
                <a:latin typeface="Roboto Light" panose="02000000000000000000" pitchFamily="2" charset="0"/>
                <a:ea typeface="Roboto Light" panose="02000000000000000000" pitchFamily="2" charset="0"/>
                <a:cs typeface="+mn-cs"/>
              </a:defRPr>
            </a:lvl4pPr>
            <a:lvl5pPr marL="1828800" indent="0" algn="ctr" defTabSz="914400" rtl="0" eaLnBrk="1" latinLnBrk="0" hangingPunct="1">
              <a:lnSpc>
                <a:spcPct val="90000"/>
              </a:lnSpc>
              <a:spcBef>
                <a:spcPts val="500"/>
              </a:spcBef>
              <a:buClr>
                <a:schemeClr val="accent1"/>
              </a:buClr>
              <a:buFont typeface="Arial" panose="020B0604020202020204" pitchFamily="34" charset="0"/>
              <a:buNone/>
              <a:defRPr sz="1600" b="0" i="0" kern="1200">
                <a:solidFill>
                  <a:schemeClr val="tx2"/>
                </a:solidFill>
                <a:latin typeface="Roboto Light" panose="02000000000000000000" pitchFamily="2" charset="0"/>
                <a:ea typeface="Roboto Light" panose="02000000000000000000" pitchFamily="2"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ES" dirty="0"/>
              <a:t>04</a:t>
            </a:r>
          </a:p>
        </p:txBody>
      </p:sp>
      <p:sp>
        <p:nvSpPr>
          <p:cNvPr id="13" name="Marcador de texto 3">
            <a:extLst>
              <a:ext uri="{FF2B5EF4-FFF2-40B4-BE49-F238E27FC236}">
                <a16:creationId xmlns:a16="http://schemas.microsoft.com/office/drawing/2014/main" id="{39F1580D-EA08-7289-DD65-A86B995A7A4F}"/>
              </a:ext>
            </a:extLst>
          </p:cNvPr>
          <p:cNvSpPr txBox="1">
            <a:spLocks/>
          </p:cNvSpPr>
          <p:nvPr/>
        </p:nvSpPr>
        <p:spPr>
          <a:xfrm>
            <a:off x="7665956" y="1634092"/>
            <a:ext cx="3982706" cy="4133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b="1" i="0" kern="1200">
                <a:solidFill>
                  <a:schemeClr val="accent1"/>
                </a:solidFill>
                <a:latin typeface="Poppins" pitchFamily="2" charset="77"/>
                <a:ea typeface="Roboto Light" panose="02000000000000000000" pitchFamily="2" charset="0"/>
                <a:cs typeface="Poppins" pitchFamily="2" charset="77"/>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400" b="1" i="0" kern="1200">
                <a:solidFill>
                  <a:schemeClr val="accent1"/>
                </a:solidFill>
                <a:latin typeface="Poppins" pitchFamily="2" charset="77"/>
                <a:ea typeface="Roboto Light" panose="02000000000000000000" pitchFamily="2" charset="0"/>
                <a:cs typeface="Poppins" pitchFamily="2" charset="77"/>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2400" b="1" i="0" kern="1200">
                <a:solidFill>
                  <a:schemeClr val="accent1"/>
                </a:solidFill>
                <a:latin typeface="Poppins" pitchFamily="2" charset="77"/>
                <a:ea typeface="Roboto Light" panose="02000000000000000000" pitchFamily="2" charset="0"/>
                <a:cs typeface="Poppins" pitchFamily="2" charset="77"/>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2400" b="1" i="0" kern="1200">
                <a:solidFill>
                  <a:schemeClr val="accent1"/>
                </a:solidFill>
                <a:latin typeface="Poppins" pitchFamily="2" charset="77"/>
                <a:ea typeface="Roboto Light" panose="02000000000000000000" pitchFamily="2" charset="0"/>
                <a:cs typeface="Poppins" pitchFamily="2" charset="77"/>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2400" b="1" i="0" kern="1200">
                <a:solidFill>
                  <a:schemeClr val="accent1"/>
                </a:solidFill>
                <a:latin typeface="Poppins" pitchFamily="2" charset="77"/>
                <a:ea typeface="Roboto Light" panose="02000000000000000000"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dirty="0"/>
              <a:t>DT </a:t>
            </a:r>
            <a:r>
              <a:rPr lang="es-ES" dirty="0" err="1"/>
              <a:t>development</a:t>
            </a:r>
            <a:endParaRPr lang="es-ES" dirty="0"/>
          </a:p>
        </p:txBody>
      </p:sp>
      <p:sp>
        <p:nvSpPr>
          <p:cNvPr id="14" name="Marcador de texto 4">
            <a:extLst>
              <a:ext uri="{FF2B5EF4-FFF2-40B4-BE49-F238E27FC236}">
                <a16:creationId xmlns:a16="http://schemas.microsoft.com/office/drawing/2014/main" id="{F42296AE-D1C4-079C-E9BD-9BDB20B07BAF}"/>
              </a:ext>
            </a:extLst>
          </p:cNvPr>
          <p:cNvSpPr txBox="1">
            <a:spLocks/>
          </p:cNvSpPr>
          <p:nvPr/>
        </p:nvSpPr>
        <p:spPr>
          <a:xfrm>
            <a:off x="7665956" y="2117036"/>
            <a:ext cx="3026569" cy="9302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b="0" i="0" kern="1200">
                <a:solidFill>
                  <a:schemeClr val="tx2"/>
                </a:solidFill>
                <a:latin typeface="Roboto Light" panose="02000000000000000000" pitchFamily="2" charset="0"/>
                <a:ea typeface="Roboto Light" panose="02000000000000000000" pitchFamily="2" charset="0"/>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b="0" i="0" kern="1200">
                <a:solidFill>
                  <a:schemeClr val="tx2"/>
                </a:solidFill>
                <a:latin typeface="Roboto Light" panose="02000000000000000000" pitchFamily="2" charset="0"/>
                <a:ea typeface="Roboto Light" panose="02000000000000000000" pitchFamily="2" charset="0"/>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b="0" i="0" kern="1200">
                <a:solidFill>
                  <a:schemeClr val="tx2"/>
                </a:solidFill>
                <a:latin typeface="Roboto Light" panose="02000000000000000000" pitchFamily="2" charset="0"/>
                <a:ea typeface="Roboto Light" panose="02000000000000000000" pitchFamily="2" charset="0"/>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b="0" i="0" kern="1200">
                <a:solidFill>
                  <a:schemeClr val="tx2"/>
                </a:solidFill>
                <a:latin typeface="Roboto Light" panose="02000000000000000000" pitchFamily="2" charset="0"/>
                <a:ea typeface="Roboto Light" panose="02000000000000000000" pitchFamily="2" charset="0"/>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b="0" i="0" kern="1200">
                <a:solidFill>
                  <a:schemeClr val="tx2"/>
                </a:solidFill>
                <a:latin typeface="Roboto Light" panose="02000000000000000000" pitchFamily="2" charset="0"/>
                <a:ea typeface="Roboto Light"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a:t>Project Definition</a:t>
            </a:r>
            <a:endParaRPr lang="es-ES" dirty="0"/>
          </a:p>
        </p:txBody>
      </p:sp>
      <p:sp>
        <p:nvSpPr>
          <p:cNvPr id="15" name="Subtítulo 2">
            <a:extLst>
              <a:ext uri="{FF2B5EF4-FFF2-40B4-BE49-F238E27FC236}">
                <a16:creationId xmlns:a16="http://schemas.microsoft.com/office/drawing/2014/main" id="{F118952E-E499-B520-0060-C2F3AA80040A}"/>
              </a:ext>
            </a:extLst>
          </p:cNvPr>
          <p:cNvSpPr txBox="1">
            <a:spLocks/>
          </p:cNvSpPr>
          <p:nvPr/>
        </p:nvSpPr>
        <p:spPr>
          <a:xfrm>
            <a:off x="6516330" y="3079338"/>
            <a:ext cx="980661" cy="73142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accent3"/>
              </a:buClr>
              <a:buFont typeface="Arial" panose="020B0604020202020204" pitchFamily="34" charset="0"/>
              <a:buNone/>
              <a:defRPr sz="4400" b="1" i="0" kern="1200">
                <a:solidFill>
                  <a:schemeClr val="accent1"/>
                </a:solidFill>
                <a:latin typeface="Encode Sans" pitchFamily="2" charset="77"/>
                <a:ea typeface="+mn-ea"/>
                <a:cs typeface="+mn-cs"/>
              </a:defRPr>
            </a:lvl1pPr>
            <a:lvl2pPr marL="457200" indent="0" algn="ctr" defTabSz="914400" rtl="0" eaLnBrk="1" latinLnBrk="0" hangingPunct="1">
              <a:lnSpc>
                <a:spcPct val="90000"/>
              </a:lnSpc>
              <a:spcBef>
                <a:spcPts val="500"/>
              </a:spcBef>
              <a:buClr>
                <a:schemeClr val="accent3"/>
              </a:buClr>
              <a:buFont typeface="Arial" panose="020B0604020202020204" pitchFamily="34" charset="0"/>
              <a:buNone/>
              <a:defRPr sz="2000" kern="1200">
                <a:solidFill>
                  <a:schemeClr val="tx2"/>
                </a:solidFill>
                <a:latin typeface="Nunito Sans" pitchFamily="2" charset="77"/>
                <a:ea typeface="+mn-ea"/>
                <a:cs typeface="+mn-cs"/>
              </a:defRPr>
            </a:lvl2pPr>
            <a:lvl3pPr marL="914400" indent="0" algn="ctr" defTabSz="914400" rtl="0" eaLnBrk="1" latinLnBrk="0" hangingPunct="1">
              <a:lnSpc>
                <a:spcPct val="90000"/>
              </a:lnSpc>
              <a:spcBef>
                <a:spcPts val="500"/>
              </a:spcBef>
              <a:buClr>
                <a:schemeClr val="accent3"/>
              </a:buClr>
              <a:buFont typeface="Arial" panose="020B0604020202020204" pitchFamily="34" charset="0"/>
              <a:buNone/>
              <a:defRPr sz="1800" kern="1200">
                <a:solidFill>
                  <a:schemeClr val="tx2"/>
                </a:solidFill>
                <a:latin typeface="Nunito Sans" pitchFamily="2" charset="77"/>
                <a:ea typeface="+mn-ea"/>
                <a:cs typeface="+mn-cs"/>
              </a:defRPr>
            </a:lvl3pPr>
            <a:lvl4pPr marL="1371600" indent="0" algn="ctr" defTabSz="914400" rtl="0" eaLnBrk="1" latinLnBrk="0" hangingPunct="1">
              <a:lnSpc>
                <a:spcPct val="90000"/>
              </a:lnSpc>
              <a:spcBef>
                <a:spcPts val="500"/>
              </a:spcBef>
              <a:buClr>
                <a:schemeClr val="accent3"/>
              </a:buClr>
              <a:buFont typeface="Arial" panose="020B0604020202020204" pitchFamily="34" charset="0"/>
              <a:buNone/>
              <a:defRPr sz="1600" kern="1200">
                <a:solidFill>
                  <a:schemeClr val="tx2"/>
                </a:solidFill>
                <a:latin typeface="Nunito Sans" pitchFamily="2" charset="77"/>
                <a:ea typeface="+mn-ea"/>
                <a:cs typeface="+mn-cs"/>
              </a:defRPr>
            </a:lvl4pPr>
            <a:lvl5pPr marL="1828800" indent="0" algn="ctr" defTabSz="914400" rtl="0" eaLnBrk="1" latinLnBrk="0" hangingPunct="1">
              <a:lnSpc>
                <a:spcPct val="90000"/>
              </a:lnSpc>
              <a:spcBef>
                <a:spcPts val="500"/>
              </a:spcBef>
              <a:buClr>
                <a:schemeClr val="accent3"/>
              </a:buClr>
              <a:buFont typeface="Arial" panose="020B0604020202020204" pitchFamily="34" charset="0"/>
              <a:buNone/>
              <a:defRPr sz="1600" kern="1200">
                <a:solidFill>
                  <a:schemeClr val="tx2"/>
                </a:solidFill>
                <a:latin typeface="Nunito Sans"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ES" dirty="0">
                <a:latin typeface="Poppins" pitchFamily="2" charset="77"/>
                <a:cs typeface="Poppins" pitchFamily="2" charset="77"/>
              </a:rPr>
              <a:t>05</a:t>
            </a:r>
          </a:p>
        </p:txBody>
      </p:sp>
      <p:sp>
        <p:nvSpPr>
          <p:cNvPr id="16" name="Marcador de texto 3">
            <a:extLst>
              <a:ext uri="{FF2B5EF4-FFF2-40B4-BE49-F238E27FC236}">
                <a16:creationId xmlns:a16="http://schemas.microsoft.com/office/drawing/2014/main" id="{5C49CED0-E05F-12D9-123B-FF0CA194A7B1}"/>
              </a:ext>
            </a:extLst>
          </p:cNvPr>
          <p:cNvSpPr txBox="1">
            <a:spLocks/>
          </p:cNvSpPr>
          <p:nvPr/>
        </p:nvSpPr>
        <p:spPr>
          <a:xfrm>
            <a:off x="7665956" y="3116815"/>
            <a:ext cx="4108173" cy="4133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dirty="0" err="1">
                <a:latin typeface="Poppins" pitchFamily="2" charset="77"/>
                <a:cs typeface="Poppins" pitchFamily="2" charset="77"/>
              </a:rPr>
              <a:t>Results</a:t>
            </a:r>
            <a:endParaRPr lang="es-ES" dirty="0">
              <a:latin typeface="Poppins" pitchFamily="2" charset="77"/>
              <a:cs typeface="Poppins" pitchFamily="2" charset="77"/>
            </a:endParaRPr>
          </a:p>
        </p:txBody>
      </p:sp>
      <p:sp>
        <p:nvSpPr>
          <p:cNvPr id="17" name="Marcador de texto 4">
            <a:extLst>
              <a:ext uri="{FF2B5EF4-FFF2-40B4-BE49-F238E27FC236}">
                <a16:creationId xmlns:a16="http://schemas.microsoft.com/office/drawing/2014/main" id="{DB888FF7-57E7-87B0-2352-45476069F544}"/>
              </a:ext>
            </a:extLst>
          </p:cNvPr>
          <p:cNvSpPr txBox="1">
            <a:spLocks/>
          </p:cNvSpPr>
          <p:nvPr/>
        </p:nvSpPr>
        <p:spPr>
          <a:xfrm>
            <a:off x="7755145" y="3694175"/>
            <a:ext cx="3026569" cy="9302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dirty="0" err="1">
                <a:latin typeface="Roboto Light" panose="02000000000000000000" pitchFamily="2" charset="0"/>
                <a:ea typeface="Roboto Light" panose="02000000000000000000" pitchFamily="2" charset="0"/>
              </a:rPr>
              <a:t>Analysis</a:t>
            </a:r>
            <a:r>
              <a:rPr lang="es-ES" dirty="0">
                <a:latin typeface="Roboto Light" panose="02000000000000000000" pitchFamily="2" charset="0"/>
                <a:ea typeface="Roboto Light" panose="02000000000000000000" pitchFamily="2" charset="0"/>
              </a:rPr>
              <a:t> </a:t>
            </a:r>
            <a:r>
              <a:rPr lang="es-ES" dirty="0" err="1">
                <a:latin typeface="Roboto Light" panose="02000000000000000000" pitchFamily="2" charset="0"/>
                <a:ea typeface="Roboto Light" panose="02000000000000000000" pitchFamily="2" charset="0"/>
              </a:rPr>
              <a:t>of</a:t>
            </a:r>
            <a:r>
              <a:rPr lang="es-ES" dirty="0">
                <a:latin typeface="Roboto Light" panose="02000000000000000000" pitchFamily="2" charset="0"/>
                <a:ea typeface="Roboto Light" panose="02000000000000000000" pitchFamily="2" charset="0"/>
              </a:rPr>
              <a:t> DT</a:t>
            </a:r>
          </a:p>
        </p:txBody>
      </p:sp>
      <p:sp>
        <p:nvSpPr>
          <p:cNvPr id="18" name="Subtítulo 2">
            <a:extLst>
              <a:ext uri="{FF2B5EF4-FFF2-40B4-BE49-F238E27FC236}">
                <a16:creationId xmlns:a16="http://schemas.microsoft.com/office/drawing/2014/main" id="{71908DD6-C892-233A-EA84-6DD7C7BFC3E4}"/>
              </a:ext>
            </a:extLst>
          </p:cNvPr>
          <p:cNvSpPr txBox="1">
            <a:spLocks/>
          </p:cNvSpPr>
          <p:nvPr/>
        </p:nvSpPr>
        <p:spPr>
          <a:xfrm>
            <a:off x="6516329" y="5223908"/>
            <a:ext cx="980661" cy="73142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accent3"/>
              </a:buClr>
              <a:buFont typeface="Arial" panose="020B0604020202020204" pitchFamily="34" charset="0"/>
              <a:buNone/>
              <a:defRPr sz="4400" b="1" i="0" kern="1200">
                <a:solidFill>
                  <a:schemeClr val="accent1"/>
                </a:solidFill>
                <a:latin typeface="Encode Sans" pitchFamily="2" charset="77"/>
                <a:ea typeface="+mn-ea"/>
                <a:cs typeface="+mn-cs"/>
              </a:defRPr>
            </a:lvl1pPr>
            <a:lvl2pPr marL="457200" indent="0" algn="ctr" defTabSz="914400" rtl="0" eaLnBrk="1" latinLnBrk="0" hangingPunct="1">
              <a:lnSpc>
                <a:spcPct val="90000"/>
              </a:lnSpc>
              <a:spcBef>
                <a:spcPts val="500"/>
              </a:spcBef>
              <a:buClr>
                <a:schemeClr val="accent3"/>
              </a:buClr>
              <a:buFont typeface="Arial" panose="020B0604020202020204" pitchFamily="34" charset="0"/>
              <a:buNone/>
              <a:defRPr sz="2000" kern="1200">
                <a:solidFill>
                  <a:schemeClr val="tx2"/>
                </a:solidFill>
                <a:latin typeface="Nunito Sans" pitchFamily="2" charset="77"/>
                <a:ea typeface="+mn-ea"/>
                <a:cs typeface="+mn-cs"/>
              </a:defRPr>
            </a:lvl2pPr>
            <a:lvl3pPr marL="914400" indent="0" algn="ctr" defTabSz="914400" rtl="0" eaLnBrk="1" latinLnBrk="0" hangingPunct="1">
              <a:lnSpc>
                <a:spcPct val="90000"/>
              </a:lnSpc>
              <a:spcBef>
                <a:spcPts val="500"/>
              </a:spcBef>
              <a:buClr>
                <a:schemeClr val="accent3"/>
              </a:buClr>
              <a:buFont typeface="Arial" panose="020B0604020202020204" pitchFamily="34" charset="0"/>
              <a:buNone/>
              <a:defRPr sz="1800" kern="1200">
                <a:solidFill>
                  <a:schemeClr val="tx2"/>
                </a:solidFill>
                <a:latin typeface="Nunito Sans" pitchFamily="2" charset="77"/>
                <a:ea typeface="+mn-ea"/>
                <a:cs typeface="+mn-cs"/>
              </a:defRPr>
            </a:lvl3pPr>
            <a:lvl4pPr marL="1371600" indent="0" algn="ctr" defTabSz="914400" rtl="0" eaLnBrk="1" latinLnBrk="0" hangingPunct="1">
              <a:lnSpc>
                <a:spcPct val="90000"/>
              </a:lnSpc>
              <a:spcBef>
                <a:spcPts val="500"/>
              </a:spcBef>
              <a:buClr>
                <a:schemeClr val="accent3"/>
              </a:buClr>
              <a:buFont typeface="Arial" panose="020B0604020202020204" pitchFamily="34" charset="0"/>
              <a:buNone/>
              <a:defRPr sz="1600" kern="1200">
                <a:solidFill>
                  <a:schemeClr val="tx2"/>
                </a:solidFill>
                <a:latin typeface="Nunito Sans" pitchFamily="2" charset="77"/>
                <a:ea typeface="+mn-ea"/>
                <a:cs typeface="+mn-cs"/>
              </a:defRPr>
            </a:lvl4pPr>
            <a:lvl5pPr marL="1828800" indent="0" algn="ctr" defTabSz="914400" rtl="0" eaLnBrk="1" latinLnBrk="0" hangingPunct="1">
              <a:lnSpc>
                <a:spcPct val="90000"/>
              </a:lnSpc>
              <a:spcBef>
                <a:spcPts val="500"/>
              </a:spcBef>
              <a:buClr>
                <a:schemeClr val="accent3"/>
              </a:buClr>
              <a:buFont typeface="Arial" panose="020B0604020202020204" pitchFamily="34" charset="0"/>
              <a:buNone/>
              <a:defRPr sz="1600" kern="1200">
                <a:solidFill>
                  <a:schemeClr val="tx2"/>
                </a:solidFill>
                <a:latin typeface="Nunito Sans"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ES" dirty="0">
                <a:latin typeface="Poppins" pitchFamily="2" charset="77"/>
                <a:cs typeface="Poppins" pitchFamily="2" charset="77"/>
              </a:rPr>
              <a:t>06</a:t>
            </a:r>
          </a:p>
        </p:txBody>
      </p:sp>
      <p:sp>
        <p:nvSpPr>
          <p:cNvPr id="19" name="Marcador de texto 3">
            <a:extLst>
              <a:ext uri="{FF2B5EF4-FFF2-40B4-BE49-F238E27FC236}">
                <a16:creationId xmlns:a16="http://schemas.microsoft.com/office/drawing/2014/main" id="{8679444B-D694-C32A-1F5B-6391FA465AD7}"/>
              </a:ext>
            </a:extLst>
          </p:cNvPr>
          <p:cNvSpPr txBox="1">
            <a:spLocks/>
          </p:cNvSpPr>
          <p:nvPr/>
        </p:nvSpPr>
        <p:spPr>
          <a:xfrm>
            <a:off x="7665955" y="5138639"/>
            <a:ext cx="2733261" cy="4133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2400" b="1" i="0" kern="1200">
                <a:solidFill>
                  <a:schemeClr val="accent1"/>
                </a:solidFill>
                <a:latin typeface="Encode Sans SemiBold"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dirty="0" err="1">
                <a:latin typeface="Poppins" pitchFamily="2" charset="77"/>
                <a:cs typeface="Poppins" pitchFamily="2" charset="77"/>
              </a:rPr>
              <a:t>Conclusions</a:t>
            </a:r>
            <a:endParaRPr lang="es-ES" dirty="0">
              <a:latin typeface="Poppins" pitchFamily="2" charset="77"/>
              <a:cs typeface="Poppins" pitchFamily="2" charset="77"/>
            </a:endParaRPr>
          </a:p>
        </p:txBody>
      </p:sp>
      <p:sp>
        <p:nvSpPr>
          <p:cNvPr id="20" name="Marcador de texto 4">
            <a:extLst>
              <a:ext uri="{FF2B5EF4-FFF2-40B4-BE49-F238E27FC236}">
                <a16:creationId xmlns:a16="http://schemas.microsoft.com/office/drawing/2014/main" id="{65C569FA-87E0-F6C6-D5D6-3EC50C723CD8}"/>
              </a:ext>
            </a:extLst>
          </p:cNvPr>
          <p:cNvSpPr txBox="1">
            <a:spLocks/>
          </p:cNvSpPr>
          <p:nvPr/>
        </p:nvSpPr>
        <p:spPr>
          <a:xfrm>
            <a:off x="7755144" y="5558425"/>
            <a:ext cx="3026569" cy="9302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1pPr>
            <a:lvl2pPr marL="6858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3pPr>
            <a:lvl4pPr marL="16002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600" b="0" i="0" kern="1200">
                <a:solidFill>
                  <a:schemeClr val="tx2"/>
                </a:solidFill>
                <a:latin typeface="Nunito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dirty="0" err="1">
                <a:latin typeface="Roboto Light" panose="02000000000000000000" pitchFamily="2" charset="0"/>
                <a:ea typeface="Roboto Light" panose="02000000000000000000" pitchFamily="2" charset="0"/>
              </a:rPr>
              <a:t>Summary</a:t>
            </a:r>
            <a:endParaRPr lang="es-ES"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299829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951ABA-DE79-3DAD-514C-B9D2D96947B4}"/>
              </a:ext>
            </a:extLst>
          </p:cNvPr>
          <p:cNvSpPr>
            <a:spLocks noGrp="1"/>
          </p:cNvSpPr>
          <p:nvPr>
            <p:ph type="title"/>
          </p:nvPr>
        </p:nvSpPr>
        <p:spPr>
          <a:xfrm>
            <a:off x="1123121" y="2766218"/>
            <a:ext cx="9829801" cy="1325563"/>
          </a:xfrm>
        </p:spPr>
        <p:txBody>
          <a:bodyPr/>
          <a:lstStyle/>
          <a:p>
            <a:r>
              <a:rPr lang="es-ES"/>
              <a:t>Introduction</a:t>
            </a:r>
          </a:p>
        </p:txBody>
      </p:sp>
    </p:spTree>
    <p:extLst>
      <p:ext uri="{BB962C8B-B14F-4D97-AF65-F5344CB8AC3E}">
        <p14:creationId xmlns:p14="http://schemas.microsoft.com/office/powerpoint/2010/main" val="1143587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2656E20-985F-B689-9CB6-429CF4A792F9}"/>
              </a:ext>
            </a:extLst>
          </p:cNvPr>
          <p:cNvPicPr>
            <a:picLocks noChangeAspect="1"/>
          </p:cNvPicPr>
          <p:nvPr/>
        </p:nvPicPr>
        <p:blipFill>
          <a:blip r:embed="rId3"/>
          <a:stretch>
            <a:fillRect/>
          </a:stretch>
        </p:blipFill>
        <p:spPr>
          <a:xfrm>
            <a:off x="0" y="-126887"/>
            <a:ext cx="12263542" cy="6984887"/>
          </a:xfrm>
          <a:prstGeom prst="rect">
            <a:avLst/>
          </a:prstGeom>
        </p:spPr>
      </p:pic>
      <p:sp>
        <p:nvSpPr>
          <p:cNvPr id="5" name="Rectángulo 4">
            <a:extLst>
              <a:ext uri="{FF2B5EF4-FFF2-40B4-BE49-F238E27FC236}">
                <a16:creationId xmlns:a16="http://schemas.microsoft.com/office/drawing/2014/main" id="{DB9B4DD0-BEFE-57F2-03D4-FB4D7D95AFF3}"/>
              </a:ext>
            </a:extLst>
          </p:cNvPr>
          <p:cNvSpPr/>
          <p:nvPr/>
        </p:nvSpPr>
        <p:spPr>
          <a:xfrm>
            <a:off x="-796815" y="-1343545"/>
            <a:ext cx="14107886" cy="9158514"/>
          </a:xfrm>
          <a:prstGeom prst="rect">
            <a:avLst/>
          </a:prstGeom>
          <a:solidFill>
            <a:schemeClr val="accent1">
              <a:lumMod val="50000"/>
              <a:alpha val="66000"/>
            </a:schemeClr>
          </a:solidFill>
          <a:ln>
            <a:solidFill>
              <a:schemeClr val="accent1">
                <a:shade val="15000"/>
                <a:alpha val="6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9678FAF-0FE7-CA6B-7DE8-BBF444283D66}"/>
              </a:ext>
            </a:extLst>
          </p:cNvPr>
          <p:cNvSpPr>
            <a:spLocks noGrp="1"/>
          </p:cNvSpPr>
          <p:nvPr>
            <p:ph type="ctrTitle"/>
          </p:nvPr>
        </p:nvSpPr>
        <p:spPr/>
        <p:txBody>
          <a:bodyPr/>
          <a:lstStyle/>
          <a:p>
            <a:r>
              <a:rPr lang="es-ES" err="1">
                <a:solidFill>
                  <a:schemeClr val="bg1"/>
                </a:solidFill>
              </a:rPr>
              <a:t>Team</a:t>
            </a:r>
            <a:endParaRPr lang="es-ES">
              <a:solidFill>
                <a:schemeClr val="bg1"/>
              </a:solidFill>
            </a:endParaRPr>
          </a:p>
        </p:txBody>
      </p:sp>
      <p:sp>
        <p:nvSpPr>
          <p:cNvPr id="3" name="CuadroTexto 14">
            <a:extLst>
              <a:ext uri="{FF2B5EF4-FFF2-40B4-BE49-F238E27FC236}">
                <a16:creationId xmlns:a16="http://schemas.microsoft.com/office/drawing/2014/main" id="{67DC40D1-9AD5-F78D-23C3-BE44E1BE3FF8}"/>
              </a:ext>
            </a:extLst>
          </p:cNvPr>
          <p:cNvSpPr txBox="1"/>
          <p:nvPr/>
        </p:nvSpPr>
        <p:spPr>
          <a:xfrm>
            <a:off x="491661" y="3255992"/>
            <a:ext cx="2865013"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FFFF"/>
                </a:solidFill>
                <a:effectLst/>
                <a:uLnTx/>
                <a:uFillTx/>
                <a:latin typeface="Poppins" pitchFamily="2" charset="77"/>
                <a:ea typeface="Open Sans" panose="020B0606030504020204" pitchFamily="34" charset="0"/>
                <a:cs typeface="Poppins" pitchFamily="2" charset="77"/>
              </a:rPr>
              <a:t>Alberto Navas</a:t>
            </a:r>
          </a:p>
        </p:txBody>
      </p:sp>
      <p:sp>
        <p:nvSpPr>
          <p:cNvPr id="10" name="CuadroTexto 16">
            <a:extLst>
              <a:ext uri="{FF2B5EF4-FFF2-40B4-BE49-F238E27FC236}">
                <a16:creationId xmlns:a16="http://schemas.microsoft.com/office/drawing/2014/main" id="{D247B151-C88A-4582-EA6F-989597FC722D}"/>
              </a:ext>
            </a:extLst>
          </p:cNvPr>
          <p:cNvSpPr txBox="1"/>
          <p:nvPr/>
        </p:nvSpPr>
        <p:spPr>
          <a:xfrm>
            <a:off x="2833326" y="3235712"/>
            <a:ext cx="241555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FFFF"/>
                </a:solidFill>
                <a:effectLst/>
                <a:uLnTx/>
                <a:uFillTx/>
                <a:latin typeface="Poppins" pitchFamily="2" charset="77"/>
                <a:ea typeface="Open Sans" panose="020B0606030504020204" pitchFamily="34" charset="0"/>
                <a:cs typeface="Poppins" pitchFamily="2" charset="77"/>
              </a:rPr>
              <a:t>Iván Revilla</a:t>
            </a:r>
          </a:p>
        </p:txBody>
      </p:sp>
      <p:sp>
        <p:nvSpPr>
          <p:cNvPr id="12" name="Title 7">
            <a:extLst>
              <a:ext uri="{FF2B5EF4-FFF2-40B4-BE49-F238E27FC236}">
                <a16:creationId xmlns:a16="http://schemas.microsoft.com/office/drawing/2014/main" id="{C1D67D8A-12AE-8596-275A-292AF234B452}"/>
              </a:ext>
            </a:extLst>
          </p:cNvPr>
          <p:cNvSpPr txBox="1">
            <a:spLocks/>
          </p:cNvSpPr>
          <p:nvPr/>
        </p:nvSpPr>
        <p:spPr>
          <a:xfrm>
            <a:off x="1134493" y="3278611"/>
            <a:ext cx="4444361" cy="943526"/>
          </a:xfrm>
          <a:prstGeom prst="rect">
            <a:avLst/>
          </a:prstGeom>
        </p:spPr>
        <p:txBody>
          <a:bodyPr vert="horz" wrap="square" lIns="91440" tIns="45720" rIns="91440" bIns="45720" rtlCol="0" anchor="b">
            <a:normAutofit/>
          </a:bodyPr>
          <a:lstStyle>
            <a:lvl1pPr algn="ctr" defTabSz="2832080" rtl="0" eaLnBrk="1" latinLnBrk="0" hangingPunct="1">
              <a:lnSpc>
                <a:spcPct val="90000"/>
              </a:lnSpc>
              <a:spcBef>
                <a:spcPct val="0"/>
              </a:spcBef>
              <a:buNone/>
              <a:defRPr sz="18583" kern="1200">
                <a:solidFill>
                  <a:schemeClr val="tx1"/>
                </a:solidFill>
                <a:latin typeface="+mj-lt"/>
                <a:ea typeface="+mj-ea"/>
                <a:cs typeface="+mj-cs"/>
              </a:defRPr>
            </a:lvl1pPr>
          </a:lstStyle>
          <a:p>
            <a:pPr marL="0" marR="0" lvl="0" indent="0" algn="l" defTabSz="2832080" rtl="0" eaLnBrk="1" fontAlgn="auto" latinLnBrk="0" hangingPunct="1">
              <a:lnSpc>
                <a:spcPct val="90000"/>
              </a:lnSpc>
              <a:spcBef>
                <a:spcPct val="0"/>
              </a:spcBef>
              <a:spcAft>
                <a:spcPts val="0"/>
              </a:spcAft>
              <a:buClrTx/>
              <a:buSzTx/>
              <a:buFontTx/>
              <a:buNone/>
              <a:tabLst/>
              <a:defRPr/>
            </a:pPr>
            <a:r>
              <a:rPr kumimoji="0" lang="es-ES" sz="2000" b="1" i="0" u="none" strike="noStrike" kern="1200" cap="none" spc="0" normalizeH="0" baseline="0" noProof="0" err="1">
                <a:ln>
                  <a:noFill/>
                </a:ln>
                <a:solidFill>
                  <a:srgbClr val="FFFFFF"/>
                </a:solidFill>
                <a:effectLst/>
                <a:uLnTx/>
                <a:uFillTx/>
                <a:latin typeface="Calibri Light" panose="020F0302020204030204"/>
                <a:ea typeface="+mj-ea"/>
                <a:cs typeface="+mj-cs"/>
              </a:rPr>
              <a:t>Academic</a:t>
            </a:r>
            <a:r>
              <a:rPr kumimoji="0" lang="es-ES" sz="2000" b="1" i="0" u="none" strike="noStrike" kern="1200" cap="none" spc="0" normalizeH="0" baseline="0" noProof="0">
                <a:ln>
                  <a:noFill/>
                </a:ln>
                <a:solidFill>
                  <a:srgbClr val="FFFFFF"/>
                </a:solidFill>
                <a:effectLst/>
                <a:uLnTx/>
                <a:uFillTx/>
                <a:latin typeface="Calibri Light" panose="020F0302020204030204"/>
                <a:ea typeface="+mj-ea"/>
                <a:cs typeface="+mj-cs"/>
              </a:rPr>
              <a:t> </a:t>
            </a:r>
            <a:r>
              <a:rPr kumimoji="0" lang="es-ES" sz="2000" b="1" i="0" u="none" strike="noStrike" kern="1200" cap="none" spc="0" normalizeH="0" baseline="0" noProof="0" err="1">
                <a:ln>
                  <a:noFill/>
                </a:ln>
                <a:solidFill>
                  <a:srgbClr val="FFFFFF"/>
                </a:solidFill>
                <a:effectLst/>
                <a:uLnTx/>
                <a:uFillTx/>
                <a:latin typeface="Calibri Light" panose="020F0302020204030204"/>
                <a:ea typeface="+mj-ea"/>
                <a:cs typeface="+mj-cs"/>
              </a:rPr>
              <a:t>Supervisors</a:t>
            </a:r>
            <a:endParaRPr kumimoji="0" lang="es-ES" sz="2000" b="1" i="0" u="none" strike="noStrike" kern="1200" cap="none" spc="0" normalizeH="0" baseline="0" noProof="0">
              <a:ln>
                <a:noFill/>
              </a:ln>
              <a:solidFill>
                <a:srgbClr val="FFFFFF"/>
              </a:solidFill>
              <a:effectLst/>
              <a:uLnTx/>
              <a:uFillTx/>
              <a:latin typeface="Calibri Light" panose="020F0302020204030204"/>
              <a:ea typeface="+mj-ea"/>
              <a:cs typeface="+mj-cs"/>
            </a:endParaRPr>
          </a:p>
        </p:txBody>
      </p:sp>
      <p:cxnSp>
        <p:nvCxnSpPr>
          <p:cNvPr id="13" name="Straight Connector 44">
            <a:extLst>
              <a:ext uri="{FF2B5EF4-FFF2-40B4-BE49-F238E27FC236}">
                <a16:creationId xmlns:a16="http://schemas.microsoft.com/office/drawing/2014/main" id="{69085A7E-D9C2-2AD4-79F4-0AC4D893AEFE}"/>
              </a:ext>
            </a:extLst>
          </p:cNvPr>
          <p:cNvCxnSpPr>
            <a:cxnSpLocks/>
          </p:cNvCxnSpPr>
          <p:nvPr/>
        </p:nvCxnSpPr>
        <p:spPr>
          <a:xfrm>
            <a:off x="1134493" y="4362673"/>
            <a:ext cx="441520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4" name="Title 7">
            <a:extLst>
              <a:ext uri="{FF2B5EF4-FFF2-40B4-BE49-F238E27FC236}">
                <a16:creationId xmlns:a16="http://schemas.microsoft.com/office/drawing/2014/main" id="{6B0DF09E-87A7-0E9B-8ECB-60DD81F3FC3E}"/>
              </a:ext>
            </a:extLst>
          </p:cNvPr>
          <p:cNvSpPr txBox="1">
            <a:spLocks/>
          </p:cNvSpPr>
          <p:nvPr/>
        </p:nvSpPr>
        <p:spPr>
          <a:xfrm>
            <a:off x="7747639" y="3234933"/>
            <a:ext cx="4444361" cy="943526"/>
          </a:xfrm>
          <a:prstGeom prst="rect">
            <a:avLst/>
          </a:prstGeom>
          <a:ln>
            <a:noFill/>
          </a:ln>
        </p:spPr>
        <p:txBody>
          <a:bodyPr vert="horz" wrap="square" lIns="91440" tIns="45720" rIns="91440" bIns="45720" rtlCol="0" anchor="b">
            <a:normAutofit/>
          </a:bodyPr>
          <a:lstStyle>
            <a:lvl1pPr algn="ctr" defTabSz="2832080" rtl="0" eaLnBrk="1" latinLnBrk="0" hangingPunct="1">
              <a:lnSpc>
                <a:spcPct val="90000"/>
              </a:lnSpc>
              <a:spcBef>
                <a:spcPct val="0"/>
              </a:spcBef>
              <a:buNone/>
              <a:defRPr sz="18583" kern="1200">
                <a:solidFill>
                  <a:schemeClr val="tx1"/>
                </a:solidFill>
                <a:latin typeface="+mj-lt"/>
                <a:ea typeface="+mj-ea"/>
                <a:cs typeface="+mj-cs"/>
              </a:defRPr>
            </a:lvl1pPr>
          </a:lstStyle>
          <a:p>
            <a:pPr marL="0" marR="0" lvl="0" indent="0" algn="l" defTabSz="2832080" rtl="0" eaLnBrk="1" fontAlgn="auto" latinLnBrk="0" hangingPunct="1">
              <a:lnSpc>
                <a:spcPct val="90000"/>
              </a:lnSpc>
              <a:spcBef>
                <a:spcPct val="0"/>
              </a:spcBef>
              <a:spcAft>
                <a:spcPts val="0"/>
              </a:spcAft>
              <a:buClrTx/>
              <a:buSzTx/>
              <a:buFontTx/>
              <a:buNone/>
              <a:tabLst/>
              <a:defRPr/>
            </a:pPr>
            <a:r>
              <a:rPr kumimoji="0" lang="es-ES" sz="2000" b="1" i="0" u="none" strike="noStrike" kern="1200" cap="none" spc="0" normalizeH="0" baseline="0" noProof="0">
                <a:ln>
                  <a:noFill/>
                </a:ln>
                <a:solidFill>
                  <a:srgbClr val="FFFFFF"/>
                </a:solidFill>
                <a:effectLst/>
                <a:uLnTx/>
                <a:uFillTx/>
                <a:latin typeface="Calibri Light" panose="020F0302020204030204"/>
                <a:ea typeface="+mj-ea"/>
                <a:cs typeface="+mj-cs"/>
              </a:rPr>
              <a:t>Company </a:t>
            </a:r>
            <a:r>
              <a:rPr kumimoji="0" lang="es-ES" sz="2000" b="1" i="0" u="none" strike="noStrike" kern="1200" cap="none" spc="0" normalizeH="0" baseline="0" noProof="0" err="1">
                <a:ln>
                  <a:noFill/>
                </a:ln>
                <a:solidFill>
                  <a:srgbClr val="FFFFFF"/>
                </a:solidFill>
                <a:effectLst/>
                <a:uLnTx/>
                <a:uFillTx/>
                <a:latin typeface="Calibri Light" panose="020F0302020204030204"/>
                <a:ea typeface="+mj-ea"/>
                <a:cs typeface="+mj-cs"/>
              </a:rPr>
              <a:t>Supervisors</a:t>
            </a:r>
            <a:endParaRPr kumimoji="0" lang="es-ES" sz="2000" b="1" i="0" u="none" strike="noStrike" kern="1200" cap="none" spc="0" normalizeH="0" baseline="0" noProof="0">
              <a:ln>
                <a:noFill/>
              </a:ln>
              <a:solidFill>
                <a:srgbClr val="FFFFFF"/>
              </a:solidFill>
              <a:effectLst/>
              <a:uLnTx/>
              <a:uFillTx/>
              <a:latin typeface="Calibri Light" panose="020F0302020204030204"/>
              <a:ea typeface="+mj-ea"/>
              <a:cs typeface="+mj-cs"/>
            </a:endParaRPr>
          </a:p>
        </p:txBody>
      </p:sp>
      <p:cxnSp>
        <p:nvCxnSpPr>
          <p:cNvPr id="15" name="Straight Connector 44">
            <a:extLst>
              <a:ext uri="{FF2B5EF4-FFF2-40B4-BE49-F238E27FC236}">
                <a16:creationId xmlns:a16="http://schemas.microsoft.com/office/drawing/2014/main" id="{AD7EE6C2-A11F-D7CD-E22F-B8309C114FC1}"/>
              </a:ext>
            </a:extLst>
          </p:cNvPr>
          <p:cNvCxnSpPr>
            <a:cxnSpLocks/>
          </p:cNvCxnSpPr>
          <p:nvPr/>
        </p:nvCxnSpPr>
        <p:spPr>
          <a:xfrm>
            <a:off x="7747639" y="4352204"/>
            <a:ext cx="441520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6" name="CuadroTexto 14">
            <a:extLst>
              <a:ext uri="{FF2B5EF4-FFF2-40B4-BE49-F238E27FC236}">
                <a16:creationId xmlns:a16="http://schemas.microsoft.com/office/drawing/2014/main" id="{A063EC2D-9FE0-014A-D8DF-4AA16F66F486}"/>
              </a:ext>
            </a:extLst>
          </p:cNvPr>
          <p:cNvSpPr txBox="1"/>
          <p:nvPr/>
        </p:nvSpPr>
        <p:spPr>
          <a:xfrm>
            <a:off x="568878" y="6176000"/>
            <a:ext cx="240608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FFFF"/>
                </a:solidFill>
                <a:effectLst/>
                <a:uLnTx/>
                <a:uFillTx/>
                <a:latin typeface="Poppins" pitchFamily="2" charset="77"/>
                <a:ea typeface="Open Sans" panose="020B0606030504020204" pitchFamily="34" charset="0"/>
                <a:cs typeface="Poppins" pitchFamily="2" charset="77"/>
              </a:rPr>
              <a:t>Natalia Sobrino</a:t>
            </a:r>
          </a:p>
        </p:txBody>
      </p:sp>
      <p:sp>
        <p:nvSpPr>
          <p:cNvPr id="17" name="CuadroTexto 14">
            <a:extLst>
              <a:ext uri="{FF2B5EF4-FFF2-40B4-BE49-F238E27FC236}">
                <a16:creationId xmlns:a16="http://schemas.microsoft.com/office/drawing/2014/main" id="{19950054-15B0-14C4-8412-ADB0BA5039B0}"/>
              </a:ext>
            </a:extLst>
          </p:cNvPr>
          <p:cNvSpPr txBox="1"/>
          <p:nvPr/>
        </p:nvSpPr>
        <p:spPr>
          <a:xfrm>
            <a:off x="7747639" y="6139029"/>
            <a:ext cx="240608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FFFF"/>
                </a:solidFill>
                <a:effectLst/>
                <a:uLnTx/>
                <a:uFillTx/>
                <a:latin typeface="Poppins" pitchFamily="2" charset="77"/>
                <a:ea typeface="Open Sans" panose="020B0606030504020204" pitchFamily="34" charset="0"/>
                <a:cs typeface="Poppins" pitchFamily="2" charset="77"/>
              </a:rPr>
              <a:t>Oliva García</a:t>
            </a:r>
          </a:p>
        </p:txBody>
      </p:sp>
      <p:pic>
        <p:nvPicPr>
          <p:cNvPr id="18" name="Imagen 17" descr="Hombre con barba y bigote sonriendo&#10;&#10;Descripción generada automáticamente">
            <a:extLst>
              <a:ext uri="{FF2B5EF4-FFF2-40B4-BE49-F238E27FC236}">
                <a16:creationId xmlns:a16="http://schemas.microsoft.com/office/drawing/2014/main" id="{0E98A127-7717-E2C6-9B72-67BB254A013C}"/>
              </a:ext>
            </a:extLst>
          </p:cNvPr>
          <p:cNvPicPr>
            <a:picLocks noChangeAspect="1"/>
          </p:cNvPicPr>
          <p:nvPr/>
        </p:nvPicPr>
        <p:blipFill rotWithShape="1">
          <a:blip r:embed="rId4">
            <a:extLst>
              <a:ext uri="{28A0092B-C50C-407E-A947-70E740481C1C}">
                <a14:useLocalDpi xmlns:a14="http://schemas.microsoft.com/office/drawing/2010/main" val="0"/>
              </a:ext>
            </a:extLst>
          </a:blip>
          <a:srcRect l="1" r="2838" b="23340"/>
          <a:stretch/>
        </p:blipFill>
        <p:spPr>
          <a:xfrm>
            <a:off x="3356674" y="1635695"/>
            <a:ext cx="1226577" cy="1290348"/>
          </a:xfrm>
          <a:prstGeom prst="ellipse">
            <a:avLst/>
          </a:prstGeom>
        </p:spPr>
      </p:pic>
      <p:sp>
        <p:nvSpPr>
          <p:cNvPr id="19" name="CuadroTexto 14">
            <a:extLst>
              <a:ext uri="{FF2B5EF4-FFF2-40B4-BE49-F238E27FC236}">
                <a16:creationId xmlns:a16="http://schemas.microsoft.com/office/drawing/2014/main" id="{D5651BFC-7CFE-5E93-00A5-1366D4270F95}"/>
              </a:ext>
            </a:extLst>
          </p:cNvPr>
          <p:cNvSpPr txBox="1"/>
          <p:nvPr/>
        </p:nvSpPr>
        <p:spPr>
          <a:xfrm>
            <a:off x="2886177" y="6132730"/>
            <a:ext cx="240608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FFFF"/>
                </a:solidFill>
                <a:effectLst/>
                <a:uLnTx/>
                <a:uFillTx/>
                <a:latin typeface="Poppins" pitchFamily="2" charset="77"/>
                <a:ea typeface="Open Sans" panose="020B0606030504020204" pitchFamily="34" charset="0"/>
                <a:cs typeface="Poppins" pitchFamily="2" charset="77"/>
              </a:rPr>
              <a:t>Juan Benavente</a:t>
            </a:r>
          </a:p>
        </p:txBody>
      </p:sp>
      <p:sp>
        <p:nvSpPr>
          <p:cNvPr id="20" name="CuadroTexto 14">
            <a:extLst>
              <a:ext uri="{FF2B5EF4-FFF2-40B4-BE49-F238E27FC236}">
                <a16:creationId xmlns:a16="http://schemas.microsoft.com/office/drawing/2014/main" id="{494C635C-0C0C-A6AD-3674-5C93DF3E966C}"/>
              </a:ext>
            </a:extLst>
          </p:cNvPr>
          <p:cNvSpPr txBox="1"/>
          <p:nvPr/>
        </p:nvSpPr>
        <p:spPr>
          <a:xfrm>
            <a:off x="9767557" y="6137579"/>
            <a:ext cx="274923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FFFF"/>
                </a:solidFill>
                <a:effectLst/>
                <a:uLnTx/>
                <a:uFillTx/>
                <a:latin typeface="Poppins" pitchFamily="2" charset="77"/>
                <a:ea typeface="Open Sans" panose="020B0606030504020204" pitchFamily="34" charset="0"/>
                <a:cs typeface="Poppins" pitchFamily="2" charset="77"/>
              </a:rPr>
              <a:t>Javier Burrieza</a:t>
            </a:r>
          </a:p>
        </p:txBody>
      </p:sp>
      <p:sp>
        <p:nvSpPr>
          <p:cNvPr id="21" name="Rectángulo 8">
            <a:extLst>
              <a:ext uri="{FF2B5EF4-FFF2-40B4-BE49-F238E27FC236}">
                <a16:creationId xmlns:a16="http://schemas.microsoft.com/office/drawing/2014/main" id="{49779BAB-FB98-96E4-F752-04F38C5BF6CE}"/>
              </a:ext>
            </a:extLst>
          </p:cNvPr>
          <p:cNvSpPr>
            <a:spLocks noChangeAspect="1"/>
          </p:cNvSpPr>
          <p:nvPr/>
        </p:nvSpPr>
        <p:spPr>
          <a:xfrm>
            <a:off x="10409812" y="4526277"/>
            <a:ext cx="1464725" cy="1440000"/>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2" name="Imagen 21">
            <a:extLst>
              <a:ext uri="{FF2B5EF4-FFF2-40B4-BE49-F238E27FC236}">
                <a16:creationId xmlns:a16="http://schemas.microsoft.com/office/drawing/2014/main" id="{87F52ACF-060F-62E9-4A0B-94DC2A5683D8}"/>
              </a:ext>
            </a:extLst>
          </p:cNvPr>
          <p:cNvPicPr>
            <a:picLocks noChangeAspect="1"/>
          </p:cNvPicPr>
          <p:nvPr/>
        </p:nvPicPr>
        <p:blipFill>
          <a:blip r:embed="rId6"/>
          <a:stretch>
            <a:fillRect/>
          </a:stretch>
        </p:blipFill>
        <p:spPr>
          <a:xfrm>
            <a:off x="1111091" y="4530212"/>
            <a:ext cx="1494545" cy="1440000"/>
          </a:xfrm>
          <a:prstGeom prst="ellipse">
            <a:avLst/>
          </a:prstGeom>
        </p:spPr>
      </p:pic>
      <p:pic>
        <p:nvPicPr>
          <p:cNvPr id="23" name="Imagen 22">
            <a:extLst>
              <a:ext uri="{FF2B5EF4-FFF2-40B4-BE49-F238E27FC236}">
                <a16:creationId xmlns:a16="http://schemas.microsoft.com/office/drawing/2014/main" id="{3BF7A10B-8DCC-E423-7BC8-39E9EF387052}"/>
              </a:ext>
            </a:extLst>
          </p:cNvPr>
          <p:cNvPicPr>
            <a:picLocks noChangeAspect="1"/>
          </p:cNvPicPr>
          <p:nvPr/>
        </p:nvPicPr>
        <p:blipFill>
          <a:blip r:embed="rId7"/>
          <a:stretch>
            <a:fillRect/>
          </a:stretch>
        </p:blipFill>
        <p:spPr>
          <a:xfrm>
            <a:off x="3342094" y="4601135"/>
            <a:ext cx="1273471" cy="1440000"/>
          </a:xfrm>
          <a:prstGeom prst="ellipse">
            <a:avLst/>
          </a:prstGeom>
        </p:spPr>
      </p:pic>
      <p:pic>
        <p:nvPicPr>
          <p:cNvPr id="24" name="Imagen 23">
            <a:extLst>
              <a:ext uri="{FF2B5EF4-FFF2-40B4-BE49-F238E27FC236}">
                <a16:creationId xmlns:a16="http://schemas.microsoft.com/office/drawing/2014/main" id="{E1A4FB0B-3A8F-C324-FA8C-5F114C455023}"/>
              </a:ext>
            </a:extLst>
          </p:cNvPr>
          <p:cNvPicPr>
            <a:picLocks noChangeAspect="1"/>
          </p:cNvPicPr>
          <p:nvPr/>
        </p:nvPicPr>
        <p:blipFill>
          <a:blip r:embed="rId8"/>
          <a:stretch>
            <a:fillRect/>
          </a:stretch>
        </p:blipFill>
        <p:spPr>
          <a:xfrm>
            <a:off x="8290984" y="4562368"/>
            <a:ext cx="1274595" cy="1440000"/>
          </a:xfrm>
          <a:prstGeom prst="ellipse">
            <a:avLst/>
          </a:prstGeom>
        </p:spPr>
      </p:pic>
      <p:pic>
        <p:nvPicPr>
          <p:cNvPr id="8" name="Imagen 7" descr="Cara de una persona&#10;&#10;Descripción generada automáticamente con confianza media">
            <a:extLst>
              <a:ext uri="{FF2B5EF4-FFF2-40B4-BE49-F238E27FC236}">
                <a16:creationId xmlns:a16="http://schemas.microsoft.com/office/drawing/2014/main" id="{E3D2E76B-A6E5-A410-9C27-8578A7018468}"/>
              </a:ext>
            </a:extLst>
          </p:cNvPr>
          <p:cNvPicPr>
            <a:picLocks noChangeAspect="1"/>
          </p:cNvPicPr>
          <p:nvPr/>
        </p:nvPicPr>
        <p:blipFill rotWithShape="1">
          <a:blip r:embed="rId9"/>
          <a:srcRect l="4625" r="4625"/>
          <a:stretch/>
        </p:blipFill>
        <p:spPr>
          <a:xfrm>
            <a:off x="1315288" y="1675152"/>
            <a:ext cx="1290348" cy="1290348"/>
          </a:xfrm>
          <a:prstGeom prst="ellipse">
            <a:avLst/>
          </a:prstGeom>
        </p:spPr>
      </p:pic>
    </p:spTree>
    <p:extLst>
      <p:ext uri="{BB962C8B-B14F-4D97-AF65-F5344CB8AC3E}">
        <p14:creationId xmlns:p14="http://schemas.microsoft.com/office/powerpoint/2010/main" val="3664000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2656E20-985F-B689-9CB6-429CF4A792F9}"/>
              </a:ext>
            </a:extLst>
          </p:cNvPr>
          <p:cNvPicPr>
            <a:picLocks noChangeAspect="1"/>
          </p:cNvPicPr>
          <p:nvPr/>
        </p:nvPicPr>
        <p:blipFill>
          <a:blip r:embed="rId2"/>
          <a:stretch>
            <a:fillRect/>
          </a:stretch>
        </p:blipFill>
        <p:spPr>
          <a:xfrm>
            <a:off x="0" y="-126887"/>
            <a:ext cx="12263542" cy="6984887"/>
          </a:xfrm>
          <a:prstGeom prst="rect">
            <a:avLst/>
          </a:prstGeom>
        </p:spPr>
      </p:pic>
      <p:sp>
        <p:nvSpPr>
          <p:cNvPr id="5" name="Rectángulo 4">
            <a:extLst>
              <a:ext uri="{FF2B5EF4-FFF2-40B4-BE49-F238E27FC236}">
                <a16:creationId xmlns:a16="http://schemas.microsoft.com/office/drawing/2014/main" id="{DB9B4DD0-BEFE-57F2-03D4-FB4D7D95AFF3}"/>
              </a:ext>
            </a:extLst>
          </p:cNvPr>
          <p:cNvSpPr/>
          <p:nvPr/>
        </p:nvSpPr>
        <p:spPr>
          <a:xfrm>
            <a:off x="-740229" y="-638629"/>
            <a:ext cx="14107886" cy="9158514"/>
          </a:xfrm>
          <a:prstGeom prst="rect">
            <a:avLst/>
          </a:prstGeom>
          <a:solidFill>
            <a:schemeClr val="accent1">
              <a:lumMod val="50000"/>
              <a:alpha val="66000"/>
            </a:schemeClr>
          </a:solidFill>
          <a:ln>
            <a:solidFill>
              <a:schemeClr val="accent1">
                <a:shade val="15000"/>
                <a:alpha val="6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3200">
              <a:solidFill>
                <a:schemeClr val="bg1"/>
              </a:solidFill>
            </a:endParaRPr>
          </a:p>
        </p:txBody>
      </p:sp>
      <p:sp>
        <p:nvSpPr>
          <p:cNvPr id="2" name="Título 1">
            <a:extLst>
              <a:ext uri="{FF2B5EF4-FFF2-40B4-BE49-F238E27FC236}">
                <a16:creationId xmlns:a16="http://schemas.microsoft.com/office/drawing/2014/main" id="{B9678FAF-0FE7-CA6B-7DE8-BBF444283D66}"/>
              </a:ext>
            </a:extLst>
          </p:cNvPr>
          <p:cNvSpPr>
            <a:spLocks noGrp="1"/>
          </p:cNvSpPr>
          <p:nvPr>
            <p:ph type="ctrTitle"/>
          </p:nvPr>
        </p:nvSpPr>
        <p:spPr/>
        <p:txBody>
          <a:bodyPr/>
          <a:lstStyle/>
          <a:p>
            <a:r>
              <a:rPr lang="es-ES" err="1">
                <a:solidFill>
                  <a:schemeClr val="bg1"/>
                </a:solidFill>
              </a:rPr>
              <a:t>Bike</a:t>
            </a:r>
            <a:r>
              <a:rPr lang="es-ES">
                <a:solidFill>
                  <a:schemeClr val="bg1"/>
                </a:solidFill>
              </a:rPr>
              <a:t> </a:t>
            </a:r>
            <a:r>
              <a:rPr lang="es-ES" err="1">
                <a:solidFill>
                  <a:schemeClr val="bg1"/>
                </a:solidFill>
              </a:rPr>
              <a:t>Sharing</a:t>
            </a:r>
            <a:r>
              <a:rPr lang="es-ES">
                <a:solidFill>
                  <a:schemeClr val="bg1"/>
                </a:solidFill>
              </a:rPr>
              <a:t> Project</a:t>
            </a:r>
          </a:p>
        </p:txBody>
      </p:sp>
      <p:sp>
        <p:nvSpPr>
          <p:cNvPr id="6" name="CuadroTexto 5">
            <a:extLst>
              <a:ext uri="{FF2B5EF4-FFF2-40B4-BE49-F238E27FC236}">
                <a16:creationId xmlns:a16="http://schemas.microsoft.com/office/drawing/2014/main" id="{431BF135-3BFA-3FBC-3670-E34212678328}"/>
              </a:ext>
            </a:extLst>
          </p:cNvPr>
          <p:cNvSpPr txBox="1"/>
          <p:nvPr/>
        </p:nvSpPr>
        <p:spPr>
          <a:xfrm>
            <a:off x="1654627" y="2438400"/>
            <a:ext cx="9681029" cy="2831544"/>
          </a:xfrm>
          <a:prstGeom prst="rect">
            <a:avLst/>
          </a:prstGeom>
          <a:noFill/>
        </p:spPr>
        <p:txBody>
          <a:bodyPr wrap="square" rtlCol="0">
            <a:spAutoFit/>
          </a:bodyPr>
          <a:lstStyle/>
          <a:p>
            <a:r>
              <a:rPr lang="en-AU" sz="3200" b="1">
                <a:solidFill>
                  <a:schemeClr val="bg1"/>
                </a:solidFill>
                <a:latin typeface="Poppins" panose="00000500000000000000" pitchFamily="2" charset="0"/>
                <a:ea typeface="Roboto Light" panose="02000000000000000000" pitchFamily="2" charset="0"/>
                <a:cs typeface="Poppins" panose="00000500000000000000" pitchFamily="2" charset="0"/>
              </a:rPr>
              <a:t>Develop an analytical module able to optimise the performance of the system operations through data-driven vehicle relocation or maintenance recommendations.</a:t>
            </a:r>
            <a:endParaRPr lang="es-ES" sz="3200" b="1">
              <a:solidFill>
                <a:schemeClr val="bg1"/>
              </a:solidFill>
              <a:latin typeface="Poppins" panose="00000500000000000000" pitchFamily="2" charset="0"/>
              <a:cs typeface="Poppins" panose="00000500000000000000" pitchFamily="2" charset="0"/>
            </a:endParaRPr>
          </a:p>
          <a:p>
            <a:endParaRPr lang="es-ES"/>
          </a:p>
        </p:txBody>
      </p:sp>
      <p:sp>
        <p:nvSpPr>
          <p:cNvPr id="9" name="Rectángulo 8">
            <a:extLst>
              <a:ext uri="{FF2B5EF4-FFF2-40B4-BE49-F238E27FC236}">
                <a16:creationId xmlns:a16="http://schemas.microsoft.com/office/drawing/2014/main" id="{C21AD289-23B8-351F-7C50-05BEB9904CC1}"/>
              </a:ext>
            </a:extLst>
          </p:cNvPr>
          <p:cNvSpPr/>
          <p:nvPr/>
        </p:nvSpPr>
        <p:spPr>
          <a:xfrm>
            <a:off x="7305284" y="5702460"/>
            <a:ext cx="4680155" cy="848427"/>
          </a:xfrm>
          <a:prstGeom prst="rect">
            <a:avLst/>
          </a:prstGeom>
          <a:solidFill>
            <a:schemeClr val="bg1">
              <a:alpha val="3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7" name="23 Rectángulo">
            <a:extLst>
              <a:ext uri="{FF2B5EF4-FFF2-40B4-BE49-F238E27FC236}">
                <a16:creationId xmlns:a16="http://schemas.microsoft.com/office/drawing/2014/main" id="{54BE59DE-EFBA-E57E-D786-35DC1385E12B}"/>
              </a:ext>
            </a:extLst>
          </p:cNvPr>
          <p:cNvSpPr/>
          <p:nvPr/>
        </p:nvSpPr>
        <p:spPr>
          <a:xfrm>
            <a:off x="7921092" y="5650887"/>
            <a:ext cx="4064347" cy="9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AU" sz="1600" b="1">
                <a:solidFill>
                  <a:srgbClr val="F17A7A"/>
                </a:solidFill>
                <a:latin typeface="Roboto" panose="02000000000000000000" pitchFamily="2" charset="0"/>
                <a:ea typeface="Roboto" panose="02000000000000000000" pitchFamily="2" charset="0"/>
                <a:cs typeface="Roboto" panose="02000000000000000000" pitchFamily="2" charset="0"/>
              </a:rPr>
              <a:t>WiseRide</a:t>
            </a:r>
          </a:p>
          <a:p>
            <a:pPr>
              <a:lnSpc>
                <a:spcPct val="120000"/>
              </a:lnSpc>
            </a:pPr>
            <a:r>
              <a:rPr lang="en-US" sz="1200">
                <a:solidFill>
                  <a:schemeClr val="bg1"/>
                </a:solidFill>
                <a:latin typeface="Roboto Light" panose="02000000000000000000" pitchFamily="2" charset="0"/>
                <a:ea typeface="Roboto Light" panose="02000000000000000000" pitchFamily="2" charset="0"/>
                <a:cs typeface="Roboto Light" panose="02000000000000000000" pitchFamily="2" charset="0"/>
              </a:rPr>
              <a:t>Planning and managing shared mobility services through AI-powered demand modelling</a:t>
            </a:r>
          </a:p>
        </p:txBody>
      </p:sp>
      <p:pic>
        <p:nvPicPr>
          <p:cNvPr id="8" name="Picture 8">
            <a:extLst>
              <a:ext uri="{FF2B5EF4-FFF2-40B4-BE49-F238E27FC236}">
                <a16:creationId xmlns:a16="http://schemas.microsoft.com/office/drawing/2014/main" id="{6A4F9049-94EC-DCFF-0F23-244B57289A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4254" y="5802998"/>
            <a:ext cx="448325" cy="44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998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ADEC3B-3144-725C-73C9-CB1C476F9F71}"/>
              </a:ext>
            </a:extLst>
          </p:cNvPr>
          <p:cNvSpPr>
            <a:spLocks noGrp="1"/>
          </p:cNvSpPr>
          <p:nvPr>
            <p:ph type="title"/>
          </p:nvPr>
        </p:nvSpPr>
        <p:spPr/>
        <p:txBody>
          <a:bodyPr/>
          <a:lstStyle/>
          <a:p>
            <a:r>
              <a:rPr lang="es-ES" dirty="0" err="1">
                <a:latin typeface="Poppins" pitchFamily="2" charset="77"/>
                <a:cs typeface="Poppins" pitchFamily="2" charset="77"/>
              </a:rPr>
              <a:t>Objectives</a:t>
            </a:r>
            <a:br>
              <a:rPr lang="es-ES" dirty="0">
                <a:latin typeface="Poppins" pitchFamily="2" charset="77"/>
                <a:cs typeface="Poppins" pitchFamily="2" charset="77"/>
              </a:rPr>
            </a:br>
            <a:br>
              <a:rPr lang="es-ES" dirty="0">
                <a:latin typeface="Poppins" pitchFamily="2" charset="77"/>
                <a:cs typeface="Poppins" pitchFamily="2" charset="77"/>
              </a:rPr>
            </a:br>
            <a:endParaRPr lang="es-ES" dirty="0"/>
          </a:p>
        </p:txBody>
      </p:sp>
    </p:spTree>
    <p:extLst>
      <p:ext uri="{BB962C8B-B14F-4D97-AF65-F5344CB8AC3E}">
        <p14:creationId xmlns:p14="http://schemas.microsoft.com/office/powerpoint/2010/main" val="3817438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2656E20-985F-B689-9CB6-429CF4A792F9}"/>
              </a:ext>
            </a:extLst>
          </p:cNvPr>
          <p:cNvPicPr>
            <a:picLocks noChangeAspect="1"/>
          </p:cNvPicPr>
          <p:nvPr/>
        </p:nvPicPr>
        <p:blipFill>
          <a:blip r:embed="rId2"/>
          <a:stretch>
            <a:fillRect/>
          </a:stretch>
        </p:blipFill>
        <p:spPr>
          <a:xfrm>
            <a:off x="0" y="-126887"/>
            <a:ext cx="12263542" cy="6984887"/>
          </a:xfrm>
          <a:prstGeom prst="rect">
            <a:avLst/>
          </a:prstGeom>
        </p:spPr>
      </p:pic>
      <p:sp>
        <p:nvSpPr>
          <p:cNvPr id="5" name="Rectángulo 4">
            <a:extLst>
              <a:ext uri="{FF2B5EF4-FFF2-40B4-BE49-F238E27FC236}">
                <a16:creationId xmlns:a16="http://schemas.microsoft.com/office/drawing/2014/main" id="{DB9B4DD0-BEFE-57F2-03D4-FB4D7D95AFF3}"/>
              </a:ext>
            </a:extLst>
          </p:cNvPr>
          <p:cNvSpPr/>
          <p:nvPr/>
        </p:nvSpPr>
        <p:spPr>
          <a:xfrm>
            <a:off x="-740229" y="-638629"/>
            <a:ext cx="14107886" cy="9158514"/>
          </a:xfrm>
          <a:prstGeom prst="rect">
            <a:avLst/>
          </a:prstGeom>
          <a:solidFill>
            <a:schemeClr val="accent1">
              <a:lumMod val="50000"/>
              <a:alpha val="66000"/>
            </a:schemeClr>
          </a:solidFill>
          <a:ln>
            <a:solidFill>
              <a:schemeClr val="accent1">
                <a:shade val="15000"/>
                <a:alpha val="6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3200">
              <a:solidFill>
                <a:schemeClr val="bg1"/>
              </a:solidFill>
            </a:endParaRPr>
          </a:p>
        </p:txBody>
      </p:sp>
      <p:sp>
        <p:nvSpPr>
          <p:cNvPr id="2" name="Título 1">
            <a:extLst>
              <a:ext uri="{FF2B5EF4-FFF2-40B4-BE49-F238E27FC236}">
                <a16:creationId xmlns:a16="http://schemas.microsoft.com/office/drawing/2014/main" id="{B9678FAF-0FE7-CA6B-7DE8-BBF444283D66}"/>
              </a:ext>
            </a:extLst>
          </p:cNvPr>
          <p:cNvSpPr>
            <a:spLocks noGrp="1"/>
          </p:cNvSpPr>
          <p:nvPr>
            <p:ph type="ctrTitle"/>
          </p:nvPr>
        </p:nvSpPr>
        <p:spPr/>
        <p:txBody>
          <a:bodyPr/>
          <a:lstStyle/>
          <a:p>
            <a:r>
              <a:rPr lang="es-ES" err="1">
                <a:solidFill>
                  <a:schemeClr val="bg1"/>
                </a:solidFill>
              </a:rPr>
              <a:t>Main</a:t>
            </a:r>
            <a:r>
              <a:rPr lang="es-ES">
                <a:solidFill>
                  <a:schemeClr val="bg1"/>
                </a:solidFill>
              </a:rPr>
              <a:t> </a:t>
            </a:r>
            <a:r>
              <a:rPr lang="es-ES" err="1">
                <a:solidFill>
                  <a:schemeClr val="bg1"/>
                </a:solidFill>
              </a:rPr>
              <a:t>Objectives</a:t>
            </a:r>
            <a:endParaRPr lang="es-ES">
              <a:solidFill>
                <a:schemeClr val="bg1"/>
              </a:solidFill>
            </a:endParaRPr>
          </a:p>
        </p:txBody>
      </p:sp>
      <p:sp>
        <p:nvSpPr>
          <p:cNvPr id="6" name="CuadroTexto 5">
            <a:extLst>
              <a:ext uri="{FF2B5EF4-FFF2-40B4-BE49-F238E27FC236}">
                <a16:creationId xmlns:a16="http://schemas.microsoft.com/office/drawing/2014/main" id="{431BF135-3BFA-3FBC-3670-E34212678328}"/>
              </a:ext>
            </a:extLst>
          </p:cNvPr>
          <p:cNvSpPr txBox="1"/>
          <p:nvPr/>
        </p:nvSpPr>
        <p:spPr>
          <a:xfrm>
            <a:off x="1654627" y="2438400"/>
            <a:ext cx="9681029" cy="2092881"/>
          </a:xfrm>
          <a:prstGeom prst="rect">
            <a:avLst/>
          </a:prstGeom>
          <a:noFill/>
        </p:spPr>
        <p:txBody>
          <a:bodyPr wrap="square" rtlCol="0">
            <a:spAutoFit/>
          </a:bodyPr>
          <a:lstStyle/>
          <a:p>
            <a:pPr marL="457200" indent="-457200">
              <a:buFont typeface="Wingdings" panose="05000000000000000000" pitchFamily="2" charset="2"/>
              <a:buChar char="ü"/>
            </a:pPr>
            <a:r>
              <a:rPr lang="es-ES" sz="2800" b="1" err="1">
                <a:solidFill>
                  <a:schemeClr val="bg1"/>
                </a:solidFill>
                <a:latin typeface="Poppins" panose="00000500000000000000" pitchFamily="2" charset="0"/>
                <a:ea typeface="Roboto Light" panose="02000000000000000000" pitchFamily="2" charset="0"/>
                <a:cs typeface="Poppins" panose="00000500000000000000" pitchFamily="2" charset="0"/>
              </a:rPr>
              <a:t>Bike</a:t>
            </a:r>
            <a:r>
              <a:rPr lang="es-ES" sz="28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800" b="1" err="1">
                <a:solidFill>
                  <a:schemeClr val="bg1"/>
                </a:solidFill>
                <a:latin typeface="Poppins" panose="00000500000000000000" pitchFamily="2" charset="0"/>
                <a:ea typeface="Roboto Light" panose="02000000000000000000" pitchFamily="2" charset="0"/>
                <a:cs typeface="Poppins" panose="00000500000000000000" pitchFamily="2" charset="0"/>
              </a:rPr>
              <a:t>Availability</a:t>
            </a:r>
            <a:endParaRPr lang="es-ES" sz="2800" b="1">
              <a:solidFill>
                <a:schemeClr val="bg1"/>
              </a:solidFill>
              <a:latin typeface="Poppins" panose="00000500000000000000" pitchFamily="2" charset="0"/>
              <a:ea typeface="Roboto Light" panose="02000000000000000000" pitchFamily="2" charset="0"/>
              <a:cs typeface="Poppins" panose="00000500000000000000" pitchFamily="2" charset="0"/>
            </a:endParaRPr>
          </a:p>
          <a:p>
            <a:pPr marL="457200" indent="-457200">
              <a:buFont typeface="Wingdings" panose="05000000000000000000" pitchFamily="2" charset="2"/>
              <a:buChar char="ü"/>
            </a:pPr>
            <a:r>
              <a:rPr lang="es-ES" sz="2800" b="1" err="1">
                <a:solidFill>
                  <a:schemeClr val="bg1"/>
                </a:solidFill>
                <a:latin typeface="Poppins" panose="00000500000000000000" pitchFamily="2" charset="0"/>
                <a:ea typeface="Roboto Light" panose="02000000000000000000" pitchFamily="2" charset="0"/>
                <a:cs typeface="Poppins" panose="00000500000000000000" pitchFamily="2" charset="0"/>
              </a:rPr>
              <a:t>Cost</a:t>
            </a:r>
            <a:r>
              <a:rPr lang="es-ES" sz="28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800" b="1" err="1">
                <a:solidFill>
                  <a:schemeClr val="bg1"/>
                </a:solidFill>
                <a:latin typeface="Poppins" panose="00000500000000000000" pitchFamily="2" charset="0"/>
                <a:ea typeface="Roboto Light" panose="02000000000000000000" pitchFamily="2" charset="0"/>
                <a:cs typeface="Poppins" panose="00000500000000000000" pitchFamily="2" charset="0"/>
              </a:rPr>
              <a:t>Reduction</a:t>
            </a:r>
            <a:endParaRPr lang="es-ES" sz="2800" b="1">
              <a:solidFill>
                <a:schemeClr val="bg1"/>
              </a:solidFill>
              <a:latin typeface="Poppins" panose="00000500000000000000" pitchFamily="2" charset="0"/>
              <a:ea typeface="Roboto Light" panose="02000000000000000000" pitchFamily="2" charset="0"/>
              <a:cs typeface="Poppins" panose="00000500000000000000" pitchFamily="2" charset="0"/>
            </a:endParaRPr>
          </a:p>
          <a:p>
            <a:pPr marL="457200" indent="-457200">
              <a:buFont typeface="Wingdings" panose="05000000000000000000" pitchFamily="2" charset="2"/>
              <a:buChar char="ü"/>
            </a:pPr>
            <a:r>
              <a:rPr lang="es-ES" sz="2800" b="1" err="1">
                <a:solidFill>
                  <a:schemeClr val="bg1"/>
                </a:solidFill>
                <a:latin typeface="Poppins" panose="00000500000000000000" pitchFamily="2" charset="0"/>
                <a:ea typeface="Roboto Light" panose="02000000000000000000" pitchFamily="2" charset="0"/>
                <a:cs typeface="Poppins" panose="00000500000000000000" pitchFamily="2" charset="0"/>
              </a:rPr>
              <a:t>User</a:t>
            </a:r>
            <a:r>
              <a:rPr lang="es-ES" sz="28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800" b="1" err="1">
                <a:solidFill>
                  <a:schemeClr val="bg1"/>
                </a:solidFill>
                <a:latin typeface="Poppins" panose="00000500000000000000" pitchFamily="2" charset="0"/>
                <a:ea typeface="Roboto Light" panose="02000000000000000000" pitchFamily="2" charset="0"/>
                <a:cs typeface="Poppins" panose="00000500000000000000" pitchFamily="2" charset="0"/>
              </a:rPr>
              <a:t>Satisfaction</a:t>
            </a:r>
            <a:endParaRPr lang="es-ES" sz="2800" b="1">
              <a:solidFill>
                <a:schemeClr val="bg1"/>
              </a:solidFill>
              <a:latin typeface="Poppins" panose="00000500000000000000" pitchFamily="2" charset="0"/>
              <a:ea typeface="Roboto Light" panose="02000000000000000000" pitchFamily="2" charset="0"/>
              <a:cs typeface="Poppins" panose="00000500000000000000" pitchFamily="2" charset="0"/>
            </a:endParaRPr>
          </a:p>
          <a:p>
            <a:pPr marL="457200" indent="-457200">
              <a:buFont typeface="Wingdings" panose="05000000000000000000" pitchFamily="2" charset="2"/>
              <a:buChar char="ü"/>
            </a:pPr>
            <a:r>
              <a:rPr lang="es-ES" sz="2800" b="1" err="1">
                <a:solidFill>
                  <a:schemeClr val="bg1"/>
                </a:solidFill>
                <a:latin typeface="Poppins" panose="00000500000000000000" pitchFamily="2" charset="0"/>
                <a:ea typeface="Roboto Light" panose="02000000000000000000" pitchFamily="2" charset="0"/>
                <a:cs typeface="Poppins" panose="00000500000000000000" pitchFamily="2" charset="0"/>
              </a:rPr>
              <a:t>Sustainable</a:t>
            </a:r>
            <a:r>
              <a:rPr lang="es-ES" sz="2800" b="1">
                <a:solidFill>
                  <a:schemeClr val="bg1"/>
                </a:solidFill>
                <a:latin typeface="Poppins" panose="00000500000000000000" pitchFamily="2" charset="0"/>
                <a:ea typeface="Roboto Light" panose="02000000000000000000" pitchFamily="2" charset="0"/>
                <a:cs typeface="Poppins" panose="00000500000000000000" pitchFamily="2" charset="0"/>
              </a:rPr>
              <a:t> Urban </a:t>
            </a:r>
            <a:r>
              <a:rPr lang="es-ES" sz="2800" b="1" err="1">
                <a:solidFill>
                  <a:schemeClr val="bg1"/>
                </a:solidFill>
                <a:latin typeface="Poppins" panose="00000500000000000000" pitchFamily="2" charset="0"/>
                <a:ea typeface="Roboto Light" panose="02000000000000000000" pitchFamily="2" charset="0"/>
                <a:cs typeface="Poppins" panose="00000500000000000000" pitchFamily="2" charset="0"/>
              </a:rPr>
              <a:t>Mobility</a:t>
            </a:r>
            <a:endParaRPr lang="es-ES" sz="2800" b="1">
              <a:solidFill>
                <a:schemeClr val="bg1"/>
              </a:solidFill>
              <a:latin typeface="Poppins" panose="00000500000000000000" pitchFamily="2" charset="0"/>
              <a:cs typeface="Poppins" panose="00000500000000000000" pitchFamily="2" charset="0"/>
            </a:endParaRPr>
          </a:p>
          <a:p>
            <a:endParaRPr lang="es-ES"/>
          </a:p>
        </p:txBody>
      </p:sp>
      <p:sp>
        <p:nvSpPr>
          <p:cNvPr id="3" name="Rectángulo: esquinas redondeadas 2">
            <a:extLst>
              <a:ext uri="{FF2B5EF4-FFF2-40B4-BE49-F238E27FC236}">
                <a16:creationId xmlns:a16="http://schemas.microsoft.com/office/drawing/2014/main" id="{91A46030-8AE7-4F7D-A1DD-BBBB8299AE08}"/>
              </a:ext>
            </a:extLst>
          </p:cNvPr>
          <p:cNvSpPr/>
          <p:nvPr/>
        </p:nvSpPr>
        <p:spPr>
          <a:xfrm>
            <a:off x="1285423" y="2161126"/>
            <a:ext cx="8364118" cy="2535747"/>
          </a:xfrm>
          <a:prstGeom prst="roundRect">
            <a:avLst/>
          </a:prstGeom>
          <a:solidFill>
            <a:schemeClr val="bg1">
              <a:alpha val="18000"/>
            </a:schemeClr>
          </a:solidFill>
          <a:ln>
            <a:solidFill>
              <a:schemeClr val="bg1">
                <a:lumMod val="9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77660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2656E20-985F-B689-9CB6-429CF4A792F9}"/>
              </a:ext>
            </a:extLst>
          </p:cNvPr>
          <p:cNvPicPr>
            <a:picLocks noChangeAspect="1"/>
          </p:cNvPicPr>
          <p:nvPr/>
        </p:nvPicPr>
        <p:blipFill>
          <a:blip r:embed="rId2"/>
          <a:stretch>
            <a:fillRect/>
          </a:stretch>
        </p:blipFill>
        <p:spPr>
          <a:xfrm>
            <a:off x="0" y="-126887"/>
            <a:ext cx="12263542" cy="6984887"/>
          </a:xfrm>
          <a:prstGeom prst="rect">
            <a:avLst/>
          </a:prstGeom>
        </p:spPr>
      </p:pic>
      <p:sp>
        <p:nvSpPr>
          <p:cNvPr id="5" name="Rectángulo 4">
            <a:extLst>
              <a:ext uri="{FF2B5EF4-FFF2-40B4-BE49-F238E27FC236}">
                <a16:creationId xmlns:a16="http://schemas.microsoft.com/office/drawing/2014/main" id="{DB9B4DD0-BEFE-57F2-03D4-FB4D7D95AFF3}"/>
              </a:ext>
            </a:extLst>
          </p:cNvPr>
          <p:cNvSpPr/>
          <p:nvPr/>
        </p:nvSpPr>
        <p:spPr>
          <a:xfrm>
            <a:off x="-740229" y="-638629"/>
            <a:ext cx="14107886" cy="9158514"/>
          </a:xfrm>
          <a:prstGeom prst="rect">
            <a:avLst/>
          </a:prstGeom>
          <a:solidFill>
            <a:schemeClr val="accent1">
              <a:lumMod val="50000"/>
              <a:alpha val="66000"/>
            </a:schemeClr>
          </a:solidFill>
          <a:ln>
            <a:solidFill>
              <a:schemeClr val="accent1">
                <a:shade val="15000"/>
                <a:alpha val="6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3200">
              <a:solidFill>
                <a:schemeClr val="bg1"/>
              </a:solidFill>
            </a:endParaRPr>
          </a:p>
        </p:txBody>
      </p:sp>
      <p:sp>
        <p:nvSpPr>
          <p:cNvPr id="2" name="Título 1">
            <a:extLst>
              <a:ext uri="{FF2B5EF4-FFF2-40B4-BE49-F238E27FC236}">
                <a16:creationId xmlns:a16="http://schemas.microsoft.com/office/drawing/2014/main" id="{B9678FAF-0FE7-CA6B-7DE8-BBF444283D66}"/>
              </a:ext>
            </a:extLst>
          </p:cNvPr>
          <p:cNvSpPr>
            <a:spLocks noGrp="1"/>
          </p:cNvSpPr>
          <p:nvPr>
            <p:ph type="ctrTitle"/>
          </p:nvPr>
        </p:nvSpPr>
        <p:spPr/>
        <p:txBody>
          <a:bodyPr/>
          <a:lstStyle/>
          <a:p>
            <a:r>
              <a:rPr lang="es-ES" err="1">
                <a:solidFill>
                  <a:schemeClr val="bg1"/>
                </a:solidFill>
              </a:rPr>
              <a:t>Technical</a:t>
            </a:r>
            <a:r>
              <a:rPr lang="es-ES">
                <a:solidFill>
                  <a:schemeClr val="bg1"/>
                </a:solidFill>
              </a:rPr>
              <a:t> </a:t>
            </a:r>
            <a:r>
              <a:rPr lang="es-ES" err="1">
                <a:solidFill>
                  <a:schemeClr val="bg1"/>
                </a:solidFill>
              </a:rPr>
              <a:t>Objectives</a:t>
            </a:r>
            <a:endParaRPr lang="es-ES">
              <a:solidFill>
                <a:schemeClr val="bg1"/>
              </a:solidFill>
            </a:endParaRPr>
          </a:p>
        </p:txBody>
      </p:sp>
      <p:sp>
        <p:nvSpPr>
          <p:cNvPr id="7" name="Rectángulo: esquinas redondeadas 6">
            <a:extLst>
              <a:ext uri="{FF2B5EF4-FFF2-40B4-BE49-F238E27FC236}">
                <a16:creationId xmlns:a16="http://schemas.microsoft.com/office/drawing/2014/main" id="{680715CE-E671-CCA5-9F26-CF766061FCB8}"/>
              </a:ext>
            </a:extLst>
          </p:cNvPr>
          <p:cNvSpPr/>
          <p:nvPr/>
        </p:nvSpPr>
        <p:spPr>
          <a:xfrm>
            <a:off x="1088572" y="1984394"/>
            <a:ext cx="9983245" cy="2535747"/>
          </a:xfrm>
          <a:prstGeom prst="roundRect">
            <a:avLst/>
          </a:prstGeom>
          <a:solidFill>
            <a:schemeClr val="bg1">
              <a:alpha val="18000"/>
            </a:schemeClr>
          </a:solidFill>
          <a:ln>
            <a:solidFill>
              <a:schemeClr val="bg1">
                <a:lumMod val="9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431BF135-3BFA-3FBC-3670-E34212678328}"/>
              </a:ext>
            </a:extLst>
          </p:cNvPr>
          <p:cNvSpPr txBox="1"/>
          <p:nvPr/>
        </p:nvSpPr>
        <p:spPr>
          <a:xfrm>
            <a:off x="1654627" y="2438400"/>
            <a:ext cx="9448801" cy="2215991"/>
          </a:xfrm>
          <a:prstGeom prst="rect">
            <a:avLst/>
          </a:prstGeom>
          <a:noFill/>
        </p:spPr>
        <p:txBody>
          <a:bodyPr wrap="square" rtlCol="0">
            <a:spAutoFit/>
          </a:bodyPr>
          <a:lstStyle/>
          <a:p>
            <a:pPr marL="457200" indent="-457200">
              <a:buFont typeface="Wingdings" panose="05000000000000000000" pitchFamily="2" charset="2"/>
              <a:buChar char="ü"/>
            </a:pP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To</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define a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prediction</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model</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as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accurate</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as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possible</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a:t>
            </a:r>
          </a:p>
          <a:p>
            <a:pPr marL="457200" indent="-457200">
              <a:buFont typeface="Wingdings" panose="05000000000000000000" pitchFamily="2" charset="2"/>
              <a:buChar char="ü"/>
            </a:pP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To</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achieve</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an</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optimization</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model</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based</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on</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the</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prediction</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model</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and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the</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KPIs</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in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order</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to</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minimize</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the</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non-</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rided</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2400" b="1" err="1">
                <a:solidFill>
                  <a:schemeClr val="bg1"/>
                </a:solidFill>
                <a:latin typeface="Poppins" panose="00000500000000000000" pitchFamily="2" charset="0"/>
                <a:ea typeface="Roboto Light" panose="02000000000000000000" pitchFamily="2" charset="0"/>
                <a:cs typeface="Poppins" panose="00000500000000000000" pitchFamily="2" charset="0"/>
              </a:rPr>
              <a:t>movements</a:t>
            </a:r>
            <a:r>
              <a:rPr lang="es-ES" sz="2400" b="1">
                <a:solidFill>
                  <a:schemeClr val="bg1"/>
                </a:solidFill>
                <a:latin typeface="Poppins" panose="00000500000000000000" pitchFamily="2" charset="0"/>
                <a:ea typeface="Roboto Light" panose="02000000000000000000" pitchFamily="2" charset="0"/>
                <a:cs typeface="Poppins" panose="00000500000000000000" pitchFamily="2" charset="0"/>
              </a:rPr>
              <a:t>.</a:t>
            </a:r>
          </a:p>
          <a:p>
            <a:pPr marL="457200" indent="-457200">
              <a:buFont typeface="Wingdings" panose="05000000000000000000" pitchFamily="2" charset="2"/>
              <a:buChar char="ü"/>
            </a:pPr>
            <a:endParaRPr lang="es-ES" sz="2400" b="1">
              <a:solidFill>
                <a:schemeClr val="bg1"/>
              </a:solidFill>
              <a:latin typeface="Poppins" panose="00000500000000000000" pitchFamily="2" charset="0"/>
              <a:cs typeface="Poppins" panose="00000500000000000000" pitchFamily="2" charset="0"/>
            </a:endParaRPr>
          </a:p>
          <a:p>
            <a:endParaRPr lang="es-ES"/>
          </a:p>
        </p:txBody>
      </p:sp>
    </p:spTree>
    <p:extLst>
      <p:ext uri="{BB962C8B-B14F-4D97-AF65-F5344CB8AC3E}">
        <p14:creationId xmlns:p14="http://schemas.microsoft.com/office/powerpoint/2010/main" val="2274211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2C92C9-3902-D617-194D-EB7B3CA674F2}"/>
              </a:ext>
            </a:extLst>
          </p:cNvPr>
          <p:cNvSpPr>
            <a:spLocks noGrp="1"/>
          </p:cNvSpPr>
          <p:nvPr>
            <p:ph type="title"/>
          </p:nvPr>
        </p:nvSpPr>
        <p:spPr/>
        <p:txBody>
          <a:bodyPr/>
          <a:lstStyle/>
          <a:p>
            <a:r>
              <a:rPr lang="es-ES" dirty="0" err="1">
                <a:latin typeface="Poppins" pitchFamily="2" charset="77"/>
                <a:cs typeface="Poppins" pitchFamily="2" charset="77"/>
              </a:rPr>
              <a:t>Methodology</a:t>
            </a:r>
            <a:br>
              <a:rPr lang="es-ES" dirty="0">
                <a:latin typeface="Poppins" pitchFamily="2" charset="77"/>
                <a:cs typeface="Poppins" pitchFamily="2" charset="77"/>
              </a:rPr>
            </a:br>
            <a:endParaRPr lang="es-ES" dirty="0"/>
          </a:p>
        </p:txBody>
      </p:sp>
    </p:spTree>
    <p:extLst>
      <p:ext uri="{BB962C8B-B14F-4D97-AF65-F5344CB8AC3E}">
        <p14:creationId xmlns:p14="http://schemas.microsoft.com/office/powerpoint/2010/main" val="490590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2656E20-985F-B689-9CB6-429CF4A792F9}"/>
              </a:ext>
            </a:extLst>
          </p:cNvPr>
          <p:cNvPicPr>
            <a:picLocks noChangeAspect="1"/>
          </p:cNvPicPr>
          <p:nvPr/>
        </p:nvPicPr>
        <p:blipFill>
          <a:blip r:embed="rId2"/>
          <a:stretch>
            <a:fillRect/>
          </a:stretch>
        </p:blipFill>
        <p:spPr>
          <a:xfrm>
            <a:off x="0" y="-126887"/>
            <a:ext cx="12263542" cy="6984887"/>
          </a:xfrm>
          <a:prstGeom prst="rect">
            <a:avLst/>
          </a:prstGeom>
        </p:spPr>
      </p:pic>
      <p:sp>
        <p:nvSpPr>
          <p:cNvPr id="5" name="Rectángulo 4">
            <a:extLst>
              <a:ext uri="{FF2B5EF4-FFF2-40B4-BE49-F238E27FC236}">
                <a16:creationId xmlns:a16="http://schemas.microsoft.com/office/drawing/2014/main" id="{DB9B4DD0-BEFE-57F2-03D4-FB4D7D95AFF3}"/>
              </a:ext>
            </a:extLst>
          </p:cNvPr>
          <p:cNvSpPr/>
          <p:nvPr/>
        </p:nvSpPr>
        <p:spPr>
          <a:xfrm>
            <a:off x="-456084" y="-682897"/>
            <a:ext cx="14107886" cy="9158514"/>
          </a:xfrm>
          <a:prstGeom prst="rect">
            <a:avLst/>
          </a:prstGeom>
          <a:solidFill>
            <a:schemeClr val="accent1">
              <a:lumMod val="50000"/>
              <a:alpha val="66000"/>
            </a:schemeClr>
          </a:solidFill>
          <a:ln>
            <a:solidFill>
              <a:schemeClr val="accent1">
                <a:shade val="15000"/>
                <a:alpha val="6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3200">
              <a:solidFill>
                <a:schemeClr val="bg1"/>
              </a:solidFill>
            </a:endParaRPr>
          </a:p>
        </p:txBody>
      </p:sp>
      <p:sp>
        <p:nvSpPr>
          <p:cNvPr id="2" name="Título 1">
            <a:extLst>
              <a:ext uri="{FF2B5EF4-FFF2-40B4-BE49-F238E27FC236}">
                <a16:creationId xmlns:a16="http://schemas.microsoft.com/office/drawing/2014/main" id="{B9678FAF-0FE7-CA6B-7DE8-BBF444283D66}"/>
              </a:ext>
            </a:extLst>
          </p:cNvPr>
          <p:cNvSpPr>
            <a:spLocks noGrp="1"/>
          </p:cNvSpPr>
          <p:nvPr>
            <p:ph type="ctrTitle"/>
          </p:nvPr>
        </p:nvSpPr>
        <p:spPr/>
        <p:txBody>
          <a:bodyPr/>
          <a:lstStyle/>
          <a:p>
            <a:r>
              <a:rPr lang="es-ES">
                <a:solidFill>
                  <a:schemeClr val="bg1"/>
                </a:solidFill>
              </a:rPr>
              <a:t>Project </a:t>
            </a:r>
            <a:r>
              <a:rPr lang="es-ES" err="1">
                <a:solidFill>
                  <a:schemeClr val="bg1"/>
                </a:solidFill>
              </a:rPr>
              <a:t>Phases</a:t>
            </a:r>
            <a:endParaRPr lang="es-ES">
              <a:solidFill>
                <a:schemeClr val="bg1"/>
              </a:solidFill>
            </a:endParaRPr>
          </a:p>
        </p:txBody>
      </p:sp>
      <p:sp>
        <p:nvSpPr>
          <p:cNvPr id="10" name="Rectángulo: esquinas redondeadas 9">
            <a:extLst>
              <a:ext uri="{FF2B5EF4-FFF2-40B4-BE49-F238E27FC236}">
                <a16:creationId xmlns:a16="http://schemas.microsoft.com/office/drawing/2014/main" id="{A3E03E3D-F604-C582-76ED-C70086847230}"/>
              </a:ext>
            </a:extLst>
          </p:cNvPr>
          <p:cNvSpPr/>
          <p:nvPr/>
        </p:nvSpPr>
        <p:spPr>
          <a:xfrm>
            <a:off x="1572775" y="2207330"/>
            <a:ext cx="2059912" cy="799954"/>
          </a:xfrm>
          <a:prstGeom prst="roundRect">
            <a:avLst/>
          </a:prstGeom>
          <a:solidFill>
            <a:schemeClr val="accent2">
              <a:lumMod val="75000"/>
              <a:alpha val="52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kern="100">
                <a:solidFill>
                  <a:schemeClr val="bg1"/>
                </a:solidFill>
                <a:effectLst/>
                <a:latin typeface="Roboto" panose="02000000000000000000" pitchFamily="2" charset="0"/>
                <a:ea typeface="Calibri" panose="020F0502020204030204" pitchFamily="34" charset="0"/>
                <a:cs typeface="Times New Roman" panose="02020603050405020304" pitchFamily="18" charset="0"/>
              </a:rPr>
              <a:t>Evaluation of Algorithms</a:t>
            </a:r>
            <a:endParaRPr lang="es-ES" b="1">
              <a:solidFill>
                <a:schemeClr val="bg1"/>
              </a:solidFill>
            </a:endParaRPr>
          </a:p>
        </p:txBody>
      </p:sp>
      <p:sp>
        <p:nvSpPr>
          <p:cNvPr id="19" name="Rectángulo: esquinas redondeadas 18">
            <a:extLst>
              <a:ext uri="{FF2B5EF4-FFF2-40B4-BE49-F238E27FC236}">
                <a16:creationId xmlns:a16="http://schemas.microsoft.com/office/drawing/2014/main" id="{C7C2CD9E-2FAE-8F11-295E-C2B1FE6D3EF0}"/>
              </a:ext>
            </a:extLst>
          </p:cNvPr>
          <p:cNvSpPr/>
          <p:nvPr/>
        </p:nvSpPr>
        <p:spPr>
          <a:xfrm>
            <a:off x="4662643" y="2207330"/>
            <a:ext cx="2059912" cy="799954"/>
          </a:xfrm>
          <a:prstGeom prst="roundRect">
            <a:avLst/>
          </a:prstGeom>
          <a:solidFill>
            <a:schemeClr val="accent2">
              <a:lumMod val="75000"/>
              <a:alpha val="52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kern="100">
                <a:solidFill>
                  <a:schemeClr val="bg1"/>
                </a:solidFill>
                <a:effectLst/>
                <a:latin typeface="Roboto" panose="02000000000000000000" pitchFamily="2" charset="0"/>
                <a:ea typeface="Calibri" panose="020F0502020204030204" pitchFamily="34" charset="0"/>
                <a:cs typeface="Times New Roman" panose="02020603050405020304" pitchFamily="18" charset="0"/>
              </a:rPr>
              <a:t>First Implementation of Algorithms</a:t>
            </a:r>
            <a:endParaRPr lang="es-ES" b="1">
              <a:solidFill>
                <a:schemeClr val="bg1"/>
              </a:solidFill>
            </a:endParaRPr>
          </a:p>
        </p:txBody>
      </p:sp>
      <p:sp>
        <p:nvSpPr>
          <p:cNvPr id="20" name="Rectángulo: esquinas redondeadas 19">
            <a:extLst>
              <a:ext uri="{FF2B5EF4-FFF2-40B4-BE49-F238E27FC236}">
                <a16:creationId xmlns:a16="http://schemas.microsoft.com/office/drawing/2014/main" id="{974241EE-484C-D549-4CC7-1E1895F79B11}"/>
              </a:ext>
            </a:extLst>
          </p:cNvPr>
          <p:cNvSpPr/>
          <p:nvPr/>
        </p:nvSpPr>
        <p:spPr>
          <a:xfrm>
            <a:off x="7523967" y="2207330"/>
            <a:ext cx="2059912" cy="799954"/>
          </a:xfrm>
          <a:prstGeom prst="roundRect">
            <a:avLst/>
          </a:prstGeom>
          <a:solidFill>
            <a:schemeClr val="accent2">
              <a:lumMod val="75000"/>
              <a:alpha val="52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kern="100">
                <a:solidFill>
                  <a:schemeClr val="bg1"/>
                </a:solidFill>
                <a:effectLst/>
                <a:latin typeface="Roboto" panose="02000000000000000000" pitchFamily="2" charset="0"/>
                <a:ea typeface="Calibri" panose="020F0502020204030204" pitchFamily="34" charset="0"/>
                <a:cs typeface="Times New Roman" panose="02020603050405020304" pitchFamily="18" charset="0"/>
              </a:rPr>
              <a:t>Tool Implementation for Visual Evaluation of Algorithms</a:t>
            </a:r>
            <a:endParaRPr lang="es-ES" b="1">
              <a:solidFill>
                <a:schemeClr val="bg1"/>
              </a:solidFill>
            </a:endParaRPr>
          </a:p>
        </p:txBody>
      </p:sp>
      <p:sp>
        <p:nvSpPr>
          <p:cNvPr id="21" name="Rectángulo: esquinas redondeadas 20">
            <a:extLst>
              <a:ext uri="{FF2B5EF4-FFF2-40B4-BE49-F238E27FC236}">
                <a16:creationId xmlns:a16="http://schemas.microsoft.com/office/drawing/2014/main" id="{7F126842-76E9-103B-1528-1B997DD8369B}"/>
              </a:ext>
            </a:extLst>
          </p:cNvPr>
          <p:cNvSpPr/>
          <p:nvPr/>
        </p:nvSpPr>
        <p:spPr>
          <a:xfrm>
            <a:off x="7523967" y="4332676"/>
            <a:ext cx="2059912" cy="799954"/>
          </a:xfrm>
          <a:prstGeom prst="roundRect">
            <a:avLst/>
          </a:prstGeom>
          <a:solidFill>
            <a:schemeClr val="accent2">
              <a:lumMod val="75000"/>
              <a:alpha val="52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kern="100">
                <a:solidFill>
                  <a:schemeClr val="bg1"/>
                </a:solidFill>
                <a:effectLst/>
                <a:latin typeface="Roboto" panose="02000000000000000000" pitchFamily="2" charset="0"/>
                <a:ea typeface="Calibri" panose="020F0502020204030204" pitchFamily="34" charset="0"/>
                <a:cs typeface="Times New Roman" panose="02020603050405020304" pitchFamily="18" charset="0"/>
              </a:rPr>
              <a:t>Correction/Adaptation of Algorithm Parameters</a:t>
            </a:r>
            <a:endParaRPr lang="es-ES" b="1">
              <a:solidFill>
                <a:schemeClr val="bg1"/>
              </a:solidFill>
            </a:endParaRPr>
          </a:p>
        </p:txBody>
      </p:sp>
      <p:sp>
        <p:nvSpPr>
          <p:cNvPr id="22" name="Rectángulo: esquinas redondeadas 21">
            <a:extLst>
              <a:ext uri="{FF2B5EF4-FFF2-40B4-BE49-F238E27FC236}">
                <a16:creationId xmlns:a16="http://schemas.microsoft.com/office/drawing/2014/main" id="{F288DE5A-60EB-8FB1-B5C5-A2D9EAD50F38}"/>
              </a:ext>
            </a:extLst>
          </p:cNvPr>
          <p:cNvSpPr/>
          <p:nvPr/>
        </p:nvSpPr>
        <p:spPr>
          <a:xfrm>
            <a:off x="4537947" y="4332677"/>
            <a:ext cx="2059912" cy="799954"/>
          </a:xfrm>
          <a:prstGeom prst="roundRect">
            <a:avLst/>
          </a:prstGeom>
          <a:solidFill>
            <a:schemeClr val="accent2">
              <a:lumMod val="75000"/>
              <a:alpha val="52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kern="100">
                <a:solidFill>
                  <a:schemeClr val="bg1"/>
                </a:solidFill>
                <a:effectLst/>
                <a:latin typeface="Roboto" panose="02000000000000000000" pitchFamily="2" charset="0"/>
                <a:ea typeface="Calibri" panose="020F0502020204030204" pitchFamily="34" charset="0"/>
                <a:cs typeface="Times New Roman" panose="02020603050405020304" pitchFamily="18" charset="0"/>
              </a:rPr>
              <a:t>Final Evaluation</a:t>
            </a:r>
            <a:endParaRPr lang="es-ES" b="1">
              <a:solidFill>
                <a:schemeClr val="bg1"/>
              </a:solidFill>
            </a:endParaRPr>
          </a:p>
        </p:txBody>
      </p:sp>
      <p:sp>
        <p:nvSpPr>
          <p:cNvPr id="23" name="Rectángulo: esquinas redondeadas 22">
            <a:extLst>
              <a:ext uri="{FF2B5EF4-FFF2-40B4-BE49-F238E27FC236}">
                <a16:creationId xmlns:a16="http://schemas.microsoft.com/office/drawing/2014/main" id="{280033F6-8071-8C68-77A4-41879396C5DE}"/>
              </a:ext>
            </a:extLst>
          </p:cNvPr>
          <p:cNvSpPr/>
          <p:nvPr/>
        </p:nvSpPr>
        <p:spPr>
          <a:xfrm>
            <a:off x="1572775" y="4332677"/>
            <a:ext cx="2059912" cy="799954"/>
          </a:xfrm>
          <a:prstGeom prst="roundRect">
            <a:avLst/>
          </a:prstGeom>
          <a:solidFill>
            <a:schemeClr val="accent2">
              <a:lumMod val="75000"/>
              <a:alpha val="52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kern="100">
                <a:solidFill>
                  <a:schemeClr val="bg1"/>
                </a:solidFill>
                <a:effectLst/>
                <a:latin typeface="Roboto" panose="02000000000000000000" pitchFamily="2" charset="0"/>
                <a:ea typeface="Calibri" panose="020F0502020204030204" pitchFamily="34" charset="0"/>
                <a:cs typeface="Times New Roman" panose="02020603050405020304" pitchFamily="18" charset="0"/>
              </a:rPr>
              <a:t>Addition of Functionality to the Visual Tool</a:t>
            </a:r>
            <a:endParaRPr lang="es-ES" b="1">
              <a:solidFill>
                <a:schemeClr val="bg1"/>
              </a:solidFill>
            </a:endParaRPr>
          </a:p>
        </p:txBody>
      </p:sp>
      <p:cxnSp>
        <p:nvCxnSpPr>
          <p:cNvPr id="25" name="Conector recto de flecha 24">
            <a:extLst>
              <a:ext uri="{FF2B5EF4-FFF2-40B4-BE49-F238E27FC236}">
                <a16:creationId xmlns:a16="http://schemas.microsoft.com/office/drawing/2014/main" id="{AF37C061-B254-8A81-C009-6982E7821AF7}"/>
              </a:ext>
            </a:extLst>
          </p:cNvPr>
          <p:cNvCxnSpPr>
            <a:cxnSpLocks/>
            <a:stCxn id="10" idx="3"/>
            <a:endCxn id="19" idx="1"/>
          </p:cNvCxnSpPr>
          <p:nvPr/>
        </p:nvCxnSpPr>
        <p:spPr>
          <a:xfrm>
            <a:off x="3632687" y="2607307"/>
            <a:ext cx="1029956" cy="0"/>
          </a:xfrm>
          <a:prstGeom prst="straightConnector1">
            <a:avLst/>
          </a:prstGeom>
          <a:ln w="19050">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858966BA-A506-FE63-7CD4-CB6071D35F8B}"/>
              </a:ext>
            </a:extLst>
          </p:cNvPr>
          <p:cNvCxnSpPr>
            <a:cxnSpLocks/>
            <a:stCxn id="19" idx="3"/>
            <a:endCxn id="20" idx="1"/>
          </p:cNvCxnSpPr>
          <p:nvPr/>
        </p:nvCxnSpPr>
        <p:spPr>
          <a:xfrm>
            <a:off x="6722555" y="2607307"/>
            <a:ext cx="801412" cy="0"/>
          </a:xfrm>
          <a:prstGeom prst="straightConnector1">
            <a:avLst/>
          </a:prstGeom>
          <a:ln w="19050">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18C82E6C-6457-8AD2-7BF6-0103A10218F6}"/>
              </a:ext>
            </a:extLst>
          </p:cNvPr>
          <p:cNvCxnSpPr>
            <a:cxnSpLocks/>
            <a:stCxn id="21" idx="1"/>
            <a:endCxn id="22" idx="3"/>
          </p:cNvCxnSpPr>
          <p:nvPr/>
        </p:nvCxnSpPr>
        <p:spPr>
          <a:xfrm flipH="1">
            <a:off x="6597859" y="4732653"/>
            <a:ext cx="926108" cy="1"/>
          </a:xfrm>
          <a:prstGeom prst="straightConnector1">
            <a:avLst/>
          </a:prstGeom>
          <a:ln w="19050">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a:extLst>
              <a:ext uri="{FF2B5EF4-FFF2-40B4-BE49-F238E27FC236}">
                <a16:creationId xmlns:a16="http://schemas.microsoft.com/office/drawing/2014/main" id="{83E58C34-5AAA-0865-904C-025CD07E6EAA}"/>
              </a:ext>
            </a:extLst>
          </p:cNvPr>
          <p:cNvCxnSpPr>
            <a:cxnSpLocks/>
            <a:stCxn id="22" idx="1"/>
            <a:endCxn id="23" idx="3"/>
          </p:cNvCxnSpPr>
          <p:nvPr/>
        </p:nvCxnSpPr>
        <p:spPr>
          <a:xfrm flipH="1">
            <a:off x="3632687" y="4732654"/>
            <a:ext cx="905260" cy="0"/>
          </a:xfrm>
          <a:prstGeom prst="straightConnector1">
            <a:avLst/>
          </a:prstGeom>
          <a:ln w="19050">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5CEEFE80-81E9-C488-3FFE-C6A9DD4C6E7F}"/>
              </a:ext>
            </a:extLst>
          </p:cNvPr>
          <p:cNvCxnSpPr>
            <a:cxnSpLocks/>
            <a:stCxn id="20" idx="2"/>
            <a:endCxn id="21" idx="0"/>
          </p:cNvCxnSpPr>
          <p:nvPr/>
        </p:nvCxnSpPr>
        <p:spPr>
          <a:xfrm>
            <a:off x="8553923" y="3007284"/>
            <a:ext cx="0" cy="1325392"/>
          </a:xfrm>
          <a:prstGeom prst="straightConnector1">
            <a:avLst/>
          </a:prstGeom>
          <a:ln w="19050">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51" name="Gráfico 50" descr="Insignia 6 con relleno sólido">
            <a:extLst>
              <a:ext uri="{FF2B5EF4-FFF2-40B4-BE49-F238E27FC236}">
                <a16:creationId xmlns:a16="http://schemas.microsoft.com/office/drawing/2014/main" id="{50AA570E-A047-8E03-FFDB-8D03487973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8372" y="4185246"/>
            <a:ext cx="360000" cy="360000"/>
          </a:xfrm>
          <a:prstGeom prst="rect">
            <a:avLst/>
          </a:prstGeom>
        </p:spPr>
      </p:pic>
      <p:pic>
        <p:nvPicPr>
          <p:cNvPr id="53" name="Gráfico 52" descr="Insignia 5 con relleno sólido">
            <a:extLst>
              <a:ext uri="{FF2B5EF4-FFF2-40B4-BE49-F238E27FC236}">
                <a16:creationId xmlns:a16="http://schemas.microsoft.com/office/drawing/2014/main" id="{2028E411-C6D3-25B4-1D89-717916A29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99807" y="4175978"/>
            <a:ext cx="360000" cy="360000"/>
          </a:xfrm>
          <a:prstGeom prst="rect">
            <a:avLst/>
          </a:prstGeom>
        </p:spPr>
      </p:pic>
      <p:pic>
        <p:nvPicPr>
          <p:cNvPr id="55" name="Gráfico 54" descr="Insignia 4 con relleno sólido">
            <a:extLst>
              <a:ext uri="{FF2B5EF4-FFF2-40B4-BE49-F238E27FC236}">
                <a16:creationId xmlns:a16="http://schemas.microsoft.com/office/drawing/2014/main" id="{569117C7-66BA-4D67-7292-605E96012BB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83680" y="4191218"/>
            <a:ext cx="360000" cy="360000"/>
          </a:xfrm>
          <a:prstGeom prst="rect">
            <a:avLst/>
          </a:prstGeom>
        </p:spPr>
      </p:pic>
      <p:pic>
        <p:nvPicPr>
          <p:cNvPr id="57" name="Gráfico 56" descr="Insignia 3 con relleno sólido">
            <a:extLst>
              <a:ext uri="{FF2B5EF4-FFF2-40B4-BE49-F238E27FC236}">
                <a16:creationId xmlns:a16="http://schemas.microsoft.com/office/drawing/2014/main" id="{5AD20659-740F-A193-395B-EF7E1BE1265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34942" y="2035480"/>
            <a:ext cx="360000" cy="360000"/>
          </a:xfrm>
          <a:prstGeom prst="rect">
            <a:avLst/>
          </a:prstGeom>
        </p:spPr>
      </p:pic>
      <p:pic>
        <p:nvPicPr>
          <p:cNvPr id="59" name="Gráfico 58" descr="Insignia con relleno sólido">
            <a:extLst>
              <a:ext uri="{FF2B5EF4-FFF2-40B4-BE49-F238E27FC236}">
                <a16:creationId xmlns:a16="http://schemas.microsoft.com/office/drawing/2014/main" id="{1625B4D4-4BE4-AAF8-0AA5-C777B5397FC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37947" y="2022223"/>
            <a:ext cx="360000" cy="360000"/>
          </a:xfrm>
          <a:prstGeom prst="rect">
            <a:avLst/>
          </a:prstGeom>
        </p:spPr>
      </p:pic>
      <p:pic>
        <p:nvPicPr>
          <p:cNvPr id="61" name="Gráfico 60" descr="Insignia 1 con relleno sólido">
            <a:extLst>
              <a:ext uri="{FF2B5EF4-FFF2-40B4-BE49-F238E27FC236}">
                <a16:creationId xmlns:a16="http://schemas.microsoft.com/office/drawing/2014/main" id="{166AB7F8-8B3D-7812-813D-CBA1E5F7632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92775" y="2022223"/>
            <a:ext cx="360000" cy="360000"/>
          </a:xfrm>
          <a:prstGeom prst="rect">
            <a:avLst/>
          </a:prstGeom>
        </p:spPr>
      </p:pic>
    </p:spTree>
    <p:extLst>
      <p:ext uri="{BB962C8B-B14F-4D97-AF65-F5344CB8AC3E}">
        <p14:creationId xmlns:p14="http://schemas.microsoft.com/office/powerpoint/2010/main" val="291217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177D14-E66A-C2FB-DF0A-630E53F22F4D}"/>
              </a:ext>
            </a:extLst>
          </p:cNvPr>
          <p:cNvSpPr>
            <a:spLocks noGrp="1"/>
          </p:cNvSpPr>
          <p:nvPr>
            <p:ph type="ctrTitle"/>
          </p:nvPr>
        </p:nvSpPr>
        <p:spPr/>
        <p:txBody>
          <a:bodyPr/>
          <a:lstStyle/>
          <a:p>
            <a:r>
              <a:rPr lang="es-ES" dirty="0" err="1"/>
              <a:t>Existing</a:t>
            </a:r>
            <a:r>
              <a:rPr lang="es-ES" dirty="0"/>
              <a:t> </a:t>
            </a:r>
            <a:r>
              <a:rPr lang="es-ES" dirty="0" err="1"/>
              <a:t>Tenders</a:t>
            </a:r>
            <a:r>
              <a:rPr lang="es-ES" dirty="0"/>
              <a:t> </a:t>
            </a:r>
            <a:r>
              <a:rPr lang="es-ES" dirty="0" err="1"/>
              <a:t>Research</a:t>
            </a:r>
            <a:endParaRPr lang="es-ES" dirty="0"/>
          </a:p>
        </p:txBody>
      </p:sp>
      <p:pic>
        <p:nvPicPr>
          <p:cNvPr id="5" name="Imagen 4">
            <a:extLst>
              <a:ext uri="{FF2B5EF4-FFF2-40B4-BE49-F238E27FC236}">
                <a16:creationId xmlns:a16="http://schemas.microsoft.com/office/drawing/2014/main" id="{0EBCD0A7-1CC9-D068-9385-8A7778140A7C}"/>
              </a:ext>
            </a:extLst>
          </p:cNvPr>
          <p:cNvPicPr>
            <a:picLocks noChangeAspect="1"/>
          </p:cNvPicPr>
          <p:nvPr/>
        </p:nvPicPr>
        <p:blipFill>
          <a:blip r:embed="rId2"/>
          <a:stretch>
            <a:fillRect/>
          </a:stretch>
        </p:blipFill>
        <p:spPr>
          <a:xfrm>
            <a:off x="348366" y="1559277"/>
            <a:ext cx="11491956" cy="3977985"/>
          </a:xfrm>
          <a:prstGeom prst="rect">
            <a:avLst/>
          </a:prstGeom>
          <a:ln>
            <a:solidFill>
              <a:schemeClr val="bg2">
                <a:lumMod val="50000"/>
              </a:schemeClr>
            </a:solidFill>
          </a:ln>
        </p:spPr>
      </p:pic>
    </p:spTree>
    <p:extLst>
      <p:ext uri="{BB962C8B-B14F-4D97-AF65-F5344CB8AC3E}">
        <p14:creationId xmlns:p14="http://schemas.microsoft.com/office/powerpoint/2010/main" val="4165867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A230B9F-2A7E-EFFF-1251-8849FA74D055}"/>
              </a:ext>
            </a:extLst>
          </p:cNvPr>
          <p:cNvPicPr>
            <a:picLocks noChangeAspect="1"/>
          </p:cNvPicPr>
          <p:nvPr/>
        </p:nvPicPr>
        <p:blipFill>
          <a:blip r:embed="rId2">
            <a:alphaModFix amt="74000"/>
            <a:extLst>
              <a:ext uri="{BEBA8EAE-BF5A-486C-A8C5-ECC9F3942E4B}">
                <a14:imgProps xmlns:a14="http://schemas.microsoft.com/office/drawing/2010/main">
                  <a14:imgLayer r:embed="rId3">
                    <a14:imgEffect>
                      <a14:colorTemperature colorTemp="5042"/>
                    </a14:imgEffect>
                  </a14:imgLayer>
                </a14:imgProps>
              </a:ext>
            </a:extLst>
          </a:blip>
          <a:stretch>
            <a:fillRect/>
          </a:stretch>
        </p:blipFill>
        <p:spPr>
          <a:xfrm>
            <a:off x="-1117100" y="281058"/>
            <a:ext cx="13939235" cy="7057840"/>
          </a:xfrm>
          <a:prstGeom prst="rect">
            <a:avLst/>
          </a:prstGeom>
        </p:spPr>
      </p:pic>
      <p:sp>
        <p:nvSpPr>
          <p:cNvPr id="19" name="Círculo: vacío 18">
            <a:extLst>
              <a:ext uri="{FF2B5EF4-FFF2-40B4-BE49-F238E27FC236}">
                <a16:creationId xmlns:a16="http://schemas.microsoft.com/office/drawing/2014/main" id="{6A546762-6681-1CE4-1B85-82937164ABD2}"/>
              </a:ext>
            </a:extLst>
          </p:cNvPr>
          <p:cNvSpPr>
            <a:spLocks noChangeAspect="1"/>
          </p:cNvSpPr>
          <p:nvPr/>
        </p:nvSpPr>
        <p:spPr>
          <a:xfrm>
            <a:off x="-6056352" y="-5306808"/>
            <a:ext cx="18125440" cy="18233571"/>
          </a:xfrm>
          <a:prstGeom prst="donut">
            <a:avLst/>
          </a:prstGeom>
          <a:solidFill>
            <a:schemeClr val="accent1">
              <a:lumMod val="75000"/>
              <a:alpha val="5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8" name="Círculo: vacío 17">
            <a:extLst>
              <a:ext uri="{FF2B5EF4-FFF2-40B4-BE49-F238E27FC236}">
                <a16:creationId xmlns:a16="http://schemas.microsoft.com/office/drawing/2014/main" id="{D8E953B5-27EC-DAC5-C9AD-9EB0C95AB512}"/>
              </a:ext>
            </a:extLst>
          </p:cNvPr>
          <p:cNvSpPr/>
          <p:nvPr/>
        </p:nvSpPr>
        <p:spPr>
          <a:xfrm>
            <a:off x="-1524992" y="-758909"/>
            <a:ext cx="9062720" cy="9169400"/>
          </a:xfrm>
          <a:prstGeom prst="donut">
            <a:avLst/>
          </a:prstGeom>
          <a:solidFill>
            <a:schemeClr val="accent1">
              <a:alpha val="28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0" name="Rectángulo: esquinas redondeadas 19">
            <a:extLst>
              <a:ext uri="{FF2B5EF4-FFF2-40B4-BE49-F238E27FC236}">
                <a16:creationId xmlns:a16="http://schemas.microsoft.com/office/drawing/2014/main" id="{4A7D1D5F-ADF0-A305-8CAD-1BF4E42FF8AE}"/>
              </a:ext>
            </a:extLst>
          </p:cNvPr>
          <p:cNvSpPr/>
          <p:nvPr/>
        </p:nvSpPr>
        <p:spPr>
          <a:xfrm>
            <a:off x="2862943" y="3629848"/>
            <a:ext cx="413657" cy="391886"/>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A</a:t>
            </a:r>
          </a:p>
        </p:txBody>
      </p:sp>
      <p:sp>
        <p:nvSpPr>
          <p:cNvPr id="21" name="Rectángulo: esquinas redondeadas 20">
            <a:extLst>
              <a:ext uri="{FF2B5EF4-FFF2-40B4-BE49-F238E27FC236}">
                <a16:creationId xmlns:a16="http://schemas.microsoft.com/office/drawing/2014/main" id="{B55A824F-2D74-0FDE-01F8-69565F6FACCA}"/>
              </a:ext>
            </a:extLst>
          </p:cNvPr>
          <p:cNvSpPr/>
          <p:nvPr/>
        </p:nvSpPr>
        <p:spPr>
          <a:xfrm>
            <a:off x="9661434" y="1632857"/>
            <a:ext cx="413657" cy="391886"/>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B</a:t>
            </a:r>
          </a:p>
        </p:txBody>
      </p:sp>
      <p:pic>
        <p:nvPicPr>
          <p:cNvPr id="30" name="Gráfico 29" descr="Ciclismo con relleno sólido">
            <a:extLst>
              <a:ext uri="{FF2B5EF4-FFF2-40B4-BE49-F238E27FC236}">
                <a16:creationId xmlns:a16="http://schemas.microsoft.com/office/drawing/2014/main" id="{BD3179FC-698B-B2AE-4970-6BE95ED497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84520" y="2829873"/>
            <a:ext cx="653556" cy="653556"/>
          </a:xfrm>
          <a:prstGeom prst="rect">
            <a:avLst/>
          </a:prstGeom>
        </p:spPr>
      </p:pic>
      <p:pic>
        <p:nvPicPr>
          <p:cNvPr id="32" name="Gráfico 31" descr="Descargar con relleno sólido">
            <a:extLst>
              <a:ext uri="{FF2B5EF4-FFF2-40B4-BE49-F238E27FC236}">
                <a16:creationId xmlns:a16="http://schemas.microsoft.com/office/drawing/2014/main" id="{319F3721-D1D6-8562-742D-EE982C33DA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41484" y="979301"/>
            <a:ext cx="653556" cy="653556"/>
          </a:xfrm>
          <a:prstGeom prst="rect">
            <a:avLst/>
          </a:prstGeom>
        </p:spPr>
      </p:pic>
      <p:sp>
        <p:nvSpPr>
          <p:cNvPr id="33" name="Rectángulo redondeado 17">
            <a:extLst>
              <a:ext uri="{FF2B5EF4-FFF2-40B4-BE49-F238E27FC236}">
                <a16:creationId xmlns:a16="http://schemas.microsoft.com/office/drawing/2014/main" id="{E0C4C924-E44B-C668-3D61-804D0D0FB4DA}"/>
              </a:ext>
            </a:extLst>
          </p:cNvPr>
          <p:cNvSpPr/>
          <p:nvPr/>
        </p:nvSpPr>
        <p:spPr>
          <a:xfrm>
            <a:off x="2852057" y="1809576"/>
            <a:ext cx="1070280" cy="386576"/>
          </a:xfrm>
          <a:prstGeom prst="roundRect">
            <a:avLst>
              <a:gd name="adj" fmla="val 5000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latin typeface="Poppins SemiBold" pitchFamily="2" charset="77"/>
                <a:cs typeface="Poppins SemiBold" pitchFamily="2" charset="77"/>
              </a:rPr>
              <a:t>RING I</a:t>
            </a:r>
          </a:p>
        </p:txBody>
      </p:sp>
      <p:sp>
        <p:nvSpPr>
          <p:cNvPr id="34" name="Rectángulo redondeado 17">
            <a:extLst>
              <a:ext uri="{FF2B5EF4-FFF2-40B4-BE49-F238E27FC236}">
                <a16:creationId xmlns:a16="http://schemas.microsoft.com/office/drawing/2014/main" id="{0BABD8E2-7672-A1B2-5A7E-12858B5B128B}"/>
              </a:ext>
            </a:extLst>
          </p:cNvPr>
          <p:cNvSpPr/>
          <p:nvPr/>
        </p:nvSpPr>
        <p:spPr>
          <a:xfrm>
            <a:off x="5560860" y="1069646"/>
            <a:ext cx="1070280" cy="386576"/>
          </a:xfrm>
          <a:prstGeom prst="roundRect">
            <a:avLst>
              <a:gd name="adj" fmla="val 5000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latin typeface="Poppins SemiBold" pitchFamily="2" charset="77"/>
                <a:cs typeface="Poppins SemiBold" pitchFamily="2" charset="77"/>
              </a:rPr>
              <a:t>RING II</a:t>
            </a:r>
          </a:p>
        </p:txBody>
      </p:sp>
      <p:sp>
        <p:nvSpPr>
          <p:cNvPr id="35" name="Rectángulo redondeado 17">
            <a:extLst>
              <a:ext uri="{FF2B5EF4-FFF2-40B4-BE49-F238E27FC236}">
                <a16:creationId xmlns:a16="http://schemas.microsoft.com/office/drawing/2014/main" id="{B9DB7277-FEFF-119A-A153-ABC947FF6937}"/>
              </a:ext>
            </a:extLst>
          </p:cNvPr>
          <p:cNvSpPr/>
          <p:nvPr/>
        </p:nvSpPr>
        <p:spPr>
          <a:xfrm>
            <a:off x="8991307" y="134639"/>
            <a:ext cx="1340253" cy="386576"/>
          </a:xfrm>
          <a:prstGeom prst="roundRect">
            <a:avLst>
              <a:gd name="adj" fmla="val 5000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latin typeface="Poppins SemiBold" pitchFamily="2" charset="77"/>
                <a:cs typeface="Poppins SemiBold" pitchFamily="2" charset="77"/>
              </a:rPr>
              <a:t>RING III</a:t>
            </a:r>
          </a:p>
        </p:txBody>
      </p:sp>
      <p:pic>
        <p:nvPicPr>
          <p:cNvPr id="44" name="Gráfico 43" descr="Batería completa con relleno sólido">
            <a:extLst>
              <a:ext uri="{FF2B5EF4-FFF2-40B4-BE49-F238E27FC236}">
                <a16:creationId xmlns:a16="http://schemas.microsoft.com/office/drawing/2014/main" id="{14270357-FDBA-FA4A-43FA-AC76776D033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01685" y="3950840"/>
            <a:ext cx="914400" cy="914400"/>
          </a:xfrm>
          <a:prstGeom prst="rect">
            <a:avLst/>
          </a:prstGeom>
        </p:spPr>
      </p:pic>
      <p:pic>
        <p:nvPicPr>
          <p:cNvPr id="46" name="Gráfico 45" descr="Batería descargada con relleno sólido">
            <a:extLst>
              <a:ext uri="{FF2B5EF4-FFF2-40B4-BE49-F238E27FC236}">
                <a16:creationId xmlns:a16="http://schemas.microsoft.com/office/drawing/2014/main" id="{C3AA5362-04B2-8ABD-0D6D-B793837CE36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95361" y="5048815"/>
            <a:ext cx="914400" cy="914400"/>
          </a:xfrm>
          <a:prstGeom prst="rect">
            <a:avLst/>
          </a:prstGeom>
        </p:spPr>
      </p:pic>
      <p:pic>
        <p:nvPicPr>
          <p:cNvPr id="47" name="Gráfico 46" descr="Batería completa con relleno sólido">
            <a:extLst>
              <a:ext uri="{FF2B5EF4-FFF2-40B4-BE49-F238E27FC236}">
                <a16:creationId xmlns:a16="http://schemas.microsoft.com/office/drawing/2014/main" id="{3EF718EF-90B2-58E8-727A-1C3762040FE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867471" y="3014038"/>
            <a:ext cx="914400" cy="914400"/>
          </a:xfrm>
          <a:prstGeom prst="rect">
            <a:avLst/>
          </a:prstGeom>
        </p:spPr>
      </p:pic>
      <p:pic>
        <p:nvPicPr>
          <p:cNvPr id="48" name="Gráfico 47" descr="Batería descargada con relleno sólido">
            <a:extLst>
              <a:ext uri="{FF2B5EF4-FFF2-40B4-BE49-F238E27FC236}">
                <a16:creationId xmlns:a16="http://schemas.microsoft.com/office/drawing/2014/main" id="{7655F695-58C1-627A-B207-DFF823CF4C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459893" y="2008101"/>
            <a:ext cx="914400" cy="914400"/>
          </a:xfrm>
          <a:prstGeom prst="rect">
            <a:avLst/>
          </a:prstGeom>
        </p:spPr>
      </p:pic>
      <p:sp>
        <p:nvSpPr>
          <p:cNvPr id="49" name="Rectángulo: esquinas redondeadas 48">
            <a:extLst>
              <a:ext uri="{FF2B5EF4-FFF2-40B4-BE49-F238E27FC236}">
                <a16:creationId xmlns:a16="http://schemas.microsoft.com/office/drawing/2014/main" id="{A5014544-FF6D-FE19-9A3C-E33856FE7B07}"/>
              </a:ext>
            </a:extLst>
          </p:cNvPr>
          <p:cNvSpPr/>
          <p:nvPr/>
        </p:nvSpPr>
        <p:spPr>
          <a:xfrm>
            <a:off x="3597240" y="4706453"/>
            <a:ext cx="413657" cy="39188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X</a:t>
            </a:r>
          </a:p>
        </p:txBody>
      </p:sp>
      <p:sp>
        <p:nvSpPr>
          <p:cNvPr id="50" name="Rectángulo: esquinas redondeadas 49">
            <a:extLst>
              <a:ext uri="{FF2B5EF4-FFF2-40B4-BE49-F238E27FC236}">
                <a16:creationId xmlns:a16="http://schemas.microsoft.com/office/drawing/2014/main" id="{C71EDF6F-99A8-E277-AD3E-AB419859A550}"/>
              </a:ext>
            </a:extLst>
          </p:cNvPr>
          <p:cNvSpPr/>
          <p:nvPr/>
        </p:nvSpPr>
        <p:spPr>
          <a:xfrm>
            <a:off x="11092450" y="2567780"/>
            <a:ext cx="413657" cy="39188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Y</a:t>
            </a:r>
          </a:p>
        </p:txBody>
      </p:sp>
      <p:sp>
        <p:nvSpPr>
          <p:cNvPr id="51" name="Rectángulo: esquinas redondeadas 50">
            <a:extLst>
              <a:ext uri="{FF2B5EF4-FFF2-40B4-BE49-F238E27FC236}">
                <a16:creationId xmlns:a16="http://schemas.microsoft.com/office/drawing/2014/main" id="{1F0D392F-167D-D6DB-6FD6-C75DD8113DBE}"/>
              </a:ext>
            </a:extLst>
          </p:cNvPr>
          <p:cNvSpPr/>
          <p:nvPr/>
        </p:nvSpPr>
        <p:spPr>
          <a:xfrm>
            <a:off x="8472024" y="5307819"/>
            <a:ext cx="2378819" cy="1415542"/>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b="1" dirty="0"/>
              <a:t>BIKES ANCHORED</a:t>
            </a:r>
          </a:p>
        </p:txBody>
      </p:sp>
      <p:pic>
        <p:nvPicPr>
          <p:cNvPr id="52" name="Gráfico 51" descr="Batería descargada con relleno sólido">
            <a:extLst>
              <a:ext uri="{FF2B5EF4-FFF2-40B4-BE49-F238E27FC236}">
                <a16:creationId xmlns:a16="http://schemas.microsoft.com/office/drawing/2014/main" id="{37187D57-BA55-4546-895D-5E71FE8F639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586042" y="5805456"/>
            <a:ext cx="405265" cy="405265"/>
          </a:xfrm>
          <a:prstGeom prst="rect">
            <a:avLst/>
          </a:prstGeom>
        </p:spPr>
      </p:pic>
      <p:sp>
        <p:nvSpPr>
          <p:cNvPr id="53" name="Rectángulo redondeado 17">
            <a:extLst>
              <a:ext uri="{FF2B5EF4-FFF2-40B4-BE49-F238E27FC236}">
                <a16:creationId xmlns:a16="http://schemas.microsoft.com/office/drawing/2014/main" id="{3BD08E1D-F8C0-AA03-C248-517DEC24A2A1}"/>
              </a:ext>
            </a:extLst>
          </p:cNvPr>
          <p:cNvSpPr/>
          <p:nvPr/>
        </p:nvSpPr>
        <p:spPr>
          <a:xfrm>
            <a:off x="1260828" y="3538189"/>
            <a:ext cx="1129435" cy="605186"/>
          </a:xfrm>
          <a:prstGeom prst="roundRect">
            <a:avLst>
              <a:gd name="adj" fmla="val 5000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latin typeface="Poppins SemiBold" pitchFamily="2" charset="77"/>
                <a:cs typeface="Poppins SemiBold" pitchFamily="2" charset="77"/>
              </a:rPr>
              <a:t>LOS</a:t>
            </a:r>
          </a:p>
          <a:p>
            <a:pPr algn="ctr"/>
            <a:r>
              <a:rPr lang="es-ES" sz="1200" b="1" dirty="0">
                <a:solidFill>
                  <a:schemeClr val="tx1"/>
                </a:solidFill>
                <a:latin typeface="Poppins SemiBold" pitchFamily="2" charset="77"/>
                <a:cs typeface="Poppins SemiBold" pitchFamily="2" charset="77"/>
              </a:rPr>
              <a:t>ORIGIN</a:t>
            </a:r>
          </a:p>
        </p:txBody>
      </p:sp>
      <p:sp>
        <p:nvSpPr>
          <p:cNvPr id="54" name="Rectángulo redondeado 17">
            <a:extLst>
              <a:ext uri="{FF2B5EF4-FFF2-40B4-BE49-F238E27FC236}">
                <a16:creationId xmlns:a16="http://schemas.microsoft.com/office/drawing/2014/main" id="{A5E336B6-0A16-5187-AADE-2EFB08CA96B4}"/>
              </a:ext>
            </a:extLst>
          </p:cNvPr>
          <p:cNvSpPr/>
          <p:nvPr/>
        </p:nvSpPr>
        <p:spPr>
          <a:xfrm>
            <a:off x="7765796" y="573571"/>
            <a:ext cx="1466028" cy="605186"/>
          </a:xfrm>
          <a:prstGeom prst="roundRect">
            <a:avLst>
              <a:gd name="adj" fmla="val 5000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dirty="0">
                <a:solidFill>
                  <a:schemeClr val="tx1"/>
                </a:solidFill>
                <a:latin typeface="Poppins SemiBold" pitchFamily="2" charset="77"/>
                <a:cs typeface="Poppins SemiBold" pitchFamily="2" charset="77"/>
              </a:rPr>
              <a:t>LOS</a:t>
            </a:r>
          </a:p>
          <a:p>
            <a:pPr algn="ctr"/>
            <a:r>
              <a:rPr lang="es-ES" sz="1200" b="1" dirty="0">
                <a:solidFill>
                  <a:schemeClr val="tx1"/>
                </a:solidFill>
                <a:latin typeface="Poppins SemiBold" pitchFamily="2" charset="77"/>
                <a:cs typeface="Poppins SemiBold" pitchFamily="2" charset="77"/>
              </a:rPr>
              <a:t>DESTINATION</a:t>
            </a:r>
          </a:p>
        </p:txBody>
      </p:sp>
      <p:pic>
        <p:nvPicPr>
          <p:cNvPr id="63" name="Gráfico 62" descr="Relámpagos con relleno sólido">
            <a:extLst>
              <a:ext uri="{FF2B5EF4-FFF2-40B4-BE49-F238E27FC236}">
                <a16:creationId xmlns:a16="http://schemas.microsoft.com/office/drawing/2014/main" id="{1C57FFAA-9B15-6417-C09E-3662486EFA8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205326" y="5307819"/>
            <a:ext cx="609130" cy="609130"/>
          </a:xfrm>
          <a:prstGeom prst="rect">
            <a:avLst/>
          </a:prstGeom>
        </p:spPr>
      </p:pic>
      <p:pic>
        <p:nvPicPr>
          <p:cNvPr id="65" name="Gráfico 64" descr="Globos con relleno sólido">
            <a:extLst>
              <a:ext uri="{FF2B5EF4-FFF2-40B4-BE49-F238E27FC236}">
                <a16:creationId xmlns:a16="http://schemas.microsoft.com/office/drawing/2014/main" id="{F2E93411-D855-7C3E-CADC-486F74D275D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238996" y="6161924"/>
            <a:ext cx="519283" cy="519283"/>
          </a:xfrm>
          <a:prstGeom prst="rect">
            <a:avLst/>
          </a:prstGeom>
        </p:spPr>
      </p:pic>
      <p:sp>
        <p:nvSpPr>
          <p:cNvPr id="2" name="Título 1">
            <a:extLst>
              <a:ext uri="{FF2B5EF4-FFF2-40B4-BE49-F238E27FC236}">
                <a16:creationId xmlns:a16="http://schemas.microsoft.com/office/drawing/2014/main" id="{05A3DD91-83AC-D076-7A9F-7FEBED75D7C2}"/>
              </a:ext>
            </a:extLst>
          </p:cNvPr>
          <p:cNvSpPr>
            <a:spLocks noGrp="1"/>
          </p:cNvSpPr>
          <p:nvPr>
            <p:ph type="ctrTitle"/>
          </p:nvPr>
        </p:nvSpPr>
        <p:spPr>
          <a:xfrm>
            <a:off x="541682" y="521215"/>
            <a:ext cx="11108636" cy="865463"/>
          </a:xfrm>
        </p:spPr>
        <p:txBody>
          <a:bodyPr/>
          <a:lstStyle/>
          <a:p>
            <a:r>
              <a:rPr lang="es-ES" dirty="0" err="1"/>
              <a:t>KPIs</a:t>
            </a:r>
            <a:r>
              <a:rPr lang="es-ES" dirty="0"/>
              <a:t> </a:t>
            </a:r>
            <a:r>
              <a:rPr lang="es-ES" dirty="0" err="1"/>
              <a:t>Selection</a:t>
            </a:r>
            <a:endParaRPr lang="es-ES" dirty="0"/>
          </a:p>
        </p:txBody>
      </p:sp>
      <p:sp>
        <p:nvSpPr>
          <p:cNvPr id="7" name="Forma libre: forma 6">
            <a:extLst>
              <a:ext uri="{FF2B5EF4-FFF2-40B4-BE49-F238E27FC236}">
                <a16:creationId xmlns:a16="http://schemas.microsoft.com/office/drawing/2014/main" id="{AB067130-882D-DC17-AE2E-448495F44D19}"/>
              </a:ext>
            </a:extLst>
          </p:cNvPr>
          <p:cNvSpPr/>
          <p:nvPr/>
        </p:nvSpPr>
        <p:spPr>
          <a:xfrm>
            <a:off x="3276600" y="2019300"/>
            <a:ext cx="6600825" cy="2124075"/>
          </a:xfrm>
          <a:custGeom>
            <a:avLst/>
            <a:gdLst>
              <a:gd name="connsiteX0" fmla="*/ 0 w 6600825"/>
              <a:gd name="connsiteY0" fmla="*/ 1781175 h 2124075"/>
              <a:gd name="connsiteX1" fmla="*/ 1276350 w 6600825"/>
              <a:gd name="connsiteY1" fmla="*/ 752475 h 2124075"/>
              <a:gd name="connsiteX2" fmla="*/ 2562225 w 6600825"/>
              <a:gd name="connsiteY2" fmla="*/ 2124075 h 2124075"/>
              <a:gd name="connsiteX3" fmla="*/ 3448050 w 6600825"/>
              <a:gd name="connsiteY3" fmla="*/ 1285875 h 2124075"/>
              <a:gd name="connsiteX4" fmla="*/ 3914775 w 6600825"/>
              <a:gd name="connsiteY4" fmla="*/ 1762125 h 2124075"/>
              <a:gd name="connsiteX5" fmla="*/ 5572125 w 6600825"/>
              <a:gd name="connsiteY5" fmla="*/ 76200 h 2124075"/>
              <a:gd name="connsiteX6" fmla="*/ 5800725 w 6600825"/>
              <a:gd name="connsiteY6" fmla="*/ 333375 h 2124075"/>
              <a:gd name="connsiteX7" fmla="*/ 6019800 w 6600825"/>
              <a:gd name="connsiteY7" fmla="*/ 542925 h 2124075"/>
              <a:gd name="connsiteX8" fmla="*/ 6553200 w 6600825"/>
              <a:gd name="connsiteY8" fmla="*/ 19050 h 2124075"/>
              <a:gd name="connsiteX9" fmla="*/ 6553200 w 6600825"/>
              <a:gd name="connsiteY9" fmla="*/ 19050 h 2124075"/>
              <a:gd name="connsiteX10" fmla="*/ 6600825 w 6600825"/>
              <a:gd name="connsiteY10" fmla="*/ 0 h 212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0825" h="2124075">
                <a:moveTo>
                  <a:pt x="0" y="1781175"/>
                </a:moveTo>
                <a:lnTo>
                  <a:pt x="1276350" y="752475"/>
                </a:lnTo>
                <a:lnTo>
                  <a:pt x="2562225" y="2124075"/>
                </a:lnTo>
                <a:lnTo>
                  <a:pt x="3448050" y="1285875"/>
                </a:lnTo>
                <a:lnTo>
                  <a:pt x="3914775" y="1762125"/>
                </a:lnTo>
                <a:lnTo>
                  <a:pt x="5572125" y="76200"/>
                </a:lnTo>
                <a:lnTo>
                  <a:pt x="5800725" y="333375"/>
                </a:lnTo>
                <a:lnTo>
                  <a:pt x="6019800" y="542925"/>
                </a:lnTo>
                <a:lnTo>
                  <a:pt x="6553200" y="19050"/>
                </a:lnTo>
                <a:lnTo>
                  <a:pt x="6553200" y="19050"/>
                </a:lnTo>
                <a:lnTo>
                  <a:pt x="6600825" y="0"/>
                </a:lnTo>
              </a:path>
            </a:pathLst>
          </a:custGeom>
          <a:noFill/>
          <a:ln w="3175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Forma libre: forma 9">
            <a:extLst>
              <a:ext uri="{FF2B5EF4-FFF2-40B4-BE49-F238E27FC236}">
                <a16:creationId xmlns:a16="http://schemas.microsoft.com/office/drawing/2014/main" id="{6B00250B-C694-6EA3-75C0-674DAE5FFCAB}"/>
              </a:ext>
            </a:extLst>
          </p:cNvPr>
          <p:cNvSpPr/>
          <p:nvPr/>
        </p:nvSpPr>
        <p:spPr>
          <a:xfrm>
            <a:off x="4038600" y="2819400"/>
            <a:ext cx="7038975" cy="2933700"/>
          </a:xfrm>
          <a:custGeom>
            <a:avLst/>
            <a:gdLst>
              <a:gd name="connsiteX0" fmla="*/ 0 w 7038975"/>
              <a:gd name="connsiteY0" fmla="*/ 2105025 h 2933700"/>
              <a:gd name="connsiteX1" fmla="*/ 876300 w 7038975"/>
              <a:gd name="connsiteY1" fmla="*/ 1285875 h 2933700"/>
              <a:gd name="connsiteX2" fmla="*/ 2486025 w 7038975"/>
              <a:gd name="connsiteY2" fmla="*/ 2933700 h 2933700"/>
              <a:gd name="connsiteX3" fmla="*/ 3648075 w 7038975"/>
              <a:gd name="connsiteY3" fmla="*/ 1771650 h 2933700"/>
              <a:gd name="connsiteX4" fmla="*/ 4124325 w 7038975"/>
              <a:gd name="connsiteY4" fmla="*/ 2343150 h 2933700"/>
              <a:gd name="connsiteX5" fmla="*/ 6057900 w 7038975"/>
              <a:gd name="connsiteY5" fmla="*/ 533400 h 2933700"/>
              <a:gd name="connsiteX6" fmla="*/ 6257925 w 7038975"/>
              <a:gd name="connsiteY6" fmla="*/ 752475 h 2933700"/>
              <a:gd name="connsiteX7" fmla="*/ 7038975 w 7038975"/>
              <a:gd name="connsiteY7" fmla="*/ 0 h 2933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38975" h="2933700">
                <a:moveTo>
                  <a:pt x="0" y="2105025"/>
                </a:moveTo>
                <a:lnTo>
                  <a:pt x="876300" y="1285875"/>
                </a:lnTo>
                <a:lnTo>
                  <a:pt x="2486025" y="2933700"/>
                </a:lnTo>
                <a:lnTo>
                  <a:pt x="3648075" y="1771650"/>
                </a:lnTo>
                <a:lnTo>
                  <a:pt x="4124325" y="2343150"/>
                </a:lnTo>
                <a:lnTo>
                  <a:pt x="6057900" y="533400"/>
                </a:lnTo>
                <a:lnTo>
                  <a:pt x="6257925" y="752475"/>
                </a:lnTo>
                <a:lnTo>
                  <a:pt x="7038975" y="0"/>
                </a:lnTo>
              </a:path>
            </a:pathLst>
          </a:cu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Gráfico 11" descr="Pulgar hacia abajo con relleno sólido">
            <a:extLst>
              <a:ext uri="{FF2B5EF4-FFF2-40B4-BE49-F238E27FC236}">
                <a16:creationId xmlns:a16="http://schemas.microsoft.com/office/drawing/2014/main" id="{D5A6210D-DBD4-CBE4-8BBD-4F8F4909A1FE}"/>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577012" y="4609897"/>
            <a:ext cx="508036" cy="508036"/>
          </a:xfrm>
          <a:prstGeom prst="rect">
            <a:avLst/>
          </a:prstGeom>
        </p:spPr>
      </p:pic>
      <p:pic>
        <p:nvPicPr>
          <p:cNvPr id="14" name="Gráfico 13" descr="Señal de pulgar hacia arriba  con relleno sólido">
            <a:extLst>
              <a:ext uri="{FF2B5EF4-FFF2-40B4-BE49-F238E27FC236}">
                <a16:creationId xmlns:a16="http://schemas.microsoft.com/office/drawing/2014/main" id="{4E531689-3F17-0338-2C4A-7C3C60791A62}"/>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370729" y="2446619"/>
            <a:ext cx="582521" cy="582521"/>
          </a:xfrm>
          <a:prstGeom prst="rect">
            <a:avLst/>
          </a:prstGeom>
        </p:spPr>
      </p:pic>
      <p:sp>
        <p:nvSpPr>
          <p:cNvPr id="16" name="Triángulo isósceles 15">
            <a:extLst>
              <a:ext uri="{FF2B5EF4-FFF2-40B4-BE49-F238E27FC236}">
                <a16:creationId xmlns:a16="http://schemas.microsoft.com/office/drawing/2014/main" id="{79056BA0-A1E6-9E1C-F8FA-AE93A17AD599}"/>
              </a:ext>
            </a:extLst>
          </p:cNvPr>
          <p:cNvSpPr/>
          <p:nvPr/>
        </p:nvSpPr>
        <p:spPr>
          <a:xfrm rot="2553509">
            <a:off x="7863712" y="2871599"/>
            <a:ext cx="187394" cy="255306"/>
          </a:xfrm>
          <a:prstGeom prst="triangl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Triángulo isósceles 16">
            <a:extLst>
              <a:ext uri="{FF2B5EF4-FFF2-40B4-BE49-F238E27FC236}">
                <a16:creationId xmlns:a16="http://schemas.microsoft.com/office/drawing/2014/main" id="{D0A3123A-4B22-06B5-443B-05A2C79A7B9F}"/>
              </a:ext>
            </a:extLst>
          </p:cNvPr>
          <p:cNvSpPr/>
          <p:nvPr/>
        </p:nvSpPr>
        <p:spPr>
          <a:xfrm rot="2553509">
            <a:off x="8423876" y="4736198"/>
            <a:ext cx="187394" cy="255306"/>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7887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20" grpId="0" animBg="1"/>
      <p:bldP spid="21" grpId="0" animBg="1"/>
      <p:bldP spid="33" grpId="0" animBg="1"/>
      <p:bldP spid="34" grpId="0" animBg="1"/>
      <p:bldP spid="35" grpId="0" animBg="1"/>
      <p:bldP spid="49" grpId="0" animBg="1"/>
      <p:bldP spid="50" grpId="0" animBg="1"/>
      <p:bldP spid="51" grpId="0" animBg="1"/>
      <p:bldP spid="53" grpId="0" animBg="1"/>
      <p:bldP spid="54" grpId="0" animBg="1"/>
      <p:bldP spid="2" grpId="0"/>
      <p:bldP spid="7" grpId="0" animBg="1"/>
      <p:bldP spid="10"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2656E20-985F-B689-9CB6-429CF4A792F9}"/>
              </a:ext>
            </a:extLst>
          </p:cNvPr>
          <p:cNvPicPr>
            <a:picLocks noChangeAspect="1"/>
          </p:cNvPicPr>
          <p:nvPr/>
        </p:nvPicPr>
        <p:blipFill>
          <a:blip r:embed="rId2"/>
          <a:stretch>
            <a:fillRect/>
          </a:stretch>
        </p:blipFill>
        <p:spPr>
          <a:xfrm>
            <a:off x="0" y="-126887"/>
            <a:ext cx="12263542" cy="6984887"/>
          </a:xfrm>
          <a:prstGeom prst="rect">
            <a:avLst/>
          </a:prstGeom>
        </p:spPr>
      </p:pic>
      <p:sp>
        <p:nvSpPr>
          <p:cNvPr id="5" name="Rectángulo 4">
            <a:extLst>
              <a:ext uri="{FF2B5EF4-FFF2-40B4-BE49-F238E27FC236}">
                <a16:creationId xmlns:a16="http://schemas.microsoft.com/office/drawing/2014/main" id="{DB9B4DD0-BEFE-57F2-03D4-FB4D7D95AFF3}"/>
              </a:ext>
            </a:extLst>
          </p:cNvPr>
          <p:cNvSpPr/>
          <p:nvPr/>
        </p:nvSpPr>
        <p:spPr>
          <a:xfrm>
            <a:off x="-922172" y="-1213701"/>
            <a:ext cx="14107886" cy="9158514"/>
          </a:xfrm>
          <a:prstGeom prst="rect">
            <a:avLst/>
          </a:prstGeom>
          <a:solidFill>
            <a:schemeClr val="accent1">
              <a:lumMod val="75000"/>
              <a:alpha val="66000"/>
            </a:schemeClr>
          </a:solidFill>
          <a:ln>
            <a:solidFill>
              <a:schemeClr val="accent1">
                <a:shade val="15000"/>
                <a:alpha val="6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3200">
              <a:solidFill>
                <a:schemeClr val="bg1"/>
              </a:solidFill>
            </a:endParaRPr>
          </a:p>
        </p:txBody>
      </p:sp>
      <p:sp>
        <p:nvSpPr>
          <p:cNvPr id="2" name="Título 1">
            <a:extLst>
              <a:ext uri="{FF2B5EF4-FFF2-40B4-BE49-F238E27FC236}">
                <a16:creationId xmlns:a16="http://schemas.microsoft.com/office/drawing/2014/main" id="{B9678FAF-0FE7-CA6B-7DE8-BBF444283D66}"/>
              </a:ext>
            </a:extLst>
          </p:cNvPr>
          <p:cNvSpPr>
            <a:spLocks noGrp="1"/>
          </p:cNvSpPr>
          <p:nvPr>
            <p:ph type="ctrTitle"/>
          </p:nvPr>
        </p:nvSpPr>
        <p:spPr/>
        <p:txBody>
          <a:bodyPr/>
          <a:lstStyle/>
          <a:p>
            <a:r>
              <a:rPr lang="es-ES" err="1">
                <a:solidFill>
                  <a:schemeClr val="bg1"/>
                </a:solidFill>
              </a:rPr>
              <a:t>Selection</a:t>
            </a:r>
            <a:r>
              <a:rPr lang="es-ES">
                <a:solidFill>
                  <a:schemeClr val="bg1"/>
                </a:solidFill>
              </a:rPr>
              <a:t> </a:t>
            </a:r>
            <a:r>
              <a:rPr lang="es-ES" err="1">
                <a:solidFill>
                  <a:schemeClr val="bg1"/>
                </a:solidFill>
              </a:rPr>
              <a:t>of</a:t>
            </a:r>
            <a:r>
              <a:rPr lang="es-ES">
                <a:solidFill>
                  <a:schemeClr val="bg1"/>
                </a:solidFill>
              </a:rPr>
              <a:t> Tools</a:t>
            </a:r>
          </a:p>
        </p:txBody>
      </p:sp>
      <p:pic>
        <p:nvPicPr>
          <p:cNvPr id="1026" name="Picture 2" descr="Bicycle Sign Icon Vector. Bike Illustration Symbol on White Isolated ...">
            <a:extLst>
              <a:ext uri="{FF2B5EF4-FFF2-40B4-BE49-F238E27FC236}">
                <a16:creationId xmlns:a16="http://schemas.microsoft.com/office/drawing/2014/main" id="{A560EFC9-7C04-43E5-77C1-E55ADF5AF1E5}"/>
              </a:ext>
            </a:extLst>
          </p:cNvPr>
          <p:cNvPicPr>
            <a:picLocks noChangeAspect="1" noChangeArrowheads="1"/>
          </p:cNvPicPr>
          <p:nvPr/>
        </p:nvPicPr>
        <p:blipFill>
          <a:blip r:embed="rId3">
            <a:alphaModFix amt="84000"/>
            <a:extLst>
              <a:ext uri="{BEBA8EAE-BF5A-486C-A8C5-ECC9F3942E4B}">
                <a14:imgProps xmlns:a14="http://schemas.microsoft.com/office/drawing/2010/main">
                  <a14:imgLayer r:embed="rId4">
                    <a14:imgEffect>
                      <a14:saturation sat="154000"/>
                    </a14:imgEffect>
                  </a14:imgLayer>
                </a14:imgProps>
              </a:ext>
              <a:ext uri="{28A0092B-C50C-407E-A947-70E740481C1C}">
                <a14:useLocalDpi xmlns:a14="http://schemas.microsoft.com/office/drawing/2010/main" val="0"/>
              </a:ext>
            </a:extLst>
          </a:blip>
          <a:srcRect/>
          <a:stretch>
            <a:fillRect/>
          </a:stretch>
        </p:blipFill>
        <p:spPr bwMode="auto">
          <a:xfrm>
            <a:off x="4713129" y="2861228"/>
            <a:ext cx="1931512" cy="1931512"/>
          </a:xfrm>
          <a:prstGeom prst="ellipse">
            <a:avLst/>
          </a:prstGeom>
          <a:noFill/>
          <a:extLst>
            <a:ext uri="{909E8E84-426E-40DD-AFC4-6F175D3DCCD1}">
              <a14:hiddenFill xmlns:a14="http://schemas.microsoft.com/office/drawing/2010/main">
                <a:solidFill>
                  <a:srgbClr val="FFFFFF"/>
                </a:solidFill>
              </a14:hiddenFill>
            </a:ext>
          </a:extLst>
        </p:spPr>
      </p:pic>
      <p:sp>
        <p:nvSpPr>
          <p:cNvPr id="3" name="Elipse 2">
            <a:extLst>
              <a:ext uri="{FF2B5EF4-FFF2-40B4-BE49-F238E27FC236}">
                <a16:creationId xmlns:a16="http://schemas.microsoft.com/office/drawing/2014/main" id="{12CC05F0-A056-4385-022C-680A6D748B84}"/>
              </a:ext>
            </a:extLst>
          </p:cNvPr>
          <p:cNvSpPr/>
          <p:nvPr/>
        </p:nvSpPr>
        <p:spPr>
          <a:xfrm>
            <a:off x="3706728" y="2103662"/>
            <a:ext cx="3919488" cy="3673980"/>
          </a:xfrm>
          <a:prstGeom prst="ellipse">
            <a:avLst/>
          </a:prstGeom>
          <a:noFill/>
          <a:ln w="38100">
            <a:solidFill>
              <a:schemeClr val="bg1">
                <a:lumMod val="9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28" name="Picture 4" descr="Python logo and symbol, meaning ...">
            <a:extLst>
              <a:ext uri="{FF2B5EF4-FFF2-40B4-BE49-F238E27FC236}">
                <a16:creationId xmlns:a16="http://schemas.microsoft.com/office/drawing/2014/main" id="{5946B710-D11E-DC20-191A-B64AF076B6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2633" y="3363698"/>
            <a:ext cx="1233690" cy="768884"/>
          </a:xfrm>
          <a:prstGeom prst="ellipse">
            <a:avLst/>
          </a:prstGeom>
          <a:noFill/>
          <a:extLst>
            <a:ext uri="{909E8E84-426E-40DD-AFC4-6F175D3DCCD1}">
              <a14:hiddenFill xmlns:a14="http://schemas.microsoft.com/office/drawing/2010/main">
                <a:solidFill>
                  <a:srgbClr val="FFFFFF"/>
                </a:solidFill>
              </a14:hiddenFill>
            </a:ext>
          </a:extLst>
        </p:spPr>
      </p:pic>
      <p:pic>
        <p:nvPicPr>
          <p:cNvPr id="1030" name="Picture 6" descr="OR-Tools | Google for Developers">
            <a:extLst>
              <a:ext uri="{FF2B5EF4-FFF2-40B4-BE49-F238E27FC236}">
                <a16:creationId xmlns:a16="http://schemas.microsoft.com/office/drawing/2014/main" id="{969D13AC-1BD5-7821-677F-38719A38FA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5602" y="1703527"/>
            <a:ext cx="786566" cy="786566"/>
          </a:xfrm>
          <a:prstGeom prst="ellipse">
            <a:avLst/>
          </a:prstGeom>
          <a:noFill/>
          <a:extLst>
            <a:ext uri="{909E8E84-426E-40DD-AFC4-6F175D3DCCD1}">
              <a14:hiddenFill xmlns:a14="http://schemas.microsoft.com/office/drawing/2010/main">
                <a:solidFill>
                  <a:srgbClr val="FFFFFF"/>
                </a:solidFill>
              </a14:hiddenFill>
            </a:ext>
          </a:extLst>
        </p:spPr>
      </p:pic>
      <p:pic>
        <p:nvPicPr>
          <p:cNvPr id="1032" name="Picture 8" descr="QGIS : le Système d'Information ...">
            <a:extLst>
              <a:ext uri="{FF2B5EF4-FFF2-40B4-BE49-F238E27FC236}">
                <a16:creationId xmlns:a16="http://schemas.microsoft.com/office/drawing/2014/main" id="{91BEA3BF-2AE3-B64D-D5C5-48DA796001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51447" y="3186204"/>
            <a:ext cx="1123873" cy="1123873"/>
          </a:xfrm>
          <a:prstGeom prst="ellipse">
            <a:avLst/>
          </a:prstGeom>
          <a:noFill/>
          <a:extLst>
            <a:ext uri="{909E8E84-426E-40DD-AFC4-6F175D3DCCD1}">
              <a14:hiddenFill xmlns:a14="http://schemas.microsoft.com/office/drawing/2010/main">
                <a:solidFill>
                  <a:srgbClr val="FFFFFF"/>
                </a:solidFill>
              </a14:hiddenFill>
            </a:ext>
          </a:extLst>
        </p:spPr>
      </p:pic>
      <p:pic>
        <p:nvPicPr>
          <p:cNvPr id="1034" name="Picture 10" descr="Qt — Wikipédia">
            <a:extLst>
              <a:ext uri="{FF2B5EF4-FFF2-40B4-BE49-F238E27FC236}">
                <a16:creationId xmlns:a16="http://schemas.microsoft.com/office/drawing/2014/main" id="{429A154E-5E21-658B-186A-F28F1CEBA5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69305" y="5468253"/>
            <a:ext cx="1194335" cy="853096"/>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684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4" name="Conector recto 93">
            <a:extLst>
              <a:ext uri="{FF2B5EF4-FFF2-40B4-BE49-F238E27FC236}">
                <a16:creationId xmlns:a16="http://schemas.microsoft.com/office/drawing/2014/main" id="{07E0A558-1EB2-84A7-2043-1C6F1F1604B5}"/>
              </a:ext>
            </a:extLst>
          </p:cNvPr>
          <p:cNvCxnSpPr>
            <a:cxnSpLocks/>
          </p:cNvCxnSpPr>
          <p:nvPr/>
        </p:nvCxnSpPr>
        <p:spPr>
          <a:xfrm flipV="1">
            <a:off x="8887211" y="1799687"/>
            <a:ext cx="0" cy="3997587"/>
          </a:xfrm>
          <a:prstGeom prst="line">
            <a:avLst/>
          </a:prstGeom>
          <a:ln w="25400">
            <a:solidFill>
              <a:schemeClr val="bg2">
                <a:lumMod val="50000"/>
              </a:schemeClr>
            </a:solidFill>
            <a:prstDash val="dashDot"/>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B9678FAF-0FE7-CA6B-7DE8-BBF444283D66}"/>
              </a:ext>
            </a:extLst>
          </p:cNvPr>
          <p:cNvSpPr>
            <a:spLocks noGrp="1"/>
          </p:cNvSpPr>
          <p:nvPr>
            <p:ph type="ctrTitle"/>
          </p:nvPr>
        </p:nvSpPr>
        <p:spPr/>
        <p:txBody>
          <a:bodyPr/>
          <a:lstStyle/>
          <a:p>
            <a:r>
              <a:rPr lang="es-ES"/>
              <a:t>Schedule</a:t>
            </a:r>
            <a:endParaRPr lang="es-ES" dirty="0"/>
          </a:p>
        </p:txBody>
      </p:sp>
      <p:sp>
        <p:nvSpPr>
          <p:cNvPr id="61" name="Flecha: a la derecha 60">
            <a:extLst>
              <a:ext uri="{FF2B5EF4-FFF2-40B4-BE49-F238E27FC236}">
                <a16:creationId xmlns:a16="http://schemas.microsoft.com/office/drawing/2014/main" id="{F1300F86-69A9-ED5C-26EE-03E4C59D036F}"/>
              </a:ext>
            </a:extLst>
          </p:cNvPr>
          <p:cNvSpPr/>
          <p:nvPr/>
        </p:nvSpPr>
        <p:spPr>
          <a:xfrm>
            <a:off x="744279" y="3125972"/>
            <a:ext cx="10706986" cy="712381"/>
          </a:xfrm>
          <a:prstGeom prst="rightArrow">
            <a:avLst>
              <a:gd name="adj1" fmla="val 50000"/>
              <a:gd name="adj2" fmla="val 783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Elipse 61">
            <a:extLst>
              <a:ext uri="{FF2B5EF4-FFF2-40B4-BE49-F238E27FC236}">
                <a16:creationId xmlns:a16="http://schemas.microsoft.com/office/drawing/2014/main" id="{EA25DAC3-0EC0-F7E6-37B7-4EA2EDD77E3F}"/>
              </a:ext>
            </a:extLst>
          </p:cNvPr>
          <p:cNvSpPr/>
          <p:nvPr/>
        </p:nvSpPr>
        <p:spPr>
          <a:xfrm>
            <a:off x="740735" y="3165843"/>
            <a:ext cx="620232" cy="6326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3" name="Elipse 62">
            <a:extLst>
              <a:ext uri="{FF2B5EF4-FFF2-40B4-BE49-F238E27FC236}">
                <a16:creationId xmlns:a16="http://schemas.microsoft.com/office/drawing/2014/main" id="{7BFD947C-E02D-7036-8AA1-A51DC1BE8F3E}"/>
              </a:ext>
            </a:extLst>
          </p:cNvPr>
          <p:cNvSpPr/>
          <p:nvPr/>
        </p:nvSpPr>
        <p:spPr>
          <a:xfrm>
            <a:off x="2349795" y="3205715"/>
            <a:ext cx="620232" cy="6326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4" name="Elipse 63">
            <a:extLst>
              <a:ext uri="{FF2B5EF4-FFF2-40B4-BE49-F238E27FC236}">
                <a16:creationId xmlns:a16="http://schemas.microsoft.com/office/drawing/2014/main" id="{4B6B5984-5DE5-F0C0-D5F3-2D2C74F6EA71}"/>
              </a:ext>
            </a:extLst>
          </p:cNvPr>
          <p:cNvSpPr/>
          <p:nvPr/>
        </p:nvSpPr>
        <p:spPr>
          <a:xfrm>
            <a:off x="3911953" y="3205715"/>
            <a:ext cx="620232" cy="6326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5" name="Elipse 64">
            <a:extLst>
              <a:ext uri="{FF2B5EF4-FFF2-40B4-BE49-F238E27FC236}">
                <a16:creationId xmlns:a16="http://schemas.microsoft.com/office/drawing/2014/main" id="{E6CCB446-B056-8DB5-3E1E-7E3AB71F1CAF}"/>
              </a:ext>
            </a:extLst>
          </p:cNvPr>
          <p:cNvSpPr/>
          <p:nvPr/>
        </p:nvSpPr>
        <p:spPr>
          <a:xfrm>
            <a:off x="5474112" y="3205715"/>
            <a:ext cx="620232" cy="6326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 name="Elipse 65">
            <a:extLst>
              <a:ext uri="{FF2B5EF4-FFF2-40B4-BE49-F238E27FC236}">
                <a16:creationId xmlns:a16="http://schemas.microsoft.com/office/drawing/2014/main" id="{492C645B-BFA1-04A1-13D9-33E2D870D0E0}"/>
              </a:ext>
            </a:extLst>
          </p:cNvPr>
          <p:cNvSpPr/>
          <p:nvPr/>
        </p:nvSpPr>
        <p:spPr>
          <a:xfrm>
            <a:off x="6403270" y="3171612"/>
            <a:ext cx="620232" cy="6326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Rectángulo redondeado 20">
            <a:extLst>
              <a:ext uri="{FF2B5EF4-FFF2-40B4-BE49-F238E27FC236}">
                <a16:creationId xmlns:a16="http://schemas.microsoft.com/office/drawing/2014/main" id="{8A19CC80-E3A7-B073-2931-0E54333F51BB}"/>
              </a:ext>
            </a:extLst>
          </p:cNvPr>
          <p:cNvSpPr/>
          <p:nvPr/>
        </p:nvSpPr>
        <p:spPr>
          <a:xfrm>
            <a:off x="245832" y="1844863"/>
            <a:ext cx="1623608" cy="90522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err="1">
                <a:latin typeface="Roboto" panose="02000000000000000000" pitchFamily="2" charset="0"/>
                <a:ea typeface="Roboto" panose="02000000000000000000" pitchFamily="2" charset="0"/>
              </a:rPr>
              <a:t>Existing</a:t>
            </a:r>
            <a:r>
              <a:rPr lang="es-ES" sz="1600" dirty="0">
                <a:latin typeface="Roboto" panose="02000000000000000000" pitchFamily="2" charset="0"/>
                <a:ea typeface="Roboto" panose="02000000000000000000" pitchFamily="2" charset="0"/>
              </a:rPr>
              <a:t> </a:t>
            </a:r>
            <a:r>
              <a:rPr lang="es-ES" sz="1600" dirty="0" err="1">
                <a:latin typeface="Roboto" panose="02000000000000000000" pitchFamily="2" charset="0"/>
                <a:ea typeface="Roboto" panose="02000000000000000000" pitchFamily="2" charset="0"/>
              </a:rPr>
              <a:t>Tenders</a:t>
            </a:r>
            <a:r>
              <a:rPr lang="es-ES" sz="1600" dirty="0">
                <a:latin typeface="Roboto" panose="02000000000000000000" pitchFamily="2" charset="0"/>
                <a:ea typeface="Roboto" panose="02000000000000000000" pitchFamily="2" charset="0"/>
              </a:rPr>
              <a:t> </a:t>
            </a:r>
            <a:r>
              <a:rPr lang="es-ES" sz="1600" dirty="0" err="1">
                <a:latin typeface="Roboto" panose="02000000000000000000" pitchFamily="2" charset="0"/>
                <a:ea typeface="Roboto" panose="02000000000000000000" pitchFamily="2" charset="0"/>
              </a:rPr>
              <a:t>Research</a:t>
            </a:r>
            <a:endParaRPr lang="es-ES" sz="1600" dirty="0">
              <a:latin typeface="Roboto" panose="02000000000000000000" pitchFamily="2" charset="0"/>
              <a:ea typeface="Roboto" panose="02000000000000000000" pitchFamily="2" charset="0"/>
            </a:endParaRPr>
          </a:p>
        </p:txBody>
      </p:sp>
      <p:cxnSp>
        <p:nvCxnSpPr>
          <p:cNvPr id="68" name="Conector recto 67">
            <a:extLst>
              <a:ext uri="{FF2B5EF4-FFF2-40B4-BE49-F238E27FC236}">
                <a16:creationId xmlns:a16="http://schemas.microsoft.com/office/drawing/2014/main" id="{C5FA468D-9A94-5652-911D-98B544C2E9DC}"/>
              </a:ext>
            </a:extLst>
          </p:cNvPr>
          <p:cNvCxnSpPr>
            <a:cxnSpLocks/>
            <a:stCxn id="62" idx="0"/>
            <a:endCxn id="67" idx="2"/>
          </p:cNvCxnSpPr>
          <p:nvPr/>
        </p:nvCxnSpPr>
        <p:spPr>
          <a:xfrm flipV="1">
            <a:off x="1050851" y="2750083"/>
            <a:ext cx="6785" cy="415760"/>
          </a:xfrm>
          <a:prstGeom prst="line">
            <a:avLst/>
          </a:prstGeom>
          <a:ln w="1270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75" name="Rectángulo redondeado 20">
            <a:extLst>
              <a:ext uri="{FF2B5EF4-FFF2-40B4-BE49-F238E27FC236}">
                <a16:creationId xmlns:a16="http://schemas.microsoft.com/office/drawing/2014/main" id="{1E8E05DC-EE33-7014-3893-CEBE3C2A0B20}"/>
              </a:ext>
            </a:extLst>
          </p:cNvPr>
          <p:cNvSpPr/>
          <p:nvPr/>
        </p:nvSpPr>
        <p:spPr>
          <a:xfrm>
            <a:off x="1869440" y="4486823"/>
            <a:ext cx="1623609" cy="63263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err="1">
                <a:latin typeface="Roboto" panose="02000000000000000000" pitchFamily="2" charset="0"/>
                <a:ea typeface="Roboto" panose="02000000000000000000" pitchFamily="2" charset="0"/>
              </a:rPr>
              <a:t>KPIs</a:t>
            </a:r>
            <a:endParaRPr lang="es-ES" sz="1600" dirty="0">
              <a:latin typeface="Roboto" panose="02000000000000000000" pitchFamily="2" charset="0"/>
              <a:ea typeface="Roboto" panose="02000000000000000000" pitchFamily="2" charset="0"/>
            </a:endParaRPr>
          </a:p>
          <a:p>
            <a:pPr algn="ctr"/>
            <a:r>
              <a:rPr lang="es-ES" sz="1600" dirty="0" err="1">
                <a:latin typeface="Roboto" panose="02000000000000000000" pitchFamily="2" charset="0"/>
                <a:ea typeface="Roboto" panose="02000000000000000000" pitchFamily="2" charset="0"/>
              </a:rPr>
              <a:t>selection</a:t>
            </a:r>
            <a:endParaRPr lang="es-ES" sz="1600" dirty="0">
              <a:latin typeface="Roboto" panose="02000000000000000000" pitchFamily="2" charset="0"/>
              <a:ea typeface="Roboto" panose="02000000000000000000" pitchFamily="2" charset="0"/>
            </a:endParaRPr>
          </a:p>
        </p:txBody>
      </p:sp>
      <p:sp>
        <p:nvSpPr>
          <p:cNvPr id="76" name="Rectángulo redondeado 20">
            <a:extLst>
              <a:ext uri="{FF2B5EF4-FFF2-40B4-BE49-F238E27FC236}">
                <a16:creationId xmlns:a16="http://schemas.microsoft.com/office/drawing/2014/main" id="{9AF77A24-13DB-9E93-772C-F578D91083F6}"/>
              </a:ext>
            </a:extLst>
          </p:cNvPr>
          <p:cNvSpPr/>
          <p:nvPr/>
        </p:nvSpPr>
        <p:spPr>
          <a:xfrm>
            <a:off x="3381173" y="1835612"/>
            <a:ext cx="1681792" cy="63263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err="1">
                <a:latin typeface="Roboto" panose="02000000000000000000" pitchFamily="2" charset="0"/>
                <a:ea typeface="Roboto" panose="02000000000000000000" pitchFamily="2" charset="0"/>
              </a:rPr>
              <a:t>Requirements</a:t>
            </a:r>
            <a:endParaRPr lang="es-ES" sz="1600" dirty="0">
              <a:latin typeface="Roboto" panose="02000000000000000000" pitchFamily="2" charset="0"/>
              <a:ea typeface="Roboto" panose="02000000000000000000" pitchFamily="2" charset="0"/>
            </a:endParaRPr>
          </a:p>
        </p:txBody>
      </p:sp>
      <p:sp>
        <p:nvSpPr>
          <p:cNvPr id="77" name="Rectángulo redondeado 20">
            <a:extLst>
              <a:ext uri="{FF2B5EF4-FFF2-40B4-BE49-F238E27FC236}">
                <a16:creationId xmlns:a16="http://schemas.microsoft.com/office/drawing/2014/main" id="{450583EF-F997-D4DE-51BD-05C7B54EC2C8}"/>
              </a:ext>
            </a:extLst>
          </p:cNvPr>
          <p:cNvSpPr/>
          <p:nvPr/>
        </p:nvSpPr>
        <p:spPr>
          <a:xfrm>
            <a:off x="4972423" y="4486823"/>
            <a:ext cx="1623609" cy="63263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err="1">
                <a:latin typeface="Roboto" panose="02000000000000000000" pitchFamily="2" charset="0"/>
                <a:ea typeface="Roboto" panose="02000000000000000000" pitchFamily="2" charset="0"/>
              </a:rPr>
              <a:t>Prediction</a:t>
            </a:r>
            <a:endParaRPr lang="es-ES" sz="1600" dirty="0">
              <a:latin typeface="Roboto" panose="02000000000000000000" pitchFamily="2" charset="0"/>
              <a:ea typeface="Roboto" panose="02000000000000000000" pitchFamily="2" charset="0"/>
            </a:endParaRPr>
          </a:p>
        </p:txBody>
      </p:sp>
      <p:sp>
        <p:nvSpPr>
          <p:cNvPr id="78" name="Rectángulo redondeado 20">
            <a:extLst>
              <a:ext uri="{FF2B5EF4-FFF2-40B4-BE49-F238E27FC236}">
                <a16:creationId xmlns:a16="http://schemas.microsoft.com/office/drawing/2014/main" id="{9F7B1286-D2F4-F56B-182B-87C6D1275A88}"/>
              </a:ext>
            </a:extLst>
          </p:cNvPr>
          <p:cNvSpPr/>
          <p:nvPr/>
        </p:nvSpPr>
        <p:spPr>
          <a:xfrm>
            <a:off x="5841271" y="1805498"/>
            <a:ext cx="1623609" cy="63263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err="1">
                <a:latin typeface="Roboto" panose="02000000000000000000" pitchFamily="2" charset="0"/>
                <a:ea typeface="Roboto" panose="02000000000000000000" pitchFamily="2" charset="0"/>
              </a:rPr>
              <a:t>Optimization</a:t>
            </a:r>
            <a:endParaRPr lang="es-ES" sz="1600" dirty="0">
              <a:latin typeface="Roboto" panose="02000000000000000000" pitchFamily="2" charset="0"/>
              <a:ea typeface="Roboto" panose="02000000000000000000" pitchFamily="2" charset="0"/>
            </a:endParaRPr>
          </a:p>
        </p:txBody>
      </p:sp>
      <p:cxnSp>
        <p:nvCxnSpPr>
          <p:cNvPr id="79" name="Conector recto 78">
            <a:extLst>
              <a:ext uri="{FF2B5EF4-FFF2-40B4-BE49-F238E27FC236}">
                <a16:creationId xmlns:a16="http://schemas.microsoft.com/office/drawing/2014/main" id="{B9863099-9707-7A49-B2AA-E0DAF96C3A00}"/>
              </a:ext>
            </a:extLst>
          </p:cNvPr>
          <p:cNvCxnSpPr>
            <a:cxnSpLocks/>
            <a:stCxn id="75" idx="0"/>
          </p:cNvCxnSpPr>
          <p:nvPr/>
        </p:nvCxnSpPr>
        <p:spPr>
          <a:xfrm flipV="1">
            <a:off x="2681245" y="3862604"/>
            <a:ext cx="6784" cy="624219"/>
          </a:xfrm>
          <a:prstGeom prst="line">
            <a:avLst/>
          </a:prstGeom>
          <a:ln w="1270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81" name="Conector recto 80">
            <a:extLst>
              <a:ext uri="{FF2B5EF4-FFF2-40B4-BE49-F238E27FC236}">
                <a16:creationId xmlns:a16="http://schemas.microsoft.com/office/drawing/2014/main" id="{EB3A791C-7CA0-6005-0477-36180474D747}"/>
              </a:ext>
            </a:extLst>
          </p:cNvPr>
          <p:cNvCxnSpPr>
            <a:cxnSpLocks/>
            <a:stCxn id="64" idx="0"/>
            <a:endCxn id="76" idx="2"/>
          </p:cNvCxnSpPr>
          <p:nvPr/>
        </p:nvCxnSpPr>
        <p:spPr>
          <a:xfrm flipV="1">
            <a:off x="4222069" y="2468251"/>
            <a:ext cx="0" cy="737464"/>
          </a:xfrm>
          <a:prstGeom prst="line">
            <a:avLst/>
          </a:prstGeom>
          <a:ln w="1270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84" name="Conector recto 83">
            <a:extLst>
              <a:ext uri="{FF2B5EF4-FFF2-40B4-BE49-F238E27FC236}">
                <a16:creationId xmlns:a16="http://schemas.microsoft.com/office/drawing/2014/main" id="{42482F57-8835-00B5-687E-92166E8D5F82}"/>
              </a:ext>
            </a:extLst>
          </p:cNvPr>
          <p:cNvCxnSpPr>
            <a:cxnSpLocks/>
            <a:stCxn id="77" idx="0"/>
            <a:endCxn id="65" idx="4"/>
          </p:cNvCxnSpPr>
          <p:nvPr/>
        </p:nvCxnSpPr>
        <p:spPr>
          <a:xfrm flipV="1">
            <a:off x="5784228" y="3838353"/>
            <a:ext cx="0" cy="648470"/>
          </a:xfrm>
          <a:prstGeom prst="line">
            <a:avLst/>
          </a:prstGeom>
          <a:ln w="1270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88" name="Conector recto 87">
            <a:extLst>
              <a:ext uri="{FF2B5EF4-FFF2-40B4-BE49-F238E27FC236}">
                <a16:creationId xmlns:a16="http://schemas.microsoft.com/office/drawing/2014/main" id="{BF4CF91C-F133-C336-80A0-8634CB9145F1}"/>
              </a:ext>
            </a:extLst>
          </p:cNvPr>
          <p:cNvCxnSpPr>
            <a:cxnSpLocks/>
          </p:cNvCxnSpPr>
          <p:nvPr/>
        </p:nvCxnSpPr>
        <p:spPr>
          <a:xfrm flipV="1">
            <a:off x="6713386" y="2424750"/>
            <a:ext cx="0" cy="720297"/>
          </a:xfrm>
          <a:prstGeom prst="line">
            <a:avLst/>
          </a:prstGeom>
          <a:ln w="1270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89" name="Rectángulo redondeado 20">
            <a:extLst>
              <a:ext uri="{FF2B5EF4-FFF2-40B4-BE49-F238E27FC236}">
                <a16:creationId xmlns:a16="http://schemas.microsoft.com/office/drawing/2014/main" id="{724C160A-6195-E97D-1753-6B2920F4EECB}"/>
              </a:ext>
            </a:extLst>
          </p:cNvPr>
          <p:cNvSpPr/>
          <p:nvPr/>
        </p:nvSpPr>
        <p:spPr>
          <a:xfrm>
            <a:off x="8075406" y="4486823"/>
            <a:ext cx="1623609" cy="63263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err="1">
                <a:latin typeface="Roboto" panose="02000000000000000000" pitchFamily="2" charset="0"/>
                <a:ea typeface="Roboto" panose="02000000000000000000" pitchFamily="2" charset="0"/>
              </a:rPr>
              <a:t>Delivery</a:t>
            </a:r>
            <a:endParaRPr lang="es-ES" sz="1600" dirty="0">
              <a:latin typeface="Roboto" panose="02000000000000000000" pitchFamily="2" charset="0"/>
              <a:ea typeface="Roboto" panose="02000000000000000000" pitchFamily="2" charset="0"/>
            </a:endParaRPr>
          </a:p>
        </p:txBody>
      </p:sp>
      <p:cxnSp>
        <p:nvCxnSpPr>
          <p:cNvPr id="90" name="Conector recto 89">
            <a:extLst>
              <a:ext uri="{FF2B5EF4-FFF2-40B4-BE49-F238E27FC236}">
                <a16:creationId xmlns:a16="http://schemas.microsoft.com/office/drawing/2014/main" id="{5C41D54A-E219-A991-F0F6-BD544F2F979D}"/>
              </a:ext>
            </a:extLst>
          </p:cNvPr>
          <p:cNvCxnSpPr>
            <a:cxnSpLocks/>
            <a:stCxn id="89" idx="0"/>
          </p:cNvCxnSpPr>
          <p:nvPr/>
        </p:nvCxnSpPr>
        <p:spPr>
          <a:xfrm flipV="1">
            <a:off x="8887211" y="3838353"/>
            <a:ext cx="0" cy="648470"/>
          </a:xfrm>
          <a:prstGeom prst="line">
            <a:avLst/>
          </a:prstGeom>
          <a:ln w="1270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91" name="Elipse 90">
            <a:extLst>
              <a:ext uri="{FF2B5EF4-FFF2-40B4-BE49-F238E27FC236}">
                <a16:creationId xmlns:a16="http://schemas.microsoft.com/office/drawing/2014/main" id="{F3CF9F7C-0E09-503F-F2C8-09326970880F}"/>
              </a:ext>
            </a:extLst>
          </p:cNvPr>
          <p:cNvSpPr/>
          <p:nvPr/>
        </p:nvSpPr>
        <p:spPr>
          <a:xfrm>
            <a:off x="8588625" y="3197799"/>
            <a:ext cx="620232" cy="6326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3" name="CuadroTexto 92">
            <a:extLst>
              <a:ext uri="{FF2B5EF4-FFF2-40B4-BE49-F238E27FC236}">
                <a16:creationId xmlns:a16="http://schemas.microsoft.com/office/drawing/2014/main" id="{77E3AF18-479F-EAC9-FE36-5B1A1FC7A068}"/>
              </a:ext>
            </a:extLst>
          </p:cNvPr>
          <p:cNvSpPr txBox="1"/>
          <p:nvPr/>
        </p:nvSpPr>
        <p:spPr>
          <a:xfrm>
            <a:off x="8303709" y="5944316"/>
            <a:ext cx="1190064" cy="338554"/>
          </a:xfrm>
          <a:prstGeom prst="rect">
            <a:avLst/>
          </a:prstGeom>
          <a:noFill/>
        </p:spPr>
        <p:txBody>
          <a:bodyPr wrap="square" rtlCol="0">
            <a:spAutoFit/>
          </a:bodyPr>
          <a:lstStyle/>
          <a:p>
            <a:r>
              <a:rPr lang="es-ES" sz="1600" dirty="0" err="1">
                <a:solidFill>
                  <a:schemeClr val="tx2"/>
                </a:solidFill>
                <a:latin typeface="Poppins" pitchFamily="2" charset="77"/>
                <a:cs typeface="Poppins" pitchFamily="2" charset="77"/>
              </a:rPr>
              <a:t>July</a:t>
            </a:r>
            <a:r>
              <a:rPr lang="es-ES" sz="1600" dirty="0">
                <a:solidFill>
                  <a:schemeClr val="tx2"/>
                </a:solidFill>
                <a:latin typeface="Poppins" pitchFamily="2" charset="77"/>
                <a:cs typeface="Poppins" pitchFamily="2" charset="77"/>
              </a:rPr>
              <a:t> 2024</a:t>
            </a:r>
          </a:p>
        </p:txBody>
      </p:sp>
    </p:spTree>
    <p:extLst>
      <p:ext uri="{BB962C8B-B14F-4D97-AF65-F5344CB8AC3E}">
        <p14:creationId xmlns:p14="http://schemas.microsoft.com/office/powerpoint/2010/main" val="1824209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2C92C9-3902-D617-194D-EB7B3CA674F2}"/>
              </a:ext>
            </a:extLst>
          </p:cNvPr>
          <p:cNvSpPr>
            <a:spLocks noGrp="1"/>
          </p:cNvSpPr>
          <p:nvPr>
            <p:ph type="title"/>
          </p:nvPr>
        </p:nvSpPr>
        <p:spPr/>
        <p:txBody>
          <a:bodyPr/>
          <a:lstStyle/>
          <a:p>
            <a:r>
              <a:rPr lang="es-ES" dirty="0"/>
              <a:t>DT </a:t>
            </a:r>
            <a:r>
              <a:rPr lang="es-ES" dirty="0" err="1"/>
              <a:t>development</a:t>
            </a:r>
            <a:br>
              <a:rPr lang="es-ES" dirty="0">
                <a:latin typeface="Poppins" pitchFamily="2" charset="77"/>
                <a:cs typeface="Poppins" pitchFamily="2" charset="77"/>
              </a:rPr>
            </a:br>
            <a:endParaRPr lang="es-ES" dirty="0"/>
          </a:p>
        </p:txBody>
      </p:sp>
    </p:spTree>
    <p:extLst>
      <p:ext uri="{BB962C8B-B14F-4D97-AF65-F5344CB8AC3E}">
        <p14:creationId xmlns:p14="http://schemas.microsoft.com/office/powerpoint/2010/main" val="4065361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Development Phases</a:t>
            </a:r>
            <a:endParaRPr lang="es-ES" dirty="0"/>
          </a:p>
        </p:txBody>
      </p:sp>
      <p:sp>
        <p:nvSpPr>
          <p:cNvPr id="12" name="TextBox 11">
            <a:extLst>
              <a:ext uri="{FF2B5EF4-FFF2-40B4-BE49-F238E27FC236}">
                <a16:creationId xmlns:a16="http://schemas.microsoft.com/office/drawing/2014/main" id="{53BF1E2B-4708-993A-2AA1-6B7C204D13CF}"/>
              </a:ext>
            </a:extLst>
          </p:cNvPr>
          <p:cNvSpPr txBox="1"/>
          <p:nvPr/>
        </p:nvSpPr>
        <p:spPr>
          <a:xfrm>
            <a:off x="191502" y="2974975"/>
            <a:ext cx="1687654" cy="923330"/>
          </a:xfrm>
          <a:prstGeom prst="rect">
            <a:avLst/>
          </a:prstGeom>
          <a:noFill/>
        </p:spPr>
        <p:txBody>
          <a:bodyPr wrap="square">
            <a:spAutoFit/>
          </a:bodyPr>
          <a:lstStyle/>
          <a:p>
            <a:r>
              <a:rPr lang="en-GB" dirty="0"/>
              <a:t>1. Data collection and processing</a:t>
            </a:r>
            <a:endParaRPr lang="en-US" dirty="0"/>
          </a:p>
        </p:txBody>
      </p:sp>
      <p:sp>
        <p:nvSpPr>
          <p:cNvPr id="14" name="TextBox 13">
            <a:extLst>
              <a:ext uri="{FF2B5EF4-FFF2-40B4-BE49-F238E27FC236}">
                <a16:creationId xmlns:a16="http://schemas.microsoft.com/office/drawing/2014/main" id="{C9CB3259-E3F3-E1DC-1495-4169D4E7F20E}"/>
              </a:ext>
            </a:extLst>
          </p:cNvPr>
          <p:cNvSpPr txBox="1"/>
          <p:nvPr/>
        </p:nvSpPr>
        <p:spPr>
          <a:xfrm>
            <a:off x="2431143" y="2995065"/>
            <a:ext cx="1890854" cy="923330"/>
          </a:xfrm>
          <a:prstGeom prst="rect">
            <a:avLst/>
          </a:prstGeom>
          <a:noFill/>
        </p:spPr>
        <p:txBody>
          <a:bodyPr wrap="square">
            <a:spAutoFit/>
          </a:bodyPr>
          <a:lstStyle/>
          <a:p>
            <a:r>
              <a:rPr lang="en-GB" dirty="0"/>
              <a:t>2. Modelling of the physical system </a:t>
            </a:r>
            <a:endParaRPr lang="en-US" dirty="0"/>
          </a:p>
        </p:txBody>
      </p:sp>
      <p:sp>
        <p:nvSpPr>
          <p:cNvPr id="16" name="TextBox 15">
            <a:extLst>
              <a:ext uri="{FF2B5EF4-FFF2-40B4-BE49-F238E27FC236}">
                <a16:creationId xmlns:a16="http://schemas.microsoft.com/office/drawing/2014/main" id="{DFD8A3E7-377B-3BBA-ECCA-83A5C3834F61}"/>
              </a:ext>
            </a:extLst>
          </p:cNvPr>
          <p:cNvSpPr txBox="1"/>
          <p:nvPr/>
        </p:nvSpPr>
        <p:spPr>
          <a:xfrm>
            <a:off x="5061670" y="3063213"/>
            <a:ext cx="1739900" cy="646331"/>
          </a:xfrm>
          <a:prstGeom prst="rect">
            <a:avLst/>
          </a:prstGeom>
          <a:noFill/>
        </p:spPr>
        <p:txBody>
          <a:bodyPr wrap="square">
            <a:spAutoFit/>
          </a:bodyPr>
          <a:lstStyle/>
          <a:p>
            <a:r>
              <a:rPr lang="en-GB" dirty="0"/>
              <a:t>3. Simulation implementation</a:t>
            </a:r>
            <a:endParaRPr lang="en-US" dirty="0"/>
          </a:p>
        </p:txBody>
      </p:sp>
      <p:sp>
        <p:nvSpPr>
          <p:cNvPr id="17" name="Arrow: Right 16">
            <a:extLst>
              <a:ext uri="{FF2B5EF4-FFF2-40B4-BE49-F238E27FC236}">
                <a16:creationId xmlns:a16="http://schemas.microsoft.com/office/drawing/2014/main" id="{562AF00F-F8BE-2EAF-B564-B8A9DC3955EF}"/>
              </a:ext>
            </a:extLst>
          </p:cNvPr>
          <p:cNvSpPr/>
          <p:nvPr/>
        </p:nvSpPr>
        <p:spPr>
          <a:xfrm>
            <a:off x="1647919" y="3228650"/>
            <a:ext cx="533400" cy="4191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0A1B55E6-17E9-148C-C2BA-B310FC6ED9D1}"/>
              </a:ext>
            </a:extLst>
          </p:cNvPr>
          <p:cNvSpPr/>
          <p:nvPr/>
        </p:nvSpPr>
        <p:spPr>
          <a:xfrm>
            <a:off x="4380127" y="3203250"/>
            <a:ext cx="533400" cy="4191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C92BB18-1AC9-3233-DCB4-9803C01FB242}"/>
              </a:ext>
            </a:extLst>
          </p:cNvPr>
          <p:cNvSpPr txBox="1"/>
          <p:nvPr/>
        </p:nvSpPr>
        <p:spPr>
          <a:xfrm>
            <a:off x="7747516" y="3086353"/>
            <a:ext cx="2113827" cy="646331"/>
          </a:xfrm>
          <a:prstGeom prst="rect">
            <a:avLst/>
          </a:prstGeom>
          <a:noFill/>
        </p:spPr>
        <p:txBody>
          <a:bodyPr wrap="square">
            <a:spAutoFit/>
          </a:bodyPr>
          <a:lstStyle/>
          <a:p>
            <a:r>
              <a:rPr lang="en-GB" dirty="0"/>
              <a:t>4. Validation &amp; Verification of DT</a:t>
            </a:r>
            <a:endParaRPr lang="en-US" dirty="0"/>
          </a:p>
        </p:txBody>
      </p:sp>
      <p:sp>
        <p:nvSpPr>
          <p:cNvPr id="20" name="Arrow: Right 19">
            <a:extLst>
              <a:ext uri="{FF2B5EF4-FFF2-40B4-BE49-F238E27FC236}">
                <a16:creationId xmlns:a16="http://schemas.microsoft.com/office/drawing/2014/main" id="{E933EB91-7674-9EB4-609C-6D62617B9436}"/>
              </a:ext>
            </a:extLst>
          </p:cNvPr>
          <p:cNvSpPr/>
          <p:nvPr/>
        </p:nvSpPr>
        <p:spPr>
          <a:xfrm>
            <a:off x="7007843" y="3200448"/>
            <a:ext cx="533400" cy="4191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Curved Up 20">
            <a:extLst>
              <a:ext uri="{FF2B5EF4-FFF2-40B4-BE49-F238E27FC236}">
                <a16:creationId xmlns:a16="http://schemas.microsoft.com/office/drawing/2014/main" id="{0E575EB3-E566-EC4D-D938-FCB8871F2975}"/>
              </a:ext>
            </a:extLst>
          </p:cNvPr>
          <p:cNvSpPr/>
          <p:nvPr/>
        </p:nvSpPr>
        <p:spPr>
          <a:xfrm flipH="1">
            <a:off x="2743200" y="3956730"/>
            <a:ext cx="5778500" cy="2073083"/>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3" name="Picture 22">
            <a:extLst>
              <a:ext uri="{FF2B5EF4-FFF2-40B4-BE49-F238E27FC236}">
                <a16:creationId xmlns:a16="http://schemas.microsoft.com/office/drawing/2014/main" id="{C953AA9E-5892-1BFA-3576-45BAF1E7EC44}"/>
              </a:ext>
            </a:extLst>
          </p:cNvPr>
          <p:cNvPicPr>
            <a:picLocks noChangeAspect="1"/>
          </p:cNvPicPr>
          <p:nvPr/>
        </p:nvPicPr>
        <p:blipFill>
          <a:blip r:embed="rId2"/>
          <a:stretch>
            <a:fillRect/>
          </a:stretch>
        </p:blipFill>
        <p:spPr>
          <a:xfrm>
            <a:off x="191502" y="1730275"/>
            <a:ext cx="1267002" cy="1086002"/>
          </a:xfrm>
          <a:prstGeom prst="rect">
            <a:avLst/>
          </a:prstGeom>
        </p:spPr>
      </p:pic>
      <p:pic>
        <p:nvPicPr>
          <p:cNvPr id="25" name="Picture 24">
            <a:extLst>
              <a:ext uri="{FF2B5EF4-FFF2-40B4-BE49-F238E27FC236}">
                <a16:creationId xmlns:a16="http://schemas.microsoft.com/office/drawing/2014/main" id="{A3395873-73E3-5C07-A7E7-44D8F1A8E9AC}"/>
              </a:ext>
            </a:extLst>
          </p:cNvPr>
          <p:cNvPicPr>
            <a:picLocks noChangeAspect="1"/>
          </p:cNvPicPr>
          <p:nvPr/>
        </p:nvPicPr>
        <p:blipFill>
          <a:blip r:embed="rId3"/>
          <a:stretch>
            <a:fillRect/>
          </a:stretch>
        </p:blipFill>
        <p:spPr>
          <a:xfrm>
            <a:off x="1999631" y="1585731"/>
            <a:ext cx="2572190" cy="1270835"/>
          </a:xfrm>
          <a:prstGeom prst="rect">
            <a:avLst/>
          </a:prstGeom>
        </p:spPr>
      </p:pic>
      <p:sp>
        <p:nvSpPr>
          <p:cNvPr id="26" name="AutoShape 2">
            <a:extLst>
              <a:ext uri="{FF2B5EF4-FFF2-40B4-BE49-F238E27FC236}">
                <a16:creationId xmlns:a16="http://schemas.microsoft.com/office/drawing/2014/main" id="{8ABF0BA2-00A9-909B-C02E-AF482C0D6A9D}"/>
              </a:ext>
            </a:extLst>
          </p:cNvPr>
          <p:cNvSpPr>
            <a:spLocks noChangeAspect="1" noChangeArrowheads="1"/>
          </p:cNvSpPr>
          <p:nvPr/>
        </p:nvSpPr>
        <p:spPr bwMode="auto">
          <a:xfrm>
            <a:off x="5222248" y="313593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8" name="Picture 27">
            <a:extLst>
              <a:ext uri="{FF2B5EF4-FFF2-40B4-BE49-F238E27FC236}">
                <a16:creationId xmlns:a16="http://schemas.microsoft.com/office/drawing/2014/main" id="{875775A2-5648-08C1-4620-D0AB81D248B8}"/>
              </a:ext>
            </a:extLst>
          </p:cNvPr>
          <p:cNvPicPr>
            <a:picLocks noChangeAspect="1"/>
          </p:cNvPicPr>
          <p:nvPr/>
        </p:nvPicPr>
        <p:blipFill>
          <a:blip r:embed="rId4"/>
          <a:stretch>
            <a:fillRect/>
          </a:stretch>
        </p:blipFill>
        <p:spPr>
          <a:xfrm>
            <a:off x="7541243" y="1438926"/>
            <a:ext cx="1638120" cy="1536049"/>
          </a:xfrm>
          <a:prstGeom prst="rect">
            <a:avLst/>
          </a:prstGeom>
        </p:spPr>
      </p:pic>
      <p:pic>
        <p:nvPicPr>
          <p:cNvPr id="30" name="Picture 29">
            <a:extLst>
              <a:ext uri="{FF2B5EF4-FFF2-40B4-BE49-F238E27FC236}">
                <a16:creationId xmlns:a16="http://schemas.microsoft.com/office/drawing/2014/main" id="{6BB304B5-B60C-685D-DD40-4594948A164D}"/>
              </a:ext>
            </a:extLst>
          </p:cNvPr>
          <p:cNvPicPr>
            <a:picLocks noChangeAspect="1"/>
          </p:cNvPicPr>
          <p:nvPr/>
        </p:nvPicPr>
        <p:blipFill>
          <a:blip r:embed="rId5"/>
          <a:stretch>
            <a:fillRect/>
          </a:stretch>
        </p:blipFill>
        <p:spPr>
          <a:xfrm>
            <a:off x="5055156" y="1634382"/>
            <a:ext cx="1638120" cy="1375089"/>
          </a:xfrm>
          <a:prstGeom prst="rect">
            <a:avLst/>
          </a:prstGeom>
        </p:spPr>
      </p:pic>
      <p:sp>
        <p:nvSpPr>
          <p:cNvPr id="31" name="Arrow: Right 30">
            <a:extLst>
              <a:ext uri="{FF2B5EF4-FFF2-40B4-BE49-F238E27FC236}">
                <a16:creationId xmlns:a16="http://schemas.microsoft.com/office/drawing/2014/main" id="{E7A4CA58-1BB9-1670-A41B-CA05CC8EEE2C}"/>
              </a:ext>
            </a:extLst>
          </p:cNvPr>
          <p:cNvSpPr/>
          <p:nvPr/>
        </p:nvSpPr>
        <p:spPr>
          <a:xfrm>
            <a:off x="9693689" y="3227090"/>
            <a:ext cx="533400" cy="4191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120BD496-A32B-990F-5DF7-1BEBC73E9E98}"/>
              </a:ext>
            </a:extLst>
          </p:cNvPr>
          <p:cNvPicPr>
            <a:picLocks noChangeAspect="1"/>
          </p:cNvPicPr>
          <p:nvPr/>
        </p:nvPicPr>
        <p:blipFill>
          <a:blip r:embed="rId6"/>
          <a:stretch>
            <a:fillRect/>
          </a:stretch>
        </p:blipFill>
        <p:spPr>
          <a:xfrm>
            <a:off x="9748078" y="1472285"/>
            <a:ext cx="1163948" cy="1330226"/>
          </a:xfrm>
          <a:prstGeom prst="rect">
            <a:avLst/>
          </a:prstGeom>
        </p:spPr>
      </p:pic>
      <p:pic>
        <p:nvPicPr>
          <p:cNvPr id="33" name="Picture 32">
            <a:extLst>
              <a:ext uri="{FF2B5EF4-FFF2-40B4-BE49-F238E27FC236}">
                <a16:creationId xmlns:a16="http://schemas.microsoft.com/office/drawing/2014/main" id="{9499C1EE-FB40-D817-63A4-AAD1521D5181}"/>
              </a:ext>
            </a:extLst>
          </p:cNvPr>
          <p:cNvPicPr>
            <a:picLocks noChangeAspect="1"/>
          </p:cNvPicPr>
          <p:nvPr/>
        </p:nvPicPr>
        <p:blipFill>
          <a:blip r:embed="rId7"/>
          <a:stretch>
            <a:fillRect/>
          </a:stretch>
        </p:blipFill>
        <p:spPr>
          <a:xfrm>
            <a:off x="10542363" y="1824255"/>
            <a:ext cx="1126519" cy="1284375"/>
          </a:xfrm>
          <a:prstGeom prst="rect">
            <a:avLst/>
          </a:prstGeom>
        </p:spPr>
      </p:pic>
      <p:sp>
        <p:nvSpPr>
          <p:cNvPr id="36" name="TextBox 35">
            <a:extLst>
              <a:ext uri="{FF2B5EF4-FFF2-40B4-BE49-F238E27FC236}">
                <a16:creationId xmlns:a16="http://schemas.microsoft.com/office/drawing/2014/main" id="{955B4066-B5F1-8ED9-A484-EBDEF770E0DC}"/>
              </a:ext>
            </a:extLst>
          </p:cNvPr>
          <p:cNvSpPr txBox="1"/>
          <p:nvPr/>
        </p:nvSpPr>
        <p:spPr>
          <a:xfrm>
            <a:off x="10330052" y="3133564"/>
            <a:ext cx="1533111" cy="646331"/>
          </a:xfrm>
          <a:prstGeom prst="rect">
            <a:avLst/>
          </a:prstGeom>
          <a:noFill/>
        </p:spPr>
        <p:txBody>
          <a:bodyPr wrap="square">
            <a:spAutoFit/>
          </a:bodyPr>
          <a:lstStyle/>
          <a:p>
            <a:r>
              <a:rPr lang="en-GB" dirty="0"/>
              <a:t>5. Prototype of DT (MVP)</a:t>
            </a:r>
            <a:endParaRPr lang="en-US" dirty="0"/>
          </a:p>
        </p:txBody>
      </p:sp>
      <p:pic>
        <p:nvPicPr>
          <p:cNvPr id="38" name="Picture 37">
            <a:extLst>
              <a:ext uri="{FF2B5EF4-FFF2-40B4-BE49-F238E27FC236}">
                <a16:creationId xmlns:a16="http://schemas.microsoft.com/office/drawing/2014/main" id="{9B359C63-7B8A-5B86-EA53-AC8E6FA4E5C4}"/>
              </a:ext>
            </a:extLst>
          </p:cNvPr>
          <p:cNvPicPr>
            <a:picLocks noChangeAspect="1"/>
          </p:cNvPicPr>
          <p:nvPr/>
        </p:nvPicPr>
        <p:blipFill>
          <a:blip r:embed="rId8"/>
          <a:stretch>
            <a:fillRect/>
          </a:stretch>
        </p:blipFill>
        <p:spPr>
          <a:xfrm>
            <a:off x="9583543" y="3709544"/>
            <a:ext cx="606048" cy="488165"/>
          </a:xfrm>
          <a:prstGeom prst="rect">
            <a:avLst/>
          </a:prstGeom>
        </p:spPr>
      </p:pic>
      <p:pic>
        <p:nvPicPr>
          <p:cNvPr id="40" name="Picture 39">
            <a:extLst>
              <a:ext uri="{FF2B5EF4-FFF2-40B4-BE49-F238E27FC236}">
                <a16:creationId xmlns:a16="http://schemas.microsoft.com/office/drawing/2014/main" id="{41122655-E75B-C4F1-450D-1C5F2D7078F2}"/>
              </a:ext>
            </a:extLst>
          </p:cNvPr>
          <p:cNvPicPr>
            <a:picLocks noChangeAspect="1"/>
          </p:cNvPicPr>
          <p:nvPr/>
        </p:nvPicPr>
        <p:blipFill>
          <a:blip r:embed="rId9"/>
          <a:stretch>
            <a:fillRect/>
          </a:stretch>
        </p:blipFill>
        <p:spPr>
          <a:xfrm>
            <a:off x="8584280" y="4016526"/>
            <a:ext cx="530554" cy="495085"/>
          </a:xfrm>
          <a:prstGeom prst="rect">
            <a:avLst/>
          </a:prstGeom>
        </p:spPr>
      </p:pic>
    </p:spTree>
    <p:extLst>
      <p:ext uri="{BB962C8B-B14F-4D97-AF65-F5344CB8AC3E}">
        <p14:creationId xmlns:p14="http://schemas.microsoft.com/office/powerpoint/2010/main" val="1220096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Data collection and processing</a:t>
            </a:r>
            <a:endParaRPr lang="es-ES" dirty="0"/>
          </a:p>
        </p:txBody>
      </p:sp>
      <p:pic>
        <p:nvPicPr>
          <p:cNvPr id="5" name="Picture 4">
            <a:extLst>
              <a:ext uri="{FF2B5EF4-FFF2-40B4-BE49-F238E27FC236}">
                <a16:creationId xmlns:a16="http://schemas.microsoft.com/office/drawing/2014/main" id="{B8FF843A-A6E1-E11B-D7C3-B2BBAD1B372F}"/>
              </a:ext>
            </a:extLst>
          </p:cNvPr>
          <p:cNvPicPr>
            <a:picLocks noChangeAspect="1"/>
          </p:cNvPicPr>
          <p:nvPr/>
        </p:nvPicPr>
        <p:blipFill>
          <a:blip r:embed="rId2"/>
          <a:stretch>
            <a:fillRect/>
          </a:stretch>
        </p:blipFill>
        <p:spPr>
          <a:xfrm>
            <a:off x="664902" y="1686643"/>
            <a:ext cx="3724795" cy="695422"/>
          </a:xfrm>
          <a:prstGeom prst="rect">
            <a:avLst/>
          </a:prstGeom>
        </p:spPr>
      </p:pic>
      <p:sp>
        <p:nvSpPr>
          <p:cNvPr id="4" name="TextBox 3">
            <a:extLst>
              <a:ext uri="{FF2B5EF4-FFF2-40B4-BE49-F238E27FC236}">
                <a16:creationId xmlns:a16="http://schemas.microsoft.com/office/drawing/2014/main" id="{06F6A6AA-3A75-24A9-1B76-00DE4EB07DA9}"/>
              </a:ext>
            </a:extLst>
          </p:cNvPr>
          <p:cNvSpPr txBox="1"/>
          <p:nvPr/>
        </p:nvSpPr>
        <p:spPr>
          <a:xfrm>
            <a:off x="560244" y="1266979"/>
            <a:ext cx="11326955" cy="369332"/>
          </a:xfrm>
          <a:prstGeom prst="rect">
            <a:avLst/>
          </a:prstGeom>
          <a:noFill/>
        </p:spPr>
        <p:txBody>
          <a:bodyPr wrap="square">
            <a:spAutoFit/>
          </a:bodyPr>
          <a:lstStyle/>
          <a:p>
            <a:r>
              <a:rPr lang="en-GB" b="1" dirty="0"/>
              <a:t>Historic data</a:t>
            </a:r>
            <a:r>
              <a:rPr lang="en-GB" dirty="0"/>
              <a:t>: csv in a 7z compress file/month </a:t>
            </a:r>
            <a:r>
              <a:rPr lang="en-GB" dirty="0">
                <a:sym typeface="Wingdings" panose="05000000000000000000" pitchFamily="2" charset="2"/>
              </a:rPr>
              <a:t> </a:t>
            </a:r>
            <a:r>
              <a:rPr lang="en-GB" dirty="0">
                <a:highlight>
                  <a:srgbClr val="00FFFF"/>
                </a:highlight>
              </a:rPr>
              <a:t>Open Data </a:t>
            </a:r>
            <a:r>
              <a:rPr lang="en-GB" dirty="0" err="1">
                <a:highlight>
                  <a:srgbClr val="00FFFF"/>
                </a:highlight>
              </a:rPr>
              <a:t>BaCN</a:t>
            </a:r>
            <a:r>
              <a:rPr lang="en-GB" dirty="0">
                <a:highlight>
                  <a:srgbClr val="00FFFF"/>
                </a:highlight>
              </a:rPr>
              <a:t>                             		                                   . </a:t>
            </a:r>
            <a:endParaRPr lang="en-US" dirty="0">
              <a:highlight>
                <a:srgbClr val="00FFFF"/>
              </a:highlight>
            </a:endParaRPr>
          </a:p>
        </p:txBody>
      </p:sp>
      <p:pic>
        <p:nvPicPr>
          <p:cNvPr id="7" name="Picture 6">
            <a:extLst>
              <a:ext uri="{FF2B5EF4-FFF2-40B4-BE49-F238E27FC236}">
                <a16:creationId xmlns:a16="http://schemas.microsoft.com/office/drawing/2014/main" id="{B4BD67D3-21A9-0A8F-1394-5E92E7AED533}"/>
              </a:ext>
            </a:extLst>
          </p:cNvPr>
          <p:cNvPicPr>
            <a:picLocks noChangeAspect="1"/>
          </p:cNvPicPr>
          <p:nvPr/>
        </p:nvPicPr>
        <p:blipFill>
          <a:blip r:embed="rId3"/>
          <a:stretch>
            <a:fillRect/>
          </a:stretch>
        </p:blipFill>
        <p:spPr>
          <a:xfrm>
            <a:off x="664902" y="2614498"/>
            <a:ext cx="4827206" cy="2367668"/>
          </a:xfrm>
          <a:prstGeom prst="rect">
            <a:avLst/>
          </a:prstGeom>
        </p:spPr>
      </p:pic>
      <p:sp>
        <p:nvSpPr>
          <p:cNvPr id="10" name="TextBox 9">
            <a:extLst>
              <a:ext uri="{FF2B5EF4-FFF2-40B4-BE49-F238E27FC236}">
                <a16:creationId xmlns:a16="http://schemas.microsoft.com/office/drawing/2014/main" id="{CFBC2117-2ED6-AA42-7DD1-8D0087151F78}"/>
              </a:ext>
            </a:extLst>
          </p:cNvPr>
          <p:cNvSpPr txBox="1"/>
          <p:nvPr/>
        </p:nvSpPr>
        <p:spPr>
          <a:xfrm>
            <a:off x="5572882" y="1849688"/>
            <a:ext cx="6096000" cy="954107"/>
          </a:xfrm>
          <a:prstGeom prst="rect">
            <a:avLst/>
          </a:prstGeom>
          <a:noFill/>
        </p:spPr>
        <p:txBody>
          <a:bodyPr wrap="square">
            <a:spAutoFit/>
          </a:bodyPr>
          <a:lstStyle/>
          <a:p>
            <a:r>
              <a:rPr lang="en-GB" sz="1400" dirty="0">
                <a:solidFill>
                  <a:srgbClr val="0070C0"/>
                </a:solidFill>
              </a:rPr>
              <a:t>Data used for prediction and evaluation</a:t>
            </a:r>
            <a:r>
              <a:rPr lang="en-GB" sz="1400" dirty="0"/>
              <a:t>: register each 5’</a:t>
            </a:r>
            <a:r>
              <a:rPr lang="en-GB" sz="1400" dirty="0">
                <a:sym typeface="Wingdings" panose="05000000000000000000" pitchFamily="2" charset="2"/>
              </a:rPr>
              <a:t> (3,5 GB for a Year) </a:t>
            </a:r>
            <a:endParaRPr lang="en-GB" sz="1400" dirty="0"/>
          </a:p>
          <a:p>
            <a:r>
              <a:rPr lang="en-GB" sz="1400" dirty="0" err="1"/>
              <a:t>TimeStamp</a:t>
            </a:r>
            <a:r>
              <a:rPr lang="en-GB" sz="1400" dirty="0"/>
              <a:t> / Unique Station Id / Total free decks / Total available Bikes </a:t>
            </a:r>
          </a:p>
          <a:p>
            <a:r>
              <a:rPr lang="en-GB" sz="1400" dirty="0">
                <a:solidFill>
                  <a:srgbClr val="0070C0"/>
                </a:solidFill>
              </a:rPr>
              <a:t>Inventory data</a:t>
            </a:r>
            <a:r>
              <a:rPr lang="en-GB" sz="1400" dirty="0"/>
              <a:t>: </a:t>
            </a:r>
          </a:p>
          <a:p>
            <a:r>
              <a:rPr lang="en-GB" sz="1400" dirty="0"/>
              <a:t>Unique Station Id / Name (Address) / </a:t>
            </a:r>
            <a:r>
              <a:rPr lang="en-GB" sz="1400" dirty="0" err="1"/>
              <a:t>Sataion</a:t>
            </a:r>
            <a:r>
              <a:rPr lang="en-GB" sz="1400" dirty="0"/>
              <a:t> X,Y Position /Total decks </a:t>
            </a:r>
            <a:endParaRPr lang="en-US" sz="1400" dirty="0"/>
          </a:p>
        </p:txBody>
      </p:sp>
      <p:pic>
        <p:nvPicPr>
          <p:cNvPr id="12" name="Picture 11">
            <a:extLst>
              <a:ext uri="{FF2B5EF4-FFF2-40B4-BE49-F238E27FC236}">
                <a16:creationId xmlns:a16="http://schemas.microsoft.com/office/drawing/2014/main" id="{FA4B97D4-F20A-8C57-EBF2-C9D1A3E0DCAE}"/>
              </a:ext>
            </a:extLst>
          </p:cNvPr>
          <p:cNvPicPr>
            <a:picLocks noChangeAspect="1"/>
          </p:cNvPicPr>
          <p:nvPr/>
        </p:nvPicPr>
        <p:blipFill>
          <a:blip r:embed="rId4"/>
          <a:stretch>
            <a:fillRect/>
          </a:stretch>
        </p:blipFill>
        <p:spPr>
          <a:xfrm>
            <a:off x="6794930" y="3195731"/>
            <a:ext cx="3651904" cy="1205201"/>
          </a:xfrm>
          <a:prstGeom prst="rect">
            <a:avLst/>
          </a:prstGeom>
        </p:spPr>
      </p:pic>
      <p:sp>
        <p:nvSpPr>
          <p:cNvPr id="14" name="TextBox 13">
            <a:extLst>
              <a:ext uri="{FF2B5EF4-FFF2-40B4-BE49-F238E27FC236}">
                <a16:creationId xmlns:a16="http://schemas.microsoft.com/office/drawing/2014/main" id="{E2E212AA-560F-14CA-0DF3-8DE582E1F440}"/>
              </a:ext>
            </a:extLst>
          </p:cNvPr>
          <p:cNvSpPr txBox="1"/>
          <p:nvPr/>
        </p:nvSpPr>
        <p:spPr>
          <a:xfrm>
            <a:off x="9372600" y="4400932"/>
            <a:ext cx="1625600" cy="461665"/>
          </a:xfrm>
          <a:prstGeom prst="rect">
            <a:avLst/>
          </a:prstGeom>
          <a:noFill/>
        </p:spPr>
        <p:txBody>
          <a:bodyPr wrap="square">
            <a:spAutoFit/>
          </a:bodyPr>
          <a:lstStyle/>
          <a:p>
            <a:r>
              <a:rPr lang="en-GB" sz="1200" dirty="0"/>
              <a:t>Stations with NO Data</a:t>
            </a:r>
          </a:p>
          <a:p>
            <a:r>
              <a:rPr lang="en-GB" sz="1200" dirty="0"/>
              <a:t>Aggregate data to 1h</a:t>
            </a:r>
            <a:endParaRPr lang="en-US" sz="1200" dirty="0"/>
          </a:p>
        </p:txBody>
      </p:sp>
      <p:sp>
        <p:nvSpPr>
          <p:cNvPr id="16" name="TextBox 15">
            <a:extLst>
              <a:ext uri="{FF2B5EF4-FFF2-40B4-BE49-F238E27FC236}">
                <a16:creationId xmlns:a16="http://schemas.microsoft.com/office/drawing/2014/main" id="{A8A535E0-95F8-174B-E907-C4E46D23C25F}"/>
              </a:ext>
            </a:extLst>
          </p:cNvPr>
          <p:cNvSpPr txBox="1"/>
          <p:nvPr/>
        </p:nvSpPr>
        <p:spPr>
          <a:xfrm>
            <a:off x="8089900" y="4400932"/>
            <a:ext cx="1282700" cy="461665"/>
          </a:xfrm>
          <a:prstGeom prst="rect">
            <a:avLst/>
          </a:prstGeom>
          <a:noFill/>
        </p:spPr>
        <p:txBody>
          <a:bodyPr wrap="square">
            <a:spAutoFit/>
          </a:bodyPr>
          <a:lstStyle/>
          <a:p>
            <a:r>
              <a:rPr lang="en-GB" sz="1200" dirty="0"/>
              <a:t>Check Data</a:t>
            </a:r>
          </a:p>
          <a:p>
            <a:r>
              <a:rPr lang="en-GB" sz="1200" dirty="0"/>
              <a:t>Erase Data </a:t>
            </a:r>
            <a:endParaRPr lang="en-US" sz="1200" dirty="0"/>
          </a:p>
        </p:txBody>
      </p:sp>
    </p:spTree>
    <p:extLst>
      <p:ext uri="{BB962C8B-B14F-4D97-AF65-F5344CB8AC3E}">
        <p14:creationId xmlns:p14="http://schemas.microsoft.com/office/powerpoint/2010/main" val="2407621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Data collection and processing</a:t>
            </a:r>
            <a:endParaRPr lang="es-ES" dirty="0"/>
          </a:p>
        </p:txBody>
      </p:sp>
      <p:sp>
        <p:nvSpPr>
          <p:cNvPr id="4" name="TextBox 3">
            <a:extLst>
              <a:ext uri="{FF2B5EF4-FFF2-40B4-BE49-F238E27FC236}">
                <a16:creationId xmlns:a16="http://schemas.microsoft.com/office/drawing/2014/main" id="{FAC66291-3778-F3B4-606F-E196BA4E0B1C}"/>
              </a:ext>
            </a:extLst>
          </p:cNvPr>
          <p:cNvSpPr txBox="1"/>
          <p:nvPr/>
        </p:nvSpPr>
        <p:spPr>
          <a:xfrm>
            <a:off x="560246" y="3591168"/>
            <a:ext cx="11577674" cy="369332"/>
          </a:xfrm>
          <a:prstGeom prst="rect">
            <a:avLst/>
          </a:prstGeom>
          <a:noFill/>
        </p:spPr>
        <p:txBody>
          <a:bodyPr wrap="square">
            <a:spAutoFit/>
          </a:bodyPr>
          <a:lstStyle/>
          <a:p>
            <a:r>
              <a:rPr lang="en-GB" b="1" dirty="0"/>
              <a:t>background map </a:t>
            </a:r>
            <a:r>
              <a:rPr lang="en-GB" dirty="0"/>
              <a:t>: Vectorial tiles maps services </a:t>
            </a:r>
            <a:r>
              <a:rPr lang="en-GB" dirty="0">
                <a:sym typeface="Wingdings" panose="05000000000000000000" pitchFamily="2" charset="2"/>
              </a:rPr>
              <a:t> </a:t>
            </a:r>
            <a:r>
              <a:rPr lang="en-GB" dirty="0">
                <a:highlight>
                  <a:srgbClr val="00FFFF"/>
                </a:highlight>
              </a:rPr>
              <a:t>Topographical Map Base (BTN) of the National Institute of Geography</a:t>
            </a:r>
            <a:endParaRPr lang="en-US" dirty="0">
              <a:highlight>
                <a:srgbClr val="00FFFF"/>
              </a:highlight>
            </a:endParaRPr>
          </a:p>
        </p:txBody>
      </p:sp>
      <p:pic>
        <p:nvPicPr>
          <p:cNvPr id="6" name="Picture 5">
            <a:extLst>
              <a:ext uri="{FF2B5EF4-FFF2-40B4-BE49-F238E27FC236}">
                <a16:creationId xmlns:a16="http://schemas.microsoft.com/office/drawing/2014/main" id="{8650243C-1E65-0705-1FFB-46206B6A5CD9}"/>
              </a:ext>
            </a:extLst>
          </p:cNvPr>
          <p:cNvPicPr>
            <a:picLocks noChangeAspect="1"/>
          </p:cNvPicPr>
          <p:nvPr/>
        </p:nvPicPr>
        <p:blipFill>
          <a:blip r:embed="rId2"/>
          <a:stretch>
            <a:fillRect/>
          </a:stretch>
        </p:blipFill>
        <p:spPr>
          <a:xfrm>
            <a:off x="613718" y="4032090"/>
            <a:ext cx="1558179" cy="1883267"/>
          </a:xfrm>
          <a:prstGeom prst="rect">
            <a:avLst/>
          </a:prstGeom>
        </p:spPr>
      </p:pic>
      <p:sp>
        <p:nvSpPr>
          <p:cNvPr id="7" name="Arrow: Right 6">
            <a:extLst>
              <a:ext uri="{FF2B5EF4-FFF2-40B4-BE49-F238E27FC236}">
                <a16:creationId xmlns:a16="http://schemas.microsoft.com/office/drawing/2014/main" id="{5EB95E41-73FA-DA45-8B2C-D58CB0621341}"/>
              </a:ext>
            </a:extLst>
          </p:cNvPr>
          <p:cNvSpPr/>
          <p:nvPr/>
        </p:nvSpPr>
        <p:spPr>
          <a:xfrm>
            <a:off x="2361406" y="4791823"/>
            <a:ext cx="418454"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2973A70-D349-00CD-FF9C-6EE5B878C204}"/>
              </a:ext>
            </a:extLst>
          </p:cNvPr>
          <p:cNvPicPr>
            <a:picLocks noChangeAspect="1"/>
          </p:cNvPicPr>
          <p:nvPr/>
        </p:nvPicPr>
        <p:blipFill>
          <a:blip r:embed="rId3"/>
          <a:stretch>
            <a:fillRect/>
          </a:stretch>
        </p:blipFill>
        <p:spPr>
          <a:xfrm>
            <a:off x="2969369" y="4032090"/>
            <a:ext cx="1484458" cy="1883267"/>
          </a:xfrm>
          <a:prstGeom prst="rect">
            <a:avLst/>
          </a:prstGeom>
        </p:spPr>
      </p:pic>
      <p:sp>
        <p:nvSpPr>
          <p:cNvPr id="11" name="TextBox 10">
            <a:extLst>
              <a:ext uri="{FF2B5EF4-FFF2-40B4-BE49-F238E27FC236}">
                <a16:creationId xmlns:a16="http://schemas.microsoft.com/office/drawing/2014/main" id="{3F20758C-FA49-8FC0-8A83-76BFA37FE551}"/>
              </a:ext>
            </a:extLst>
          </p:cNvPr>
          <p:cNvSpPr txBox="1"/>
          <p:nvPr/>
        </p:nvSpPr>
        <p:spPr>
          <a:xfrm>
            <a:off x="5364725" y="3960500"/>
            <a:ext cx="6379906" cy="1815882"/>
          </a:xfrm>
          <a:prstGeom prst="rect">
            <a:avLst/>
          </a:prstGeom>
          <a:solidFill>
            <a:schemeClr val="bg1">
              <a:lumMod val="85000"/>
            </a:schemeClr>
          </a:solidFill>
        </p:spPr>
        <p:txBody>
          <a:bodyPr wrap="square">
            <a:spAutoFit/>
          </a:bodyPr>
          <a:lstStyle/>
          <a:p>
            <a:r>
              <a:rPr lang="en-GB" sz="1600" b="1" dirty="0"/>
              <a:t>VTL advantages from raster tiles</a:t>
            </a:r>
            <a:r>
              <a:rPr lang="en-GB" sz="1600" dirty="0"/>
              <a:t>: </a:t>
            </a:r>
          </a:p>
          <a:p>
            <a:r>
              <a:rPr lang="en-GB" sz="1600" dirty="0"/>
              <a:t> Style is defined on the client side – not in the provider  Allowing to have multiple maps with only one tile information service. </a:t>
            </a:r>
          </a:p>
          <a:p>
            <a:r>
              <a:rPr lang="en-GB" sz="1600" dirty="0"/>
              <a:t> Over zoom keeps resolution </a:t>
            </a:r>
          </a:p>
          <a:p>
            <a:r>
              <a:rPr lang="en-GB" sz="1600" dirty="0"/>
              <a:t> Cache takes up much less space. (maximum 500Kb) appropriate for temporal offline situations </a:t>
            </a:r>
          </a:p>
          <a:p>
            <a:r>
              <a:rPr lang="en-GB" sz="1600" dirty="0"/>
              <a:t> Native access to object information (attributes and geometry)</a:t>
            </a:r>
            <a:endParaRPr lang="en-US" sz="1600" dirty="0"/>
          </a:p>
        </p:txBody>
      </p:sp>
      <p:sp>
        <p:nvSpPr>
          <p:cNvPr id="13" name="TextBox 12">
            <a:extLst>
              <a:ext uri="{FF2B5EF4-FFF2-40B4-BE49-F238E27FC236}">
                <a16:creationId xmlns:a16="http://schemas.microsoft.com/office/drawing/2014/main" id="{88C04F87-3ADE-30E9-09E9-4595190B79C6}"/>
              </a:ext>
            </a:extLst>
          </p:cNvPr>
          <p:cNvSpPr txBox="1"/>
          <p:nvPr/>
        </p:nvSpPr>
        <p:spPr>
          <a:xfrm>
            <a:off x="560244" y="1266979"/>
            <a:ext cx="11326955" cy="369332"/>
          </a:xfrm>
          <a:prstGeom prst="rect">
            <a:avLst/>
          </a:prstGeom>
          <a:noFill/>
        </p:spPr>
        <p:txBody>
          <a:bodyPr wrap="square">
            <a:spAutoFit/>
          </a:bodyPr>
          <a:lstStyle/>
          <a:p>
            <a:r>
              <a:rPr lang="en-GB" b="1" dirty="0"/>
              <a:t>data concerning status</a:t>
            </a:r>
            <a:r>
              <a:rPr lang="en-GB" dirty="0"/>
              <a:t>: standard GBFS Json file </a:t>
            </a:r>
            <a:r>
              <a:rPr lang="en-GB" dirty="0">
                <a:sym typeface="Wingdings" panose="05000000000000000000" pitchFamily="2" charset="2"/>
              </a:rPr>
              <a:t> </a:t>
            </a:r>
            <a:r>
              <a:rPr lang="en-GB" dirty="0">
                <a:highlight>
                  <a:srgbClr val="00FFFF"/>
                </a:highlight>
              </a:rPr>
              <a:t>Barcelona Public Bike System                                                                    . </a:t>
            </a:r>
            <a:endParaRPr lang="en-US" dirty="0">
              <a:highlight>
                <a:srgbClr val="00FFFF"/>
              </a:highlight>
            </a:endParaRPr>
          </a:p>
        </p:txBody>
      </p:sp>
      <p:sp>
        <p:nvSpPr>
          <p:cNvPr id="15" name="TextBox 14">
            <a:extLst>
              <a:ext uri="{FF2B5EF4-FFF2-40B4-BE49-F238E27FC236}">
                <a16:creationId xmlns:a16="http://schemas.microsoft.com/office/drawing/2014/main" id="{B4F1235E-2A12-F39E-5168-985584FA43A3}"/>
              </a:ext>
            </a:extLst>
          </p:cNvPr>
          <p:cNvSpPr txBox="1"/>
          <p:nvPr/>
        </p:nvSpPr>
        <p:spPr>
          <a:xfrm>
            <a:off x="5364724" y="1665243"/>
            <a:ext cx="6304157" cy="1077218"/>
          </a:xfrm>
          <a:prstGeom prst="rect">
            <a:avLst/>
          </a:prstGeom>
          <a:solidFill>
            <a:schemeClr val="bg1">
              <a:lumMod val="85000"/>
            </a:schemeClr>
          </a:solidFill>
        </p:spPr>
        <p:txBody>
          <a:bodyPr wrap="square">
            <a:spAutoFit/>
          </a:bodyPr>
          <a:lstStyle/>
          <a:p>
            <a:r>
              <a:rPr lang="en-GB" sz="1600" b="1" dirty="0"/>
              <a:t>GBFS (https://gbfs.org/) </a:t>
            </a:r>
            <a:r>
              <a:rPr lang="en-GB" sz="1600" dirty="0"/>
              <a:t>provides a common language for shared mobility operators to share information about services available to travellers. GBFS includes information about vehicles, stations, pricing and more. It is used by trip planning and Mobility as a Service (</a:t>
            </a:r>
            <a:r>
              <a:rPr lang="en-GB" sz="1600" dirty="0" err="1"/>
              <a:t>MaaS</a:t>
            </a:r>
            <a:r>
              <a:rPr lang="en-GB" sz="1600" dirty="0"/>
              <a:t>) applications</a:t>
            </a:r>
            <a:endParaRPr lang="en-US" sz="1600" dirty="0"/>
          </a:p>
        </p:txBody>
      </p:sp>
      <p:sp>
        <p:nvSpPr>
          <p:cNvPr id="17" name="TextBox 16">
            <a:extLst>
              <a:ext uri="{FF2B5EF4-FFF2-40B4-BE49-F238E27FC236}">
                <a16:creationId xmlns:a16="http://schemas.microsoft.com/office/drawing/2014/main" id="{48042DD5-FA00-ABED-880D-82C761FC13CF}"/>
              </a:ext>
            </a:extLst>
          </p:cNvPr>
          <p:cNvSpPr txBox="1"/>
          <p:nvPr/>
        </p:nvSpPr>
        <p:spPr>
          <a:xfrm>
            <a:off x="629332" y="5877158"/>
            <a:ext cx="1558179" cy="369332"/>
          </a:xfrm>
          <a:prstGeom prst="rect">
            <a:avLst/>
          </a:prstGeom>
          <a:solidFill>
            <a:schemeClr val="accent5">
              <a:lumMod val="20000"/>
              <a:lumOff val="80000"/>
            </a:schemeClr>
          </a:solidFill>
        </p:spPr>
        <p:txBody>
          <a:bodyPr wrap="square">
            <a:spAutoFit/>
          </a:bodyPr>
          <a:lstStyle/>
          <a:p>
            <a:r>
              <a:rPr lang="en-GB" dirty="0"/>
              <a:t>Raster</a:t>
            </a:r>
            <a:endParaRPr lang="en-US" dirty="0"/>
          </a:p>
        </p:txBody>
      </p:sp>
      <p:sp>
        <p:nvSpPr>
          <p:cNvPr id="18" name="TextBox 17">
            <a:extLst>
              <a:ext uri="{FF2B5EF4-FFF2-40B4-BE49-F238E27FC236}">
                <a16:creationId xmlns:a16="http://schemas.microsoft.com/office/drawing/2014/main" id="{2E5EACD7-1128-698E-0C3A-D523CA622069}"/>
              </a:ext>
            </a:extLst>
          </p:cNvPr>
          <p:cNvSpPr txBox="1"/>
          <p:nvPr/>
        </p:nvSpPr>
        <p:spPr>
          <a:xfrm>
            <a:off x="2969370" y="5893160"/>
            <a:ext cx="1484458" cy="369332"/>
          </a:xfrm>
          <a:prstGeom prst="rect">
            <a:avLst/>
          </a:prstGeom>
          <a:solidFill>
            <a:schemeClr val="accent5">
              <a:lumMod val="20000"/>
              <a:lumOff val="80000"/>
            </a:schemeClr>
          </a:solidFill>
        </p:spPr>
        <p:txBody>
          <a:bodyPr wrap="square">
            <a:spAutoFit/>
          </a:bodyPr>
          <a:lstStyle/>
          <a:p>
            <a:r>
              <a:rPr lang="en-GB" dirty="0"/>
              <a:t> VTL</a:t>
            </a:r>
            <a:endParaRPr lang="en-US" dirty="0"/>
          </a:p>
        </p:txBody>
      </p:sp>
      <p:pic>
        <p:nvPicPr>
          <p:cNvPr id="22" name="Picture 21">
            <a:extLst>
              <a:ext uri="{FF2B5EF4-FFF2-40B4-BE49-F238E27FC236}">
                <a16:creationId xmlns:a16="http://schemas.microsoft.com/office/drawing/2014/main" id="{EEE3920B-1D87-BE32-6DBD-462D1D393D54}"/>
              </a:ext>
            </a:extLst>
          </p:cNvPr>
          <p:cNvPicPr>
            <a:picLocks noChangeAspect="1"/>
          </p:cNvPicPr>
          <p:nvPr/>
        </p:nvPicPr>
        <p:blipFill>
          <a:blip r:embed="rId4"/>
          <a:stretch>
            <a:fillRect/>
          </a:stretch>
        </p:blipFill>
        <p:spPr>
          <a:xfrm>
            <a:off x="545031" y="1613734"/>
            <a:ext cx="2654904" cy="1883647"/>
          </a:xfrm>
          <a:prstGeom prst="rect">
            <a:avLst/>
          </a:prstGeom>
        </p:spPr>
      </p:pic>
      <p:sp>
        <p:nvSpPr>
          <p:cNvPr id="24" name="TextBox 23">
            <a:extLst>
              <a:ext uri="{FF2B5EF4-FFF2-40B4-BE49-F238E27FC236}">
                <a16:creationId xmlns:a16="http://schemas.microsoft.com/office/drawing/2014/main" id="{DB49077B-5E74-CA15-1B5A-25BD37999B37}"/>
              </a:ext>
            </a:extLst>
          </p:cNvPr>
          <p:cNvSpPr txBox="1"/>
          <p:nvPr/>
        </p:nvSpPr>
        <p:spPr>
          <a:xfrm>
            <a:off x="5270500" y="2806338"/>
            <a:ext cx="6096000" cy="307777"/>
          </a:xfrm>
          <a:prstGeom prst="rect">
            <a:avLst/>
          </a:prstGeom>
          <a:noFill/>
        </p:spPr>
        <p:txBody>
          <a:bodyPr wrap="square">
            <a:spAutoFit/>
          </a:bodyPr>
          <a:lstStyle/>
          <a:p>
            <a:r>
              <a:rPr lang="en-US" sz="1400" dirty="0">
                <a:solidFill>
                  <a:srgbClr val="0070C0"/>
                </a:solidFill>
                <a:hlinkClick r:id="rId5"/>
              </a:rPr>
              <a:t>https://barcelona.publicbikesystem.net/customer/gbfs/v2/en/station_status</a:t>
            </a:r>
            <a:endParaRPr lang="en-US" sz="1400" dirty="0">
              <a:solidFill>
                <a:srgbClr val="0070C0"/>
              </a:solidFill>
            </a:endParaRPr>
          </a:p>
        </p:txBody>
      </p:sp>
    </p:spTree>
    <p:extLst>
      <p:ext uri="{BB962C8B-B14F-4D97-AF65-F5344CB8AC3E}">
        <p14:creationId xmlns:p14="http://schemas.microsoft.com/office/powerpoint/2010/main" val="1349879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Modelling of the physical system</a:t>
            </a:r>
            <a:endParaRPr lang="es-ES" dirty="0"/>
          </a:p>
        </p:txBody>
      </p:sp>
      <p:pic>
        <p:nvPicPr>
          <p:cNvPr id="4" name="Picture 3">
            <a:extLst>
              <a:ext uri="{FF2B5EF4-FFF2-40B4-BE49-F238E27FC236}">
                <a16:creationId xmlns:a16="http://schemas.microsoft.com/office/drawing/2014/main" id="{20C6BE7B-958E-888E-B4D5-5FF68DB49EFB}"/>
              </a:ext>
            </a:extLst>
          </p:cNvPr>
          <p:cNvPicPr>
            <a:picLocks noChangeAspect="1"/>
          </p:cNvPicPr>
          <p:nvPr/>
        </p:nvPicPr>
        <p:blipFill>
          <a:blip r:embed="rId2"/>
          <a:stretch>
            <a:fillRect/>
          </a:stretch>
        </p:blipFill>
        <p:spPr>
          <a:xfrm>
            <a:off x="4064000" y="1328667"/>
            <a:ext cx="7480300" cy="4415019"/>
          </a:xfrm>
          <a:prstGeom prst="rect">
            <a:avLst/>
          </a:prstGeom>
        </p:spPr>
      </p:pic>
      <p:sp>
        <p:nvSpPr>
          <p:cNvPr id="11" name="TextBox 10">
            <a:extLst>
              <a:ext uri="{FF2B5EF4-FFF2-40B4-BE49-F238E27FC236}">
                <a16:creationId xmlns:a16="http://schemas.microsoft.com/office/drawing/2014/main" id="{ED399B83-F28E-BEC4-9CEB-2E8463B219EE}"/>
              </a:ext>
            </a:extLst>
          </p:cNvPr>
          <p:cNvSpPr txBox="1"/>
          <p:nvPr/>
        </p:nvSpPr>
        <p:spPr>
          <a:xfrm>
            <a:off x="749300" y="1965947"/>
            <a:ext cx="2849991" cy="2893100"/>
          </a:xfrm>
          <a:prstGeom prst="rect">
            <a:avLst/>
          </a:prstGeom>
          <a:noFill/>
        </p:spPr>
        <p:txBody>
          <a:bodyPr wrap="square">
            <a:spAutoFit/>
          </a:bodyPr>
          <a:lstStyle/>
          <a:p>
            <a:r>
              <a:rPr lang="en-GB" sz="1400" dirty="0"/>
              <a:t>The elements of the physical system that need to be modelled are: </a:t>
            </a:r>
          </a:p>
          <a:p>
            <a:r>
              <a:rPr lang="en-GB" sz="1400" dirty="0"/>
              <a:t>      </a:t>
            </a:r>
            <a:r>
              <a:rPr lang="en-GB" sz="1400" dirty="0">
                <a:solidFill>
                  <a:srgbClr val="0070C0"/>
                </a:solidFill>
              </a:rPr>
              <a:t>The stations. </a:t>
            </a:r>
          </a:p>
          <a:p>
            <a:r>
              <a:rPr lang="en-GB" sz="1400" dirty="0">
                <a:solidFill>
                  <a:srgbClr val="0070C0"/>
                </a:solidFill>
              </a:rPr>
              <a:t>      The vehicles for relocating</a:t>
            </a:r>
          </a:p>
          <a:p>
            <a:endParaRPr lang="en-GB" sz="1400" dirty="0"/>
          </a:p>
          <a:p>
            <a:r>
              <a:rPr lang="en-GB" sz="1400" dirty="0"/>
              <a:t>The stations have fixed position, and some attributes we want to </a:t>
            </a:r>
            <a:r>
              <a:rPr lang="en-GB" sz="1400" dirty="0">
                <a:highlight>
                  <a:srgbClr val="FFFF00"/>
                </a:highlight>
              </a:rPr>
              <a:t>p</a:t>
            </a:r>
            <a:r>
              <a:rPr lang="en-GB" sz="1400" b="1" dirty="0">
                <a:highlight>
                  <a:srgbClr val="FFFF00"/>
                </a:highlight>
              </a:rPr>
              <a:t>redict</a:t>
            </a:r>
            <a:r>
              <a:rPr lang="en-GB" sz="1400" dirty="0"/>
              <a:t>: </a:t>
            </a:r>
          </a:p>
          <a:p>
            <a:r>
              <a:rPr lang="en-GB" sz="1400" dirty="0">
                <a:solidFill>
                  <a:srgbClr val="0070C0"/>
                </a:solidFill>
              </a:rPr>
              <a:t>        Number of bikes available</a:t>
            </a:r>
          </a:p>
          <a:p>
            <a:r>
              <a:rPr lang="en-GB" sz="1400" dirty="0">
                <a:solidFill>
                  <a:srgbClr val="0070C0"/>
                </a:solidFill>
              </a:rPr>
              <a:t>        Number of available docks</a:t>
            </a:r>
          </a:p>
          <a:p>
            <a:endParaRPr lang="en-GB" sz="1400" dirty="0"/>
          </a:p>
          <a:p>
            <a:r>
              <a:rPr lang="en-GB" sz="1400" dirty="0"/>
              <a:t>The vehicles have variable position, and each needs to perform a </a:t>
            </a:r>
            <a:r>
              <a:rPr lang="en-GB" sz="1400" dirty="0">
                <a:solidFill>
                  <a:srgbClr val="0070C0"/>
                </a:solidFill>
              </a:rPr>
              <a:t>route</a:t>
            </a:r>
            <a:r>
              <a:rPr lang="en-GB" sz="1400" dirty="0"/>
              <a:t> that we want to </a:t>
            </a:r>
            <a:r>
              <a:rPr lang="en-GB" sz="1400" b="1" dirty="0">
                <a:highlight>
                  <a:srgbClr val="FFFF00"/>
                </a:highlight>
              </a:rPr>
              <a:t>Optimize</a:t>
            </a:r>
            <a:r>
              <a:rPr lang="en-GB" sz="1400" b="1" dirty="0"/>
              <a:t>. </a:t>
            </a:r>
            <a:endParaRPr lang="en-US" sz="1400" b="1" dirty="0"/>
          </a:p>
        </p:txBody>
      </p:sp>
    </p:spTree>
    <p:extLst>
      <p:ext uri="{BB962C8B-B14F-4D97-AF65-F5344CB8AC3E}">
        <p14:creationId xmlns:p14="http://schemas.microsoft.com/office/powerpoint/2010/main" val="2962402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Modelling of the physical system</a:t>
            </a:r>
            <a:endParaRPr lang="es-ES" dirty="0"/>
          </a:p>
        </p:txBody>
      </p:sp>
      <p:sp>
        <p:nvSpPr>
          <p:cNvPr id="5" name="TextBox 4">
            <a:extLst>
              <a:ext uri="{FF2B5EF4-FFF2-40B4-BE49-F238E27FC236}">
                <a16:creationId xmlns:a16="http://schemas.microsoft.com/office/drawing/2014/main" id="{F3A58C84-4367-0A86-909E-B9809C30C0FB}"/>
              </a:ext>
            </a:extLst>
          </p:cNvPr>
          <p:cNvSpPr txBox="1"/>
          <p:nvPr/>
        </p:nvSpPr>
        <p:spPr>
          <a:xfrm>
            <a:off x="1869357" y="1476922"/>
            <a:ext cx="9368914" cy="369332"/>
          </a:xfrm>
          <a:prstGeom prst="rect">
            <a:avLst/>
          </a:prstGeom>
          <a:solidFill>
            <a:schemeClr val="bg1">
              <a:lumMod val="85000"/>
            </a:schemeClr>
          </a:solidFill>
        </p:spPr>
        <p:txBody>
          <a:bodyPr wrap="square">
            <a:spAutoFit/>
          </a:bodyPr>
          <a:lstStyle/>
          <a:p>
            <a:r>
              <a:rPr lang="en-GB" b="1" dirty="0"/>
              <a:t>Modules and their functionality</a:t>
            </a:r>
            <a:endParaRPr lang="en-US" b="1" dirty="0"/>
          </a:p>
        </p:txBody>
      </p:sp>
      <p:sp>
        <p:nvSpPr>
          <p:cNvPr id="7" name="TextBox 6">
            <a:extLst>
              <a:ext uri="{FF2B5EF4-FFF2-40B4-BE49-F238E27FC236}">
                <a16:creationId xmlns:a16="http://schemas.microsoft.com/office/drawing/2014/main" id="{595744B9-8AC4-9E22-AD17-746656AAE812}"/>
              </a:ext>
            </a:extLst>
          </p:cNvPr>
          <p:cNvSpPr txBox="1"/>
          <p:nvPr/>
        </p:nvSpPr>
        <p:spPr>
          <a:xfrm>
            <a:off x="1869356" y="2052731"/>
            <a:ext cx="9368913" cy="646331"/>
          </a:xfrm>
          <a:prstGeom prst="rect">
            <a:avLst/>
          </a:prstGeom>
          <a:noFill/>
        </p:spPr>
        <p:txBody>
          <a:bodyPr wrap="square">
            <a:spAutoFit/>
          </a:bodyPr>
          <a:lstStyle/>
          <a:p>
            <a:pPr algn="just"/>
            <a:r>
              <a:rPr lang="en-GB" b="1" dirty="0"/>
              <a:t>• Prediction Module: </a:t>
            </a:r>
            <a:r>
              <a:rPr lang="en-GB" dirty="0"/>
              <a:t>Takes historic data an predict scenarios for similar characterized conditions (day of week / month / hour/ meteorology / etc)</a:t>
            </a:r>
            <a:endParaRPr lang="en-US" dirty="0"/>
          </a:p>
        </p:txBody>
      </p:sp>
      <p:sp>
        <p:nvSpPr>
          <p:cNvPr id="9" name="TextBox 8">
            <a:extLst>
              <a:ext uri="{FF2B5EF4-FFF2-40B4-BE49-F238E27FC236}">
                <a16:creationId xmlns:a16="http://schemas.microsoft.com/office/drawing/2014/main" id="{5ADB77BC-F610-FF41-58F5-EA34BE4A614A}"/>
              </a:ext>
            </a:extLst>
          </p:cNvPr>
          <p:cNvSpPr txBox="1"/>
          <p:nvPr/>
        </p:nvSpPr>
        <p:spPr>
          <a:xfrm>
            <a:off x="1869357" y="2699062"/>
            <a:ext cx="9368912" cy="646331"/>
          </a:xfrm>
          <a:prstGeom prst="rect">
            <a:avLst/>
          </a:prstGeom>
          <a:noFill/>
        </p:spPr>
        <p:txBody>
          <a:bodyPr wrap="square">
            <a:spAutoFit/>
          </a:bodyPr>
          <a:lstStyle/>
          <a:p>
            <a:pPr algn="just"/>
            <a:r>
              <a:rPr lang="en-GB" b="1" dirty="0"/>
              <a:t>• Optimization Module: </a:t>
            </a:r>
            <a:r>
              <a:rPr lang="en-GB" dirty="0" err="1"/>
              <a:t>Lauch</a:t>
            </a:r>
            <a:r>
              <a:rPr lang="en-GB" dirty="0"/>
              <a:t> the OR-Tools algorithms for obtain the proposed routes for the vehicles-teams</a:t>
            </a:r>
            <a:endParaRPr lang="en-US" dirty="0"/>
          </a:p>
        </p:txBody>
      </p:sp>
      <p:sp>
        <p:nvSpPr>
          <p:cNvPr id="11" name="TextBox 10">
            <a:extLst>
              <a:ext uri="{FF2B5EF4-FFF2-40B4-BE49-F238E27FC236}">
                <a16:creationId xmlns:a16="http://schemas.microsoft.com/office/drawing/2014/main" id="{4B4EDB44-4F57-40BC-58F7-1337EAFA4898}"/>
              </a:ext>
            </a:extLst>
          </p:cNvPr>
          <p:cNvSpPr txBox="1"/>
          <p:nvPr/>
        </p:nvSpPr>
        <p:spPr>
          <a:xfrm>
            <a:off x="1869356" y="3991724"/>
            <a:ext cx="9368911" cy="369332"/>
          </a:xfrm>
          <a:prstGeom prst="rect">
            <a:avLst/>
          </a:prstGeom>
          <a:noFill/>
        </p:spPr>
        <p:txBody>
          <a:bodyPr wrap="square">
            <a:spAutoFit/>
          </a:bodyPr>
          <a:lstStyle/>
          <a:p>
            <a:pPr algn="just"/>
            <a:r>
              <a:rPr lang="en-GB" b="1" dirty="0"/>
              <a:t>• Presentation Module: </a:t>
            </a:r>
            <a:r>
              <a:rPr lang="en-GB" dirty="0"/>
              <a:t>Necessary to interact with the user and show the results in map.</a:t>
            </a:r>
            <a:endParaRPr lang="en-US" dirty="0"/>
          </a:p>
        </p:txBody>
      </p:sp>
      <p:sp>
        <p:nvSpPr>
          <p:cNvPr id="13" name="TextBox 12">
            <a:extLst>
              <a:ext uri="{FF2B5EF4-FFF2-40B4-BE49-F238E27FC236}">
                <a16:creationId xmlns:a16="http://schemas.microsoft.com/office/drawing/2014/main" id="{1866654B-AFB0-DA6A-92CB-8F41B3147DA4}"/>
              </a:ext>
            </a:extLst>
          </p:cNvPr>
          <p:cNvSpPr txBox="1"/>
          <p:nvPr/>
        </p:nvSpPr>
        <p:spPr>
          <a:xfrm>
            <a:off x="1869357" y="4829459"/>
            <a:ext cx="9368910" cy="646331"/>
          </a:xfrm>
          <a:prstGeom prst="rect">
            <a:avLst/>
          </a:prstGeom>
          <a:noFill/>
        </p:spPr>
        <p:txBody>
          <a:bodyPr wrap="square">
            <a:spAutoFit/>
          </a:bodyPr>
          <a:lstStyle/>
          <a:p>
            <a:pPr algn="just"/>
            <a:r>
              <a:rPr lang="en-GB" b="1" dirty="0"/>
              <a:t>• Bach analyses Module: </a:t>
            </a:r>
            <a:r>
              <a:rPr lang="en-GB" dirty="0"/>
              <a:t>For programming and launch more than one single optimization on the background as a batch process for deep analysis and studies porpoises . </a:t>
            </a:r>
            <a:endParaRPr lang="en-US" dirty="0"/>
          </a:p>
        </p:txBody>
      </p:sp>
      <p:sp>
        <p:nvSpPr>
          <p:cNvPr id="15" name="TextBox 14">
            <a:extLst>
              <a:ext uri="{FF2B5EF4-FFF2-40B4-BE49-F238E27FC236}">
                <a16:creationId xmlns:a16="http://schemas.microsoft.com/office/drawing/2014/main" id="{3B3582B3-082E-8EEE-BFB0-BA5706BCCEF8}"/>
              </a:ext>
            </a:extLst>
          </p:cNvPr>
          <p:cNvSpPr txBox="1"/>
          <p:nvPr/>
        </p:nvSpPr>
        <p:spPr>
          <a:xfrm>
            <a:off x="1869355" y="5473826"/>
            <a:ext cx="9368912" cy="369332"/>
          </a:xfrm>
          <a:prstGeom prst="rect">
            <a:avLst/>
          </a:prstGeom>
          <a:noFill/>
        </p:spPr>
        <p:txBody>
          <a:bodyPr wrap="square">
            <a:spAutoFit/>
          </a:bodyPr>
          <a:lstStyle/>
          <a:p>
            <a:pPr algn="just"/>
            <a:r>
              <a:rPr lang="en-GB" b="1" dirty="0"/>
              <a:t>•</a:t>
            </a:r>
            <a:r>
              <a:rPr lang="en-GB" dirty="0"/>
              <a:t> </a:t>
            </a:r>
            <a:r>
              <a:rPr lang="en-GB" b="1" dirty="0"/>
              <a:t>Auxiliary Modules:</a:t>
            </a:r>
            <a:r>
              <a:rPr lang="en-GB" dirty="0"/>
              <a:t> For doing some inner tasks shared between the different modules. </a:t>
            </a:r>
            <a:endParaRPr lang="en-US" dirty="0"/>
          </a:p>
        </p:txBody>
      </p:sp>
      <p:pic>
        <p:nvPicPr>
          <p:cNvPr id="1026" name="Picture 2">
            <a:extLst>
              <a:ext uri="{FF2B5EF4-FFF2-40B4-BE49-F238E27FC236}">
                <a16:creationId xmlns:a16="http://schemas.microsoft.com/office/drawing/2014/main" id="{9505CB8F-CE1A-8546-7B6A-AD31B934C4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246" y="1480656"/>
            <a:ext cx="963754" cy="10601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1835BCB-FA23-6994-59DF-C75DEE014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9703" y="4383547"/>
            <a:ext cx="583330" cy="4355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661B619-1B60-6A77-041E-E4916A66B8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4424" y="4448215"/>
            <a:ext cx="1143000" cy="3429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er más imágenes de OR-Tools">
            <a:extLst>
              <a:ext uri="{FF2B5EF4-FFF2-40B4-BE49-F238E27FC236}">
                <a16:creationId xmlns:a16="http://schemas.microsoft.com/office/drawing/2014/main" id="{F1FA5B30-05EF-139F-7932-B9D894528B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9703" y="3345393"/>
            <a:ext cx="609600"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311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Modelling of the physical system</a:t>
            </a:r>
            <a:endParaRPr lang="es-ES" dirty="0"/>
          </a:p>
        </p:txBody>
      </p:sp>
      <p:pic>
        <p:nvPicPr>
          <p:cNvPr id="5" name="Picture 4">
            <a:extLst>
              <a:ext uri="{FF2B5EF4-FFF2-40B4-BE49-F238E27FC236}">
                <a16:creationId xmlns:a16="http://schemas.microsoft.com/office/drawing/2014/main" id="{E8AB08D1-5C66-9C1B-5819-DA28B686195A}"/>
              </a:ext>
            </a:extLst>
          </p:cNvPr>
          <p:cNvPicPr>
            <a:picLocks noChangeAspect="1"/>
          </p:cNvPicPr>
          <p:nvPr/>
        </p:nvPicPr>
        <p:blipFill>
          <a:blip r:embed="rId2"/>
          <a:stretch>
            <a:fillRect/>
          </a:stretch>
        </p:blipFill>
        <p:spPr>
          <a:xfrm>
            <a:off x="1737784" y="2682666"/>
            <a:ext cx="7573432" cy="2991267"/>
          </a:xfrm>
          <a:prstGeom prst="rect">
            <a:avLst/>
          </a:prstGeom>
        </p:spPr>
      </p:pic>
      <p:sp>
        <p:nvSpPr>
          <p:cNvPr id="7" name="TextBox 6">
            <a:extLst>
              <a:ext uri="{FF2B5EF4-FFF2-40B4-BE49-F238E27FC236}">
                <a16:creationId xmlns:a16="http://schemas.microsoft.com/office/drawing/2014/main" id="{9EAD5803-5709-FEBE-1AA1-8E2EDCEBD5B1}"/>
              </a:ext>
            </a:extLst>
          </p:cNvPr>
          <p:cNvSpPr txBox="1"/>
          <p:nvPr/>
        </p:nvSpPr>
        <p:spPr>
          <a:xfrm>
            <a:off x="1737784" y="2313334"/>
            <a:ext cx="8003116" cy="369332"/>
          </a:xfrm>
          <a:prstGeom prst="rect">
            <a:avLst/>
          </a:prstGeom>
          <a:noFill/>
        </p:spPr>
        <p:txBody>
          <a:bodyPr wrap="square">
            <a:spAutoFit/>
          </a:bodyPr>
          <a:lstStyle/>
          <a:p>
            <a:r>
              <a:rPr lang="en-GB" dirty="0"/>
              <a:t>Correlation between the functional modules and the python physical files</a:t>
            </a:r>
            <a:endParaRPr lang="en-US" dirty="0"/>
          </a:p>
        </p:txBody>
      </p:sp>
      <p:pic>
        <p:nvPicPr>
          <p:cNvPr id="8194" name="Picture 2" descr="Resultado de imagen de github">
            <a:extLst>
              <a:ext uri="{FF2B5EF4-FFF2-40B4-BE49-F238E27FC236}">
                <a16:creationId xmlns:a16="http://schemas.microsoft.com/office/drawing/2014/main" id="{2D9FA43B-FA98-EF73-203A-9197E903E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7200" y="1151984"/>
            <a:ext cx="1547284" cy="8679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38BC6571-3FD9-01CA-6BBD-87727A4F7B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5646" y="1228576"/>
            <a:ext cx="963754" cy="8679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hlinkClick r:id="rId5"/>
            <a:extLst>
              <a:ext uri="{FF2B5EF4-FFF2-40B4-BE49-F238E27FC236}">
                <a16:creationId xmlns:a16="http://schemas.microsoft.com/office/drawing/2014/main" id="{4BB2A1AE-0044-F597-D2A4-79A603A54EFF}"/>
              </a:ext>
            </a:extLst>
          </p:cNvPr>
          <p:cNvSpPr txBox="1"/>
          <p:nvPr/>
        </p:nvSpPr>
        <p:spPr>
          <a:xfrm>
            <a:off x="4862654" y="1487991"/>
            <a:ext cx="4448562" cy="307777"/>
          </a:xfrm>
          <a:prstGeom prst="rect">
            <a:avLst/>
          </a:prstGeom>
          <a:solidFill>
            <a:schemeClr val="bg1">
              <a:lumMod val="75000"/>
            </a:schemeClr>
          </a:solidFill>
        </p:spPr>
        <p:txBody>
          <a:bodyPr wrap="square">
            <a:spAutoFit/>
          </a:bodyPr>
          <a:lstStyle/>
          <a:p>
            <a:r>
              <a:rPr lang="en-US" sz="1400" dirty="0">
                <a:solidFill>
                  <a:srgbClr val="0070C0"/>
                </a:solidFill>
              </a:rPr>
              <a:t>https://github.com/albertonavasrubio/DTBikeRelocation</a:t>
            </a:r>
          </a:p>
        </p:txBody>
      </p:sp>
      <p:pic>
        <p:nvPicPr>
          <p:cNvPr id="11" name="Picture 10">
            <a:extLst>
              <a:ext uri="{FF2B5EF4-FFF2-40B4-BE49-F238E27FC236}">
                <a16:creationId xmlns:a16="http://schemas.microsoft.com/office/drawing/2014/main" id="{072241D4-D8C7-808F-459B-192CD6D6223A}"/>
              </a:ext>
            </a:extLst>
          </p:cNvPr>
          <p:cNvPicPr>
            <a:picLocks noChangeAspect="1"/>
          </p:cNvPicPr>
          <p:nvPr/>
        </p:nvPicPr>
        <p:blipFill>
          <a:blip r:embed="rId6"/>
          <a:stretch>
            <a:fillRect/>
          </a:stretch>
        </p:blipFill>
        <p:spPr>
          <a:xfrm>
            <a:off x="9608378" y="3016061"/>
            <a:ext cx="1163948" cy="1330226"/>
          </a:xfrm>
          <a:prstGeom prst="rect">
            <a:avLst/>
          </a:prstGeom>
        </p:spPr>
      </p:pic>
      <p:pic>
        <p:nvPicPr>
          <p:cNvPr id="12" name="Picture 11">
            <a:extLst>
              <a:ext uri="{FF2B5EF4-FFF2-40B4-BE49-F238E27FC236}">
                <a16:creationId xmlns:a16="http://schemas.microsoft.com/office/drawing/2014/main" id="{FE2866B8-D1D7-84EE-26AC-6E301668DBAF}"/>
              </a:ext>
            </a:extLst>
          </p:cNvPr>
          <p:cNvPicPr>
            <a:picLocks noChangeAspect="1"/>
          </p:cNvPicPr>
          <p:nvPr/>
        </p:nvPicPr>
        <p:blipFill>
          <a:blip r:embed="rId7"/>
          <a:stretch>
            <a:fillRect/>
          </a:stretch>
        </p:blipFill>
        <p:spPr>
          <a:xfrm>
            <a:off x="10402663" y="3368031"/>
            <a:ext cx="1126519" cy="1284375"/>
          </a:xfrm>
          <a:prstGeom prst="rect">
            <a:avLst/>
          </a:prstGeom>
        </p:spPr>
      </p:pic>
    </p:spTree>
    <p:extLst>
      <p:ext uri="{BB962C8B-B14F-4D97-AF65-F5344CB8AC3E}">
        <p14:creationId xmlns:p14="http://schemas.microsoft.com/office/powerpoint/2010/main" val="976887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Modelling of the physical system</a:t>
            </a:r>
            <a:endParaRPr lang="es-ES" dirty="0"/>
          </a:p>
        </p:txBody>
      </p:sp>
      <p:sp>
        <p:nvSpPr>
          <p:cNvPr id="6" name="TextBox 5">
            <a:extLst>
              <a:ext uri="{FF2B5EF4-FFF2-40B4-BE49-F238E27FC236}">
                <a16:creationId xmlns:a16="http://schemas.microsoft.com/office/drawing/2014/main" id="{E57D0213-9474-8DC1-11DB-AA35512FC72D}"/>
              </a:ext>
            </a:extLst>
          </p:cNvPr>
          <p:cNvSpPr txBox="1"/>
          <p:nvPr/>
        </p:nvSpPr>
        <p:spPr>
          <a:xfrm>
            <a:off x="674738" y="1382210"/>
            <a:ext cx="9752372" cy="369332"/>
          </a:xfrm>
          <a:prstGeom prst="rect">
            <a:avLst/>
          </a:prstGeom>
          <a:solidFill>
            <a:schemeClr val="bg1">
              <a:lumMod val="85000"/>
            </a:schemeClr>
          </a:solidFill>
        </p:spPr>
        <p:txBody>
          <a:bodyPr wrap="square">
            <a:spAutoFit/>
          </a:bodyPr>
          <a:lstStyle/>
          <a:p>
            <a:r>
              <a:rPr lang="en-GB" b="1" dirty="0"/>
              <a:t>Prediction Module</a:t>
            </a:r>
            <a:endParaRPr lang="en-US" b="1" dirty="0"/>
          </a:p>
        </p:txBody>
      </p:sp>
      <p:sp>
        <p:nvSpPr>
          <p:cNvPr id="4" name="TextBox 3">
            <a:extLst>
              <a:ext uri="{FF2B5EF4-FFF2-40B4-BE49-F238E27FC236}">
                <a16:creationId xmlns:a16="http://schemas.microsoft.com/office/drawing/2014/main" id="{3CCC71C6-9653-75E2-2DEF-A706B7CD0A7E}"/>
              </a:ext>
            </a:extLst>
          </p:cNvPr>
          <p:cNvSpPr txBox="1"/>
          <p:nvPr/>
        </p:nvSpPr>
        <p:spPr>
          <a:xfrm>
            <a:off x="674738" y="1917105"/>
            <a:ext cx="9752372" cy="923330"/>
          </a:xfrm>
          <a:prstGeom prst="rect">
            <a:avLst/>
          </a:prstGeom>
          <a:noFill/>
        </p:spPr>
        <p:txBody>
          <a:bodyPr wrap="square">
            <a:spAutoFit/>
          </a:bodyPr>
          <a:lstStyle/>
          <a:p>
            <a:pPr algn="just"/>
            <a:r>
              <a:rPr lang="en-GB" dirty="0"/>
              <a:t>If no predictive data is found in the appropriate folder that fits the current data-time a simplified predictive task is performed according to the predictive strategy fixed for Real Mode in the configy.py, among the followings:</a:t>
            </a:r>
            <a:endParaRPr lang="en-US" dirty="0"/>
          </a:p>
        </p:txBody>
      </p:sp>
      <p:sp>
        <p:nvSpPr>
          <p:cNvPr id="7" name="TextBox 6">
            <a:extLst>
              <a:ext uri="{FF2B5EF4-FFF2-40B4-BE49-F238E27FC236}">
                <a16:creationId xmlns:a16="http://schemas.microsoft.com/office/drawing/2014/main" id="{7602B21C-2AE0-1067-54D9-98C87E0D1526}"/>
              </a:ext>
            </a:extLst>
          </p:cNvPr>
          <p:cNvSpPr txBox="1"/>
          <p:nvPr/>
        </p:nvSpPr>
        <p:spPr>
          <a:xfrm>
            <a:off x="674738" y="3005998"/>
            <a:ext cx="9752372" cy="1815882"/>
          </a:xfrm>
          <a:prstGeom prst="rect">
            <a:avLst/>
          </a:prstGeom>
          <a:noFill/>
        </p:spPr>
        <p:txBody>
          <a:bodyPr wrap="square">
            <a:spAutoFit/>
          </a:bodyPr>
          <a:lstStyle/>
          <a:p>
            <a:pPr algn="just"/>
            <a:r>
              <a:rPr lang="en-GB" sz="1400" dirty="0">
                <a:highlight>
                  <a:srgbClr val="C0C0C0"/>
                </a:highlight>
              </a:rPr>
              <a:t>CONSTANT_DEMAND: </a:t>
            </a:r>
            <a:r>
              <a:rPr lang="en-GB" sz="1400" dirty="0"/>
              <a:t>The differences found between the status data obtained between two consecutives queries (as found in the storage file container) are taken as the parameter prediction for the current period of analysis. </a:t>
            </a:r>
          </a:p>
          <a:p>
            <a:pPr algn="just"/>
            <a:r>
              <a:rPr lang="en-GB" sz="1400" dirty="0">
                <a:highlight>
                  <a:srgbClr val="C0C0C0"/>
                </a:highlight>
              </a:rPr>
              <a:t>MINUS_2_BIKE_PREDICTION: </a:t>
            </a:r>
            <a:r>
              <a:rPr lang="en-GB" sz="1400" dirty="0"/>
              <a:t>The prediction is generated aggregating a delta of -2 bikes (decrease) in each station </a:t>
            </a:r>
            <a:r>
              <a:rPr lang="en-GB" sz="1400" dirty="0">
                <a:highlight>
                  <a:srgbClr val="C0C0C0"/>
                </a:highlight>
              </a:rPr>
              <a:t>PLUS_2_BIKE_PREDICTION: </a:t>
            </a:r>
            <a:r>
              <a:rPr lang="en-GB" sz="1400" dirty="0"/>
              <a:t>The prediction is generated aggregating a delta of 2 bikes (increases) in each station </a:t>
            </a:r>
            <a:r>
              <a:rPr lang="en-GB" sz="1400" dirty="0">
                <a:highlight>
                  <a:srgbClr val="C0C0C0"/>
                </a:highlight>
              </a:rPr>
              <a:t>PESIMISTIC_2_PREDICTION: </a:t>
            </a:r>
            <a:r>
              <a:rPr lang="en-GB" sz="1400" dirty="0"/>
              <a:t>The stations where number of bikes are less than number of available docks are reduce in 2 bikes. The stations where number of free docks are less than the number of available bikes are incremented in 2 bikes. </a:t>
            </a:r>
            <a:r>
              <a:rPr lang="en-GB" sz="1400" dirty="0">
                <a:highlight>
                  <a:srgbClr val="C0C0C0"/>
                </a:highlight>
              </a:rPr>
              <a:t>OPTIMISTIC_2_PREDICTION: </a:t>
            </a:r>
            <a:r>
              <a:rPr lang="en-GB" sz="1400" dirty="0"/>
              <a:t>The stations where number of bikes are less than number of available docks are increased in 2 bikes. The stations where number of free docks are less than the number of available bikes are decremented in 2 bikes.</a:t>
            </a:r>
            <a:endParaRPr lang="en-US" sz="1400" dirty="0"/>
          </a:p>
        </p:txBody>
      </p:sp>
    </p:spTree>
    <p:extLst>
      <p:ext uri="{BB962C8B-B14F-4D97-AF65-F5344CB8AC3E}">
        <p14:creationId xmlns:p14="http://schemas.microsoft.com/office/powerpoint/2010/main" val="2243119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Modelling of the physical system</a:t>
            </a:r>
            <a:endParaRPr lang="es-ES" dirty="0"/>
          </a:p>
        </p:txBody>
      </p:sp>
      <p:sp>
        <p:nvSpPr>
          <p:cNvPr id="6" name="TextBox 5">
            <a:extLst>
              <a:ext uri="{FF2B5EF4-FFF2-40B4-BE49-F238E27FC236}">
                <a16:creationId xmlns:a16="http://schemas.microsoft.com/office/drawing/2014/main" id="{E57D0213-9474-8DC1-11DB-AA35512FC72D}"/>
              </a:ext>
            </a:extLst>
          </p:cNvPr>
          <p:cNvSpPr txBox="1"/>
          <p:nvPr/>
        </p:nvSpPr>
        <p:spPr>
          <a:xfrm>
            <a:off x="674738" y="1382210"/>
            <a:ext cx="9752372" cy="369332"/>
          </a:xfrm>
          <a:prstGeom prst="rect">
            <a:avLst/>
          </a:prstGeom>
          <a:solidFill>
            <a:schemeClr val="bg1">
              <a:lumMod val="85000"/>
            </a:schemeClr>
          </a:solidFill>
        </p:spPr>
        <p:txBody>
          <a:bodyPr wrap="square">
            <a:spAutoFit/>
          </a:bodyPr>
          <a:lstStyle/>
          <a:p>
            <a:r>
              <a:rPr lang="en-GB" b="1" dirty="0"/>
              <a:t>Optimization Module</a:t>
            </a:r>
            <a:endParaRPr lang="en-US" b="1" dirty="0"/>
          </a:p>
        </p:txBody>
      </p:sp>
      <p:sp>
        <p:nvSpPr>
          <p:cNvPr id="8" name="TextBox 7">
            <a:extLst>
              <a:ext uri="{FF2B5EF4-FFF2-40B4-BE49-F238E27FC236}">
                <a16:creationId xmlns:a16="http://schemas.microsoft.com/office/drawing/2014/main" id="{726352BE-3323-9CAD-B8CC-12DF5CF28991}"/>
              </a:ext>
            </a:extLst>
          </p:cNvPr>
          <p:cNvSpPr txBox="1"/>
          <p:nvPr/>
        </p:nvSpPr>
        <p:spPr>
          <a:xfrm>
            <a:off x="674738" y="1917105"/>
            <a:ext cx="9752372" cy="954107"/>
          </a:xfrm>
          <a:prstGeom prst="rect">
            <a:avLst/>
          </a:prstGeom>
          <a:noFill/>
        </p:spPr>
        <p:txBody>
          <a:bodyPr wrap="square">
            <a:spAutoFit/>
          </a:bodyPr>
          <a:lstStyle/>
          <a:p>
            <a:pPr algn="just"/>
            <a:r>
              <a:rPr lang="en-GB" sz="1400" dirty="0"/>
              <a:t>The problem of relocation bikes in stations in routing terminology is equivalent to a VRP (Vehicle Routing Problem) with Capacity Constraints ( where the vehicles need to pick up items at each location they visit, but have a maximum carrying capacity ) and penalties for dropping visit (to allow the solver change a visit for a penalisation-cost in case no solution for all station is found in the established time)</a:t>
            </a:r>
            <a:endParaRPr lang="en-US" sz="1400" dirty="0"/>
          </a:p>
        </p:txBody>
      </p:sp>
      <p:sp>
        <p:nvSpPr>
          <p:cNvPr id="11" name="TextBox 10">
            <a:extLst>
              <a:ext uri="{FF2B5EF4-FFF2-40B4-BE49-F238E27FC236}">
                <a16:creationId xmlns:a16="http://schemas.microsoft.com/office/drawing/2014/main" id="{2354D3F3-F9C1-D2C1-CD2F-D5D675DAC6E6}"/>
              </a:ext>
            </a:extLst>
          </p:cNvPr>
          <p:cNvSpPr txBox="1"/>
          <p:nvPr/>
        </p:nvSpPr>
        <p:spPr>
          <a:xfrm>
            <a:off x="4478821" y="3029691"/>
            <a:ext cx="6096000" cy="369332"/>
          </a:xfrm>
          <a:prstGeom prst="rect">
            <a:avLst/>
          </a:prstGeom>
          <a:noFill/>
        </p:spPr>
        <p:txBody>
          <a:bodyPr wrap="square">
            <a:spAutoFit/>
          </a:bodyPr>
          <a:lstStyle/>
          <a:p>
            <a:r>
              <a:rPr lang="en-GB" b="1" dirty="0"/>
              <a:t>The Optimisation is made taken OR-Tools algorithms as core</a:t>
            </a:r>
            <a:r>
              <a:rPr lang="en-GB" dirty="0"/>
              <a:t>.</a:t>
            </a:r>
            <a:endParaRPr lang="en-US" dirty="0"/>
          </a:p>
        </p:txBody>
      </p:sp>
      <p:sp>
        <p:nvSpPr>
          <p:cNvPr id="12" name="AutoShape 2" descr="Animación de TSP">
            <a:extLst>
              <a:ext uri="{FF2B5EF4-FFF2-40B4-BE49-F238E27FC236}">
                <a16:creationId xmlns:a16="http://schemas.microsoft.com/office/drawing/2014/main" id="{6A1C3E48-EBB2-9211-C110-00A1F300F591}"/>
              </a:ext>
            </a:extLst>
          </p:cNvPr>
          <p:cNvSpPr>
            <a:spLocks noChangeAspect="1" noChangeArrowheads="1"/>
          </p:cNvSpPr>
          <p:nvPr/>
        </p:nvSpPr>
        <p:spPr bwMode="auto">
          <a:xfrm>
            <a:off x="5943600" y="3276600"/>
            <a:ext cx="1371600" cy="1371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4" name="Picture 13">
            <a:extLst>
              <a:ext uri="{FF2B5EF4-FFF2-40B4-BE49-F238E27FC236}">
                <a16:creationId xmlns:a16="http://schemas.microsoft.com/office/drawing/2014/main" id="{3F924D44-A1D5-659A-6666-90F9129B05B1}"/>
              </a:ext>
            </a:extLst>
          </p:cNvPr>
          <p:cNvPicPr>
            <a:picLocks noChangeAspect="1"/>
          </p:cNvPicPr>
          <p:nvPr/>
        </p:nvPicPr>
        <p:blipFill>
          <a:blip r:embed="rId2"/>
          <a:stretch>
            <a:fillRect/>
          </a:stretch>
        </p:blipFill>
        <p:spPr>
          <a:xfrm>
            <a:off x="650189" y="3429000"/>
            <a:ext cx="3804083" cy="2853062"/>
          </a:xfrm>
          <a:prstGeom prst="rect">
            <a:avLst/>
          </a:prstGeom>
        </p:spPr>
      </p:pic>
      <p:pic>
        <p:nvPicPr>
          <p:cNvPr id="16" name="Picture 15">
            <a:extLst>
              <a:ext uri="{FF2B5EF4-FFF2-40B4-BE49-F238E27FC236}">
                <a16:creationId xmlns:a16="http://schemas.microsoft.com/office/drawing/2014/main" id="{002D9B99-8E7B-0B0E-7048-DF3BF30C6D04}"/>
              </a:ext>
            </a:extLst>
          </p:cNvPr>
          <p:cNvPicPr>
            <a:picLocks noChangeAspect="1"/>
          </p:cNvPicPr>
          <p:nvPr/>
        </p:nvPicPr>
        <p:blipFill>
          <a:blip r:embed="rId3"/>
          <a:stretch>
            <a:fillRect/>
          </a:stretch>
        </p:blipFill>
        <p:spPr>
          <a:xfrm>
            <a:off x="742700" y="2935461"/>
            <a:ext cx="3210203" cy="568313"/>
          </a:xfrm>
          <a:prstGeom prst="rect">
            <a:avLst/>
          </a:prstGeom>
        </p:spPr>
      </p:pic>
      <p:pic>
        <p:nvPicPr>
          <p:cNvPr id="18" name="Picture 17">
            <a:extLst>
              <a:ext uri="{FF2B5EF4-FFF2-40B4-BE49-F238E27FC236}">
                <a16:creationId xmlns:a16="http://schemas.microsoft.com/office/drawing/2014/main" id="{072BA110-6A85-8096-3E1C-5AC0285A4C39}"/>
              </a:ext>
            </a:extLst>
          </p:cNvPr>
          <p:cNvPicPr>
            <a:picLocks noChangeAspect="1"/>
          </p:cNvPicPr>
          <p:nvPr/>
        </p:nvPicPr>
        <p:blipFill>
          <a:blip r:embed="rId4"/>
          <a:stretch>
            <a:fillRect/>
          </a:stretch>
        </p:blipFill>
        <p:spPr>
          <a:xfrm>
            <a:off x="4723529" y="3489888"/>
            <a:ext cx="5606584" cy="794482"/>
          </a:xfrm>
          <a:prstGeom prst="rect">
            <a:avLst/>
          </a:prstGeom>
        </p:spPr>
      </p:pic>
      <p:graphicFrame>
        <p:nvGraphicFramePr>
          <p:cNvPr id="19" name="Table 18">
            <a:extLst>
              <a:ext uri="{FF2B5EF4-FFF2-40B4-BE49-F238E27FC236}">
                <a16:creationId xmlns:a16="http://schemas.microsoft.com/office/drawing/2014/main" id="{061852F3-3189-1BEF-166F-8DBE0E63BAC2}"/>
              </a:ext>
            </a:extLst>
          </p:cNvPr>
          <p:cNvGraphicFramePr>
            <a:graphicFrameLocks noGrp="1"/>
          </p:cNvGraphicFramePr>
          <p:nvPr>
            <p:extLst>
              <p:ext uri="{D42A27DB-BD31-4B8C-83A1-F6EECF244321}">
                <p14:modId xmlns:p14="http://schemas.microsoft.com/office/powerpoint/2010/main" val="65046487"/>
              </p:ext>
            </p:extLst>
          </p:nvPr>
        </p:nvGraphicFramePr>
        <p:xfrm>
          <a:off x="4723529" y="4351984"/>
          <a:ext cx="3441700" cy="2095500"/>
        </p:xfrm>
        <a:graphic>
          <a:graphicData uri="http://schemas.openxmlformats.org/drawingml/2006/table">
            <a:tbl>
              <a:tblPr>
                <a:tableStyleId>{5C22544A-7EE6-4342-B048-85BDC9FD1C3A}</a:tableStyleId>
              </a:tblPr>
              <a:tblGrid>
                <a:gridCol w="3441700">
                  <a:extLst>
                    <a:ext uri="{9D8B030D-6E8A-4147-A177-3AD203B41FA5}">
                      <a16:colId xmlns:a16="http://schemas.microsoft.com/office/drawing/2014/main" val="1701717630"/>
                    </a:ext>
                  </a:extLst>
                </a:gridCol>
              </a:tblGrid>
              <a:tr h="190500">
                <a:tc>
                  <a:txBody>
                    <a:bodyPr/>
                    <a:lstStyle/>
                    <a:p>
                      <a:pPr algn="l" fontAlgn="b"/>
                      <a:r>
                        <a:rPr lang="en-GB" sz="1100" u="none" strike="noStrike">
                          <a:effectLst/>
                        </a:rPr>
                        <a:t>PATH_CHEAPEST_ARC </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34239244"/>
                  </a:ext>
                </a:extLst>
              </a:tr>
              <a:tr h="190500">
                <a:tc>
                  <a:txBody>
                    <a:bodyPr/>
                    <a:lstStyle/>
                    <a:p>
                      <a:pPr algn="l" fontAlgn="b"/>
                      <a:r>
                        <a:rPr lang="en-GB" sz="1100" u="none" strike="noStrike">
                          <a:effectLst/>
                        </a:rPr>
                        <a:t>SAVINGS </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3996152"/>
                  </a:ext>
                </a:extLst>
              </a:tr>
              <a:tr h="190500">
                <a:tc>
                  <a:txBody>
                    <a:bodyPr/>
                    <a:lstStyle/>
                    <a:p>
                      <a:pPr algn="l" fontAlgn="b"/>
                      <a:r>
                        <a:rPr lang="en-GB" sz="1100" u="none" strike="noStrike">
                          <a:effectLst/>
                        </a:rPr>
                        <a:t>SWEEP </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372909"/>
                  </a:ext>
                </a:extLst>
              </a:tr>
              <a:tr h="190500">
                <a:tc>
                  <a:txBody>
                    <a:bodyPr/>
                    <a:lstStyle/>
                    <a:p>
                      <a:pPr algn="l" fontAlgn="b"/>
                      <a:r>
                        <a:rPr lang="en-GB" sz="1100" u="none" strike="noStrike">
                          <a:effectLst/>
                        </a:rPr>
                        <a:t>CHRISTOFIDES </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52097571"/>
                  </a:ext>
                </a:extLst>
              </a:tr>
              <a:tr h="190500">
                <a:tc>
                  <a:txBody>
                    <a:bodyPr/>
                    <a:lstStyle/>
                    <a:p>
                      <a:pPr algn="l" fontAlgn="b"/>
                      <a:r>
                        <a:rPr lang="en-GB" sz="1100" u="none" strike="noStrike">
                          <a:effectLst/>
                        </a:rPr>
                        <a:t>ALL_UNPERFORMED </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09675801"/>
                  </a:ext>
                </a:extLst>
              </a:tr>
              <a:tr h="190500">
                <a:tc>
                  <a:txBody>
                    <a:bodyPr/>
                    <a:lstStyle/>
                    <a:p>
                      <a:pPr algn="l" fontAlgn="b"/>
                      <a:r>
                        <a:rPr lang="en-GB" sz="1100" u="none" strike="noStrike">
                          <a:effectLst/>
                        </a:rPr>
                        <a:t>BEST_INSERTION  </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10339102"/>
                  </a:ext>
                </a:extLst>
              </a:tr>
              <a:tr h="190500">
                <a:tc>
                  <a:txBody>
                    <a:bodyPr/>
                    <a:lstStyle/>
                    <a:p>
                      <a:pPr algn="l" fontAlgn="b"/>
                      <a:r>
                        <a:rPr lang="en-GB" sz="1100" u="none" strike="noStrike" dirty="0">
                          <a:effectLst/>
                        </a:rPr>
                        <a:t>PARALLEL_CHEAPEST_INSERTION</a:t>
                      </a:r>
                      <a:endParaRPr lang="en-GB"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69941894"/>
                  </a:ext>
                </a:extLst>
              </a:tr>
              <a:tr h="190500">
                <a:tc>
                  <a:txBody>
                    <a:bodyPr/>
                    <a:lstStyle/>
                    <a:p>
                      <a:pPr algn="l" fontAlgn="b"/>
                      <a:r>
                        <a:rPr lang="en-GB" sz="1100" u="none" strike="noStrike">
                          <a:effectLst/>
                        </a:rPr>
                        <a:t>LOCAL_CHEAPEST_INSERTION </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75852979"/>
                  </a:ext>
                </a:extLst>
              </a:tr>
              <a:tr h="190500">
                <a:tc>
                  <a:txBody>
                    <a:bodyPr/>
                    <a:lstStyle/>
                    <a:p>
                      <a:pPr algn="l" fontAlgn="b"/>
                      <a:r>
                        <a:rPr lang="en-GB" sz="1100" u="none" strike="noStrike">
                          <a:effectLst/>
                        </a:rPr>
                        <a:t>PARALLEL_CHEAPEST_INSERTIONGLOBAL_CHEAPEST_ARC </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85369733"/>
                  </a:ext>
                </a:extLst>
              </a:tr>
              <a:tr h="190500">
                <a:tc>
                  <a:txBody>
                    <a:bodyPr/>
                    <a:lstStyle/>
                    <a:p>
                      <a:pPr algn="l" fontAlgn="b"/>
                      <a:r>
                        <a:rPr lang="en-GB" sz="1100" u="none" strike="noStrike">
                          <a:effectLst/>
                        </a:rPr>
                        <a:t>LOCAL_CHEAPEST_ARC </a:t>
                      </a:r>
                      <a:endParaRPr lang="en-GB"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12439944"/>
                  </a:ext>
                </a:extLst>
              </a:tr>
              <a:tr h="190500">
                <a:tc>
                  <a:txBody>
                    <a:bodyPr/>
                    <a:lstStyle/>
                    <a:p>
                      <a:pPr algn="l" fontAlgn="b"/>
                      <a:r>
                        <a:rPr lang="en-GB" sz="1100" u="none" strike="noStrike" dirty="0">
                          <a:effectLst/>
                        </a:rPr>
                        <a:t>FIRST_UNBOUND_MIN_VALUE </a:t>
                      </a:r>
                      <a:endParaRPr lang="en-GB"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21194126"/>
                  </a:ext>
                </a:extLst>
              </a:tr>
            </a:tbl>
          </a:graphicData>
        </a:graphic>
      </p:graphicFrame>
    </p:spTree>
    <p:extLst>
      <p:ext uri="{BB962C8B-B14F-4D97-AF65-F5344CB8AC3E}">
        <p14:creationId xmlns:p14="http://schemas.microsoft.com/office/powerpoint/2010/main" val="4275926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Modelling of the physical system</a:t>
            </a:r>
            <a:endParaRPr lang="es-ES" dirty="0"/>
          </a:p>
        </p:txBody>
      </p:sp>
      <p:sp>
        <p:nvSpPr>
          <p:cNvPr id="6" name="TextBox 5">
            <a:extLst>
              <a:ext uri="{FF2B5EF4-FFF2-40B4-BE49-F238E27FC236}">
                <a16:creationId xmlns:a16="http://schemas.microsoft.com/office/drawing/2014/main" id="{E57D0213-9474-8DC1-11DB-AA35512FC72D}"/>
              </a:ext>
            </a:extLst>
          </p:cNvPr>
          <p:cNvSpPr txBox="1"/>
          <p:nvPr/>
        </p:nvSpPr>
        <p:spPr>
          <a:xfrm>
            <a:off x="674738" y="1382210"/>
            <a:ext cx="9752372" cy="369332"/>
          </a:xfrm>
          <a:prstGeom prst="rect">
            <a:avLst/>
          </a:prstGeom>
          <a:solidFill>
            <a:schemeClr val="bg1">
              <a:lumMod val="85000"/>
            </a:schemeClr>
          </a:solidFill>
        </p:spPr>
        <p:txBody>
          <a:bodyPr wrap="square">
            <a:spAutoFit/>
          </a:bodyPr>
          <a:lstStyle/>
          <a:p>
            <a:r>
              <a:rPr lang="en-GB" b="1" dirty="0"/>
              <a:t>Presentation Module</a:t>
            </a:r>
            <a:endParaRPr lang="en-US" b="1" dirty="0"/>
          </a:p>
        </p:txBody>
      </p:sp>
      <p:pic>
        <p:nvPicPr>
          <p:cNvPr id="5" name="Picture 4">
            <a:extLst>
              <a:ext uri="{FF2B5EF4-FFF2-40B4-BE49-F238E27FC236}">
                <a16:creationId xmlns:a16="http://schemas.microsoft.com/office/drawing/2014/main" id="{4C07EED8-7253-7CA2-88B9-22844EB81673}"/>
              </a:ext>
            </a:extLst>
          </p:cNvPr>
          <p:cNvPicPr>
            <a:picLocks noChangeAspect="1"/>
          </p:cNvPicPr>
          <p:nvPr/>
        </p:nvPicPr>
        <p:blipFill>
          <a:blip r:embed="rId2"/>
          <a:stretch>
            <a:fillRect/>
          </a:stretch>
        </p:blipFill>
        <p:spPr>
          <a:xfrm>
            <a:off x="674738" y="2373868"/>
            <a:ext cx="6306389" cy="3763616"/>
          </a:xfrm>
          <a:prstGeom prst="rect">
            <a:avLst/>
          </a:prstGeom>
        </p:spPr>
      </p:pic>
      <p:sp>
        <p:nvSpPr>
          <p:cNvPr id="8" name="TextBox 7">
            <a:extLst>
              <a:ext uri="{FF2B5EF4-FFF2-40B4-BE49-F238E27FC236}">
                <a16:creationId xmlns:a16="http://schemas.microsoft.com/office/drawing/2014/main" id="{63CB426B-9D2E-6FFE-014B-8F885563EBEA}"/>
              </a:ext>
            </a:extLst>
          </p:cNvPr>
          <p:cNvSpPr txBox="1"/>
          <p:nvPr/>
        </p:nvSpPr>
        <p:spPr>
          <a:xfrm>
            <a:off x="7300441" y="3811044"/>
            <a:ext cx="1981376" cy="369332"/>
          </a:xfrm>
          <a:prstGeom prst="rect">
            <a:avLst/>
          </a:prstGeom>
          <a:noFill/>
        </p:spPr>
        <p:txBody>
          <a:bodyPr wrap="square">
            <a:spAutoFit/>
          </a:bodyPr>
          <a:lstStyle/>
          <a:p>
            <a:r>
              <a:rPr lang="en-GB" dirty="0"/>
              <a:t>QT </a:t>
            </a:r>
            <a:r>
              <a:rPr lang="en-GB" dirty="0" err="1"/>
              <a:t>Dessigner</a:t>
            </a:r>
            <a:r>
              <a:rPr lang="en-GB" dirty="0"/>
              <a:t> tool</a:t>
            </a:r>
            <a:endParaRPr lang="en-US" dirty="0"/>
          </a:p>
        </p:txBody>
      </p:sp>
      <p:sp>
        <p:nvSpPr>
          <p:cNvPr id="10" name="TextBox 9">
            <a:extLst>
              <a:ext uri="{FF2B5EF4-FFF2-40B4-BE49-F238E27FC236}">
                <a16:creationId xmlns:a16="http://schemas.microsoft.com/office/drawing/2014/main" id="{6A1B74DA-8EB8-A144-5B45-8DED0BFCD697}"/>
              </a:ext>
            </a:extLst>
          </p:cNvPr>
          <p:cNvSpPr txBox="1"/>
          <p:nvPr/>
        </p:nvSpPr>
        <p:spPr>
          <a:xfrm>
            <a:off x="7300441" y="3484199"/>
            <a:ext cx="6734628" cy="369332"/>
          </a:xfrm>
          <a:prstGeom prst="rect">
            <a:avLst/>
          </a:prstGeom>
          <a:noFill/>
        </p:spPr>
        <p:txBody>
          <a:bodyPr wrap="square">
            <a:spAutoFit/>
          </a:bodyPr>
          <a:lstStyle/>
          <a:p>
            <a:r>
              <a:rPr lang="en-GB" dirty="0" err="1"/>
              <a:t>PyQGIS</a:t>
            </a:r>
            <a:endParaRPr lang="en-US" dirty="0"/>
          </a:p>
        </p:txBody>
      </p:sp>
      <p:sp>
        <p:nvSpPr>
          <p:cNvPr id="12" name="TextBox 11">
            <a:extLst>
              <a:ext uri="{FF2B5EF4-FFF2-40B4-BE49-F238E27FC236}">
                <a16:creationId xmlns:a16="http://schemas.microsoft.com/office/drawing/2014/main" id="{ECB10725-EC51-23FA-F724-068D56A577B2}"/>
              </a:ext>
            </a:extLst>
          </p:cNvPr>
          <p:cNvSpPr txBox="1"/>
          <p:nvPr/>
        </p:nvSpPr>
        <p:spPr>
          <a:xfrm>
            <a:off x="7300441" y="3008607"/>
            <a:ext cx="7053942" cy="369332"/>
          </a:xfrm>
          <a:prstGeom prst="rect">
            <a:avLst/>
          </a:prstGeom>
          <a:noFill/>
        </p:spPr>
        <p:txBody>
          <a:bodyPr wrap="square">
            <a:spAutoFit/>
          </a:bodyPr>
          <a:lstStyle/>
          <a:p>
            <a:r>
              <a:rPr lang="en-GB" dirty="0">
                <a:highlight>
                  <a:srgbClr val="FFFF00"/>
                </a:highlight>
              </a:rPr>
              <a:t>OSGeo4W distribution</a:t>
            </a:r>
            <a:endParaRPr lang="en-US" dirty="0">
              <a:highlight>
                <a:srgbClr val="FFFF00"/>
              </a:highlight>
            </a:endParaRPr>
          </a:p>
        </p:txBody>
      </p:sp>
      <p:pic>
        <p:nvPicPr>
          <p:cNvPr id="1026" name="Picture 2">
            <a:extLst>
              <a:ext uri="{FF2B5EF4-FFF2-40B4-BE49-F238E27FC236}">
                <a16:creationId xmlns:a16="http://schemas.microsoft.com/office/drawing/2014/main" id="{4B2A8B51-7926-869E-04BD-C0F015D3A5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1207" y="2078387"/>
            <a:ext cx="3325903" cy="80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7828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Modelling of the physical system</a:t>
            </a:r>
            <a:endParaRPr lang="es-ES" dirty="0"/>
          </a:p>
        </p:txBody>
      </p:sp>
      <p:sp>
        <p:nvSpPr>
          <p:cNvPr id="5" name="TextBox 4">
            <a:extLst>
              <a:ext uri="{FF2B5EF4-FFF2-40B4-BE49-F238E27FC236}">
                <a16:creationId xmlns:a16="http://schemas.microsoft.com/office/drawing/2014/main" id="{F3A58C84-4367-0A86-909E-B9809C30C0FB}"/>
              </a:ext>
            </a:extLst>
          </p:cNvPr>
          <p:cNvSpPr txBox="1"/>
          <p:nvPr/>
        </p:nvSpPr>
        <p:spPr>
          <a:xfrm>
            <a:off x="674738" y="1382210"/>
            <a:ext cx="9752372" cy="369332"/>
          </a:xfrm>
          <a:prstGeom prst="rect">
            <a:avLst/>
          </a:prstGeom>
          <a:solidFill>
            <a:schemeClr val="bg1">
              <a:lumMod val="85000"/>
            </a:schemeClr>
          </a:solidFill>
        </p:spPr>
        <p:txBody>
          <a:bodyPr wrap="square">
            <a:spAutoFit/>
          </a:bodyPr>
          <a:lstStyle/>
          <a:p>
            <a:r>
              <a:rPr lang="en-GB" b="1" dirty="0"/>
              <a:t>Presentation Module</a:t>
            </a:r>
            <a:endParaRPr lang="en-US" b="1" dirty="0"/>
          </a:p>
        </p:txBody>
      </p:sp>
      <p:pic>
        <p:nvPicPr>
          <p:cNvPr id="4" name="Picture 3">
            <a:extLst>
              <a:ext uri="{FF2B5EF4-FFF2-40B4-BE49-F238E27FC236}">
                <a16:creationId xmlns:a16="http://schemas.microsoft.com/office/drawing/2014/main" id="{500592BE-99FF-8DA2-BDFF-D0456F81CEFC}"/>
              </a:ext>
            </a:extLst>
          </p:cNvPr>
          <p:cNvPicPr>
            <a:picLocks noChangeAspect="1"/>
          </p:cNvPicPr>
          <p:nvPr/>
        </p:nvPicPr>
        <p:blipFill>
          <a:blip r:embed="rId2"/>
          <a:stretch>
            <a:fillRect/>
          </a:stretch>
        </p:blipFill>
        <p:spPr>
          <a:xfrm>
            <a:off x="674738" y="2099931"/>
            <a:ext cx="9859751" cy="3801005"/>
          </a:xfrm>
          <a:prstGeom prst="rect">
            <a:avLst/>
          </a:prstGeom>
        </p:spPr>
      </p:pic>
      <p:sp>
        <p:nvSpPr>
          <p:cNvPr id="8" name="TextBox 7">
            <a:extLst>
              <a:ext uri="{FF2B5EF4-FFF2-40B4-BE49-F238E27FC236}">
                <a16:creationId xmlns:a16="http://schemas.microsoft.com/office/drawing/2014/main" id="{6298378D-5273-0C6F-7F0D-FBA851B40048}"/>
              </a:ext>
            </a:extLst>
          </p:cNvPr>
          <p:cNvSpPr txBox="1"/>
          <p:nvPr/>
        </p:nvSpPr>
        <p:spPr>
          <a:xfrm>
            <a:off x="4811309" y="5900936"/>
            <a:ext cx="6096000" cy="369332"/>
          </a:xfrm>
          <a:prstGeom prst="rect">
            <a:avLst/>
          </a:prstGeom>
          <a:noFill/>
        </p:spPr>
        <p:txBody>
          <a:bodyPr wrap="square">
            <a:spAutoFit/>
          </a:bodyPr>
          <a:lstStyle/>
          <a:p>
            <a:r>
              <a:rPr lang="en-GB" dirty="0"/>
              <a:t>ESRI shapefile format (.</a:t>
            </a:r>
            <a:r>
              <a:rPr lang="en-GB" dirty="0" err="1"/>
              <a:t>shp</a:t>
            </a:r>
            <a:r>
              <a:rPr lang="en-GB" dirty="0"/>
              <a:t>)</a:t>
            </a:r>
            <a:endParaRPr lang="en-US" dirty="0"/>
          </a:p>
        </p:txBody>
      </p:sp>
    </p:spTree>
    <p:extLst>
      <p:ext uri="{BB962C8B-B14F-4D97-AF65-F5344CB8AC3E}">
        <p14:creationId xmlns:p14="http://schemas.microsoft.com/office/powerpoint/2010/main" val="1864851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Modelling of the physical system</a:t>
            </a:r>
            <a:endParaRPr lang="es-ES" dirty="0"/>
          </a:p>
        </p:txBody>
      </p:sp>
      <p:sp>
        <p:nvSpPr>
          <p:cNvPr id="5" name="TextBox 4">
            <a:extLst>
              <a:ext uri="{FF2B5EF4-FFF2-40B4-BE49-F238E27FC236}">
                <a16:creationId xmlns:a16="http://schemas.microsoft.com/office/drawing/2014/main" id="{F3A58C84-4367-0A86-909E-B9809C30C0FB}"/>
              </a:ext>
            </a:extLst>
          </p:cNvPr>
          <p:cNvSpPr txBox="1"/>
          <p:nvPr/>
        </p:nvSpPr>
        <p:spPr>
          <a:xfrm>
            <a:off x="674738" y="1323870"/>
            <a:ext cx="9772702" cy="380943"/>
          </a:xfrm>
          <a:prstGeom prst="rect">
            <a:avLst/>
          </a:prstGeom>
          <a:solidFill>
            <a:schemeClr val="bg1">
              <a:lumMod val="85000"/>
            </a:schemeClr>
          </a:solidFill>
        </p:spPr>
        <p:txBody>
          <a:bodyPr wrap="square">
            <a:spAutoFit/>
          </a:bodyPr>
          <a:lstStyle/>
          <a:p>
            <a:r>
              <a:rPr lang="en-GB" b="1" dirty="0"/>
              <a:t>Processing Module</a:t>
            </a:r>
            <a:endParaRPr lang="en-US" b="1" dirty="0"/>
          </a:p>
        </p:txBody>
      </p:sp>
      <p:pic>
        <p:nvPicPr>
          <p:cNvPr id="6" name="Picture 5">
            <a:extLst>
              <a:ext uri="{FF2B5EF4-FFF2-40B4-BE49-F238E27FC236}">
                <a16:creationId xmlns:a16="http://schemas.microsoft.com/office/drawing/2014/main" id="{D4F65E33-C72A-A799-A728-36A01B82A1DE}"/>
              </a:ext>
            </a:extLst>
          </p:cNvPr>
          <p:cNvPicPr>
            <a:picLocks noChangeAspect="1"/>
          </p:cNvPicPr>
          <p:nvPr/>
        </p:nvPicPr>
        <p:blipFill>
          <a:blip r:embed="rId2"/>
          <a:stretch>
            <a:fillRect/>
          </a:stretch>
        </p:blipFill>
        <p:spPr>
          <a:xfrm>
            <a:off x="674738" y="2012067"/>
            <a:ext cx="9772701" cy="4184784"/>
          </a:xfrm>
          <a:prstGeom prst="rect">
            <a:avLst/>
          </a:prstGeom>
        </p:spPr>
      </p:pic>
    </p:spTree>
    <p:extLst>
      <p:ext uri="{BB962C8B-B14F-4D97-AF65-F5344CB8AC3E}">
        <p14:creationId xmlns:p14="http://schemas.microsoft.com/office/powerpoint/2010/main" val="3968867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Modelling of the physical system</a:t>
            </a:r>
            <a:endParaRPr lang="es-ES" dirty="0"/>
          </a:p>
        </p:txBody>
      </p:sp>
      <p:sp>
        <p:nvSpPr>
          <p:cNvPr id="5" name="TextBox 4">
            <a:extLst>
              <a:ext uri="{FF2B5EF4-FFF2-40B4-BE49-F238E27FC236}">
                <a16:creationId xmlns:a16="http://schemas.microsoft.com/office/drawing/2014/main" id="{F3A58C84-4367-0A86-909E-B9809C30C0FB}"/>
              </a:ext>
            </a:extLst>
          </p:cNvPr>
          <p:cNvSpPr txBox="1"/>
          <p:nvPr/>
        </p:nvSpPr>
        <p:spPr>
          <a:xfrm>
            <a:off x="674738" y="1323870"/>
            <a:ext cx="9772702" cy="380943"/>
          </a:xfrm>
          <a:prstGeom prst="rect">
            <a:avLst/>
          </a:prstGeom>
          <a:solidFill>
            <a:schemeClr val="bg1">
              <a:lumMod val="85000"/>
            </a:schemeClr>
          </a:solidFill>
        </p:spPr>
        <p:txBody>
          <a:bodyPr wrap="square">
            <a:spAutoFit/>
          </a:bodyPr>
          <a:lstStyle/>
          <a:p>
            <a:r>
              <a:rPr lang="en-GB" b="1" dirty="0"/>
              <a:t>Bach Processing Module</a:t>
            </a:r>
            <a:endParaRPr lang="en-US" b="1" dirty="0"/>
          </a:p>
        </p:txBody>
      </p:sp>
      <p:sp>
        <p:nvSpPr>
          <p:cNvPr id="4" name="TextBox 3">
            <a:extLst>
              <a:ext uri="{FF2B5EF4-FFF2-40B4-BE49-F238E27FC236}">
                <a16:creationId xmlns:a16="http://schemas.microsoft.com/office/drawing/2014/main" id="{52C84BDB-76CE-11B4-13A8-D2CEFD6DB006}"/>
              </a:ext>
            </a:extLst>
          </p:cNvPr>
          <p:cNvSpPr txBox="1"/>
          <p:nvPr/>
        </p:nvSpPr>
        <p:spPr>
          <a:xfrm>
            <a:off x="798286" y="2348076"/>
            <a:ext cx="3033485" cy="369332"/>
          </a:xfrm>
          <a:prstGeom prst="rect">
            <a:avLst/>
          </a:prstGeom>
          <a:noFill/>
        </p:spPr>
        <p:txBody>
          <a:bodyPr wrap="square">
            <a:spAutoFit/>
          </a:bodyPr>
          <a:lstStyle/>
          <a:p>
            <a:r>
              <a:rPr lang="en-GB" dirty="0"/>
              <a:t>Tactical  Level Optimization</a:t>
            </a:r>
          </a:p>
        </p:txBody>
      </p:sp>
      <p:sp>
        <p:nvSpPr>
          <p:cNvPr id="8" name="TextBox 7">
            <a:extLst>
              <a:ext uri="{FF2B5EF4-FFF2-40B4-BE49-F238E27FC236}">
                <a16:creationId xmlns:a16="http://schemas.microsoft.com/office/drawing/2014/main" id="{746DB8A7-FC38-56DE-6945-1E5A89EFE00C}"/>
              </a:ext>
            </a:extLst>
          </p:cNvPr>
          <p:cNvSpPr txBox="1"/>
          <p:nvPr/>
        </p:nvSpPr>
        <p:spPr>
          <a:xfrm>
            <a:off x="798286" y="2717408"/>
            <a:ext cx="3033485" cy="369332"/>
          </a:xfrm>
          <a:prstGeom prst="rect">
            <a:avLst/>
          </a:prstGeom>
          <a:noFill/>
        </p:spPr>
        <p:txBody>
          <a:bodyPr wrap="square">
            <a:spAutoFit/>
          </a:bodyPr>
          <a:lstStyle/>
          <a:p>
            <a:r>
              <a:rPr lang="en-GB" dirty="0"/>
              <a:t>Strategic Level Optimization</a:t>
            </a:r>
            <a:endParaRPr lang="en-US" dirty="0"/>
          </a:p>
        </p:txBody>
      </p:sp>
      <p:sp>
        <p:nvSpPr>
          <p:cNvPr id="10" name="TextBox 9">
            <a:extLst>
              <a:ext uri="{FF2B5EF4-FFF2-40B4-BE49-F238E27FC236}">
                <a16:creationId xmlns:a16="http://schemas.microsoft.com/office/drawing/2014/main" id="{D3603544-19CA-B8DD-227F-E6CD8536C7A1}"/>
              </a:ext>
            </a:extLst>
          </p:cNvPr>
          <p:cNvSpPr txBox="1"/>
          <p:nvPr/>
        </p:nvSpPr>
        <p:spPr>
          <a:xfrm>
            <a:off x="798286" y="1982764"/>
            <a:ext cx="6096000" cy="369332"/>
          </a:xfrm>
          <a:prstGeom prst="rect">
            <a:avLst/>
          </a:prstGeom>
          <a:noFill/>
        </p:spPr>
        <p:txBody>
          <a:bodyPr wrap="square">
            <a:spAutoFit/>
          </a:bodyPr>
          <a:lstStyle/>
          <a:p>
            <a:r>
              <a:rPr lang="en-GB" dirty="0"/>
              <a:t>Operational Level Optimization</a:t>
            </a:r>
            <a:endParaRPr lang="en-US" dirty="0"/>
          </a:p>
        </p:txBody>
      </p:sp>
      <p:sp>
        <p:nvSpPr>
          <p:cNvPr id="11" name="Rectangle 10">
            <a:extLst>
              <a:ext uri="{FF2B5EF4-FFF2-40B4-BE49-F238E27FC236}">
                <a16:creationId xmlns:a16="http://schemas.microsoft.com/office/drawing/2014/main" id="{46A15222-8C5D-9ABC-4BB0-B35D67F99A80}"/>
              </a:ext>
            </a:extLst>
          </p:cNvPr>
          <p:cNvSpPr/>
          <p:nvPr/>
        </p:nvSpPr>
        <p:spPr>
          <a:xfrm>
            <a:off x="798286" y="2348076"/>
            <a:ext cx="3033485" cy="874095"/>
          </a:xfrm>
          <a:prstGeom prst="rect">
            <a:avLst/>
          </a:prstGeom>
          <a:solidFill>
            <a:schemeClr val="accent1">
              <a:alpha val="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A3B9C84B-1E00-90B8-4F98-7AA64BD81A39}"/>
              </a:ext>
            </a:extLst>
          </p:cNvPr>
          <p:cNvSpPr/>
          <p:nvPr/>
        </p:nvSpPr>
        <p:spPr>
          <a:xfrm flipH="1">
            <a:off x="3998686" y="2592533"/>
            <a:ext cx="754743" cy="3653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EA7C46D1-8189-BA9C-D7E0-C8F81F4A67DC}"/>
              </a:ext>
            </a:extLst>
          </p:cNvPr>
          <p:cNvSpPr txBox="1"/>
          <p:nvPr/>
        </p:nvSpPr>
        <p:spPr>
          <a:xfrm>
            <a:off x="798286" y="3796103"/>
            <a:ext cx="6096000" cy="1200329"/>
          </a:xfrm>
          <a:prstGeom prst="rect">
            <a:avLst/>
          </a:prstGeom>
          <a:noFill/>
        </p:spPr>
        <p:txBody>
          <a:bodyPr wrap="square">
            <a:spAutoFit/>
          </a:bodyPr>
          <a:lstStyle/>
          <a:p>
            <a:r>
              <a:rPr lang="en-GB" dirty="0"/>
              <a:t>-Increase/decrease the number of docks</a:t>
            </a:r>
          </a:p>
          <a:p>
            <a:r>
              <a:rPr lang="en-GB" dirty="0"/>
              <a:t>-Adjust the most profitable number of teams at any kind of day or ats specific hours</a:t>
            </a:r>
          </a:p>
          <a:p>
            <a:r>
              <a:rPr lang="en-GB" dirty="0"/>
              <a:t>-Set the best location for a depot as a start teams point</a:t>
            </a:r>
            <a:endParaRPr lang="en-US" dirty="0"/>
          </a:p>
        </p:txBody>
      </p:sp>
      <p:sp>
        <p:nvSpPr>
          <p:cNvPr id="19" name="Arrow: Right 18">
            <a:extLst>
              <a:ext uri="{FF2B5EF4-FFF2-40B4-BE49-F238E27FC236}">
                <a16:creationId xmlns:a16="http://schemas.microsoft.com/office/drawing/2014/main" id="{3C4EC973-4D25-9DDD-D881-E765DB3CF0A4}"/>
              </a:ext>
            </a:extLst>
          </p:cNvPr>
          <p:cNvSpPr/>
          <p:nvPr/>
        </p:nvSpPr>
        <p:spPr>
          <a:xfrm flipH="1">
            <a:off x="7219043" y="2551333"/>
            <a:ext cx="754743" cy="3653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lowchart: Magnetic Disk 19">
            <a:extLst>
              <a:ext uri="{FF2B5EF4-FFF2-40B4-BE49-F238E27FC236}">
                <a16:creationId xmlns:a16="http://schemas.microsoft.com/office/drawing/2014/main" id="{E9D8BF65-18FB-EA41-4D77-AC08164EC4F9}"/>
              </a:ext>
            </a:extLst>
          </p:cNvPr>
          <p:cNvSpPr/>
          <p:nvPr/>
        </p:nvSpPr>
        <p:spPr>
          <a:xfrm>
            <a:off x="8360231" y="2319158"/>
            <a:ext cx="1081313" cy="903013"/>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Hstoric</a:t>
            </a:r>
            <a:r>
              <a:rPr lang="en-US" dirty="0"/>
              <a:t> Data</a:t>
            </a:r>
          </a:p>
        </p:txBody>
      </p:sp>
      <p:sp>
        <p:nvSpPr>
          <p:cNvPr id="21" name="Flowchart: Predefined Process 20">
            <a:extLst>
              <a:ext uri="{FF2B5EF4-FFF2-40B4-BE49-F238E27FC236}">
                <a16:creationId xmlns:a16="http://schemas.microsoft.com/office/drawing/2014/main" id="{8F3E2A8A-171E-8712-548A-DB9386C74F40}"/>
              </a:ext>
            </a:extLst>
          </p:cNvPr>
          <p:cNvSpPr/>
          <p:nvPr/>
        </p:nvSpPr>
        <p:spPr>
          <a:xfrm>
            <a:off x="5163458" y="2319158"/>
            <a:ext cx="1748973" cy="829662"/>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Optimizaion</a:t>
            </a:r>
            <a:r>
              <a:rPr lang="en-US" dirty="0"/>
              <a:t> Simulation</a:t>
            </a:r>
          </a:p>
        </p:txBody>
      </p:sp>
    </p:spTree>
    <p:extLst>
      <p:ext uri="{BB962C8B-B14F-4D97-AF65-F5344CB8AC3E}">
        <p14:creationId xmlns:p14="http://schemas.microsoft.com/office/powerpoint/2010/main" val="41516912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Simulation implementation</a:t>
            </a:r>
            <a:endParaRPr lang="es-ES" dirty="0"/>
          </a:p>
        </p:txBody>
      </p:sp>
      <p:sp>
        <p:nvSpPr>
          <p:cNvPr id="23" name="TextBox 22">
            <a:extLst>
              <a:ext uri="{FF2B5EF4-FFF2-40B4-BE49-F238E27FC236}">
                <a16:creationId xmlns:a16="http://schemas.microsoft.com/office/drawing/2014/main" id="{DADD98CA-FBA6-2342-4BCD-FA14BF9DF30F}"/>
              </a:ext>
            </a:extLst>
          </p:cNvPr>
          <p:cNvSpPr txBox="1"/>
          <p:nvPr/>
        </p:nvSpPr>
        <p:spPr>
          <a:xfrm>
            <a:off x="688876" y="1799227"/>
            <a:ext cx="2795091" cy="307777"/>
          </a:xfrm>
          <a:prstGeom prst="rect">
            <a:avLst/>
          </a:prstGeom>
          <a:noFill/>
        </p:spPr>
        <p:txBody>
          <a:bodyPr wrap="square">
            <a:spAutoFit/>
          </a:bodyPr>
          <a:lstStyle/>
          <a:p>
            <a:r>
              <a:rPr lang="en-GB" sz="1400" b="1" dirty="0"/>
              <a:t>1. Number of Simultaneous Teams </a:t>
            </a:r>
            <a:endParaRPr lang="en-US" sz="1400" b="1" dirty="0"/>
          </a:p>
        </p:txBody>
      </p:sp>
      <p:sp>
        <p:nvSpPr>
          <p:cNvPr id="25" name="TextBox 24">
            <a:extLst>
              <a:ext uri="{FF2B5EF4-FFF2-40B4-BE49-F238E27FC236}">
                <a16:creationId xmlns:a16="http://schemas.microsoft.com/office/drawing/2014/main" id="{AEDEF5BB-D92A-BC0E-89F6-27195B4C39E4}"/>
              </a:ext>
            </a:extLst>
          </p:cNvPr>
          <p:cNvSpPr txBox="1"/>
          <p:nvPr/>
        </p:nvSpPr>
        <p:spPr>
          <a:xfrm>
            <a:off x="700339" y="2068290"/>
            <a:ext cx="2795091" cy="307777"/>
          </a:xfrm>
          <a:prstGeom prst="rect">
            <a:avLst/>
          </a:prstGeom>
          <a:noFill/>
        </p:spPr>
        <p:txBody>
          <a:bodyPr wrap="square">
            <a:spAutoFit/>
          </a:bodyPr>
          <a:lstStyle/>
          <a:p>
            <a:r>
              <a:rPr lang="en-GB" sz="1400" b="1" dirty="0"/>
              <a:t>2. Change Init Station for a Team</a:t>
            </a:r>
            <a:endParaRPr lang="en-US" sz="1400" b="1" dirty="0"/>
          </a:p>
        </p:txBody>
      </p:sp>
      <p:sp>
        <p:nvSpPr>
          <p:cNvPr id="27" name="TextBox 26">
            <a:extLst>
              <a:ext uri="{FF2B5EF4-FFF2-40B4-BE49-F238E27FC236}">
                <a16:creationId xmlns:a16="http://schemas.microsoft.com/office/drawing/2014/main" id="{EA5CAB9A-A75D-DC46-413A-92D123DE4CAE}"/>
              </a:ext>
            </a:extLst>
          </p:cNvPr>
          <p:cNvSpPr txBox="1"/>
          <p:nvPr/>
        </p:nvSpPr>
        <p:spPr>
          <a:xfrm>
            <a:off x="711803" y="2370873"/>
            <a:ext cx="2795091" cy="307777"/>
          </a:xfrm>
          <a:prstGeom prst="rect">
            <a:avLst/>
          </a:prstGeom>
          <a:noFill/>
        </p:spPr>
        <p:txBody>
          <a:bodyPr wrap="square">
            <a:spAutoFit/>
          </a:bodyPr>
          <a:lstStyle/>
          <a:p>
            <a:r>
              <a:rPr lang="en-GB" sz="1400" b="1" dirty="0"/>
              <a:t>3. Fix Maximum Time Available</a:t>
            </a:r>
            <a:endParaRPr lang="en-US" sz="1400" b="1" dirty="0"/>
          </a:p>
        </p:txBody>
      </p:sp>
      <p:sp>
        <p:nvSpPr>
          <p:cNvPr id="28" name="TextBox 27">
            <a:extLst>
              <a:ext uri="{FF2B5EF4-FFF2-40B4-BE49-F238E27FC236}">
                <a16:creationId xmlns:a16="http://schemas.microsoft.com/office/drawing/2014/main" id="{D828B1D6-CD0C-0493-0171-919BD94BA30D}"/>
              </a:ext>
            </a:extLst>
          </p:cNvPr>
          <p:cNvSpPr txBox="1"/>
          <p:nvPr/>
        </p:nvSpPr>
        <p:spPr>
          <a:xfrm>
            <a:off x="711803" y="2667675"/>
            <a:ext cx="2795091" cy="307777"/>
          </a:xfrm>
          <a:prstGeom prst="rect">
            <a:avLst/>
          </a:prstGeom>
          <a:noFill/>
        </p:spPr>
        <p:txBody>
          <a:bodyPr wrap="square">
            <a:spAutoFit/>
          </a:bodyPr>
          <a:lstStyle/>
          <a:p>
            <a:r>
              <a:rPr lang="en-GB" sz="1400" b="1" dirty="0"/>
              <a:t>4. Select Real-Time / </a:t>
            </a:r>
            <a:r>
              <a:rPr lang="en-GB" sz="1400" b="1" dirty="0" err="1"/>
              <a:t>Historiic</a:t>
            </a:r>
            <a:r>
              <a:rPr lang="en-GB" sz="1400" b="1" dirty="0"/>
              <a:t> Data</a:t>
            </a:r>
            <a:endParaRPr lang="en-US" sz="1400" b="1" dirty="0"/>
          </a:p>
        </p:txBody>
      </p:sp>
      <p:sp>
        <p:nvSpPr>
          <p:cNvPr id="29" name="TextBox 28">
            <a:extLst>
              <a:ext uri="{FF2B5EF4-FFF2-40B4-BE49-F238E27FC236}">
                <a16:creationId xmlns:a16="http://schemas.microsoft.com/office/drawing/2014/main" id="{2251F967-88A6-87DC-D054-2073041A7275}"/>
              </a:ext>
            </a:extLst>
          </p:cNvPr>
          <p:cNvSpPr txBox="1"/>
          <p:nvPr/>
        </p:nvSpPr>
        <p:spPr>
          <a:xfrm>
            <a:off x="711803" y="2948059"/>
            <a:ext cx="2795091" cy="307777"/>
          </a:xfrm>
          <a:prstGeom prst="rect">
            <a:avLst/>
          </a:prstGeom>
          <a:noFill/>
        </p:spPr>
        <p:txBody>
          <a:bodyPr wrap="square">
            <a:spAutoFit/>
          </a:bodyPr>
          <a:lstStyle/>
          <a:p>
            <a:r>
              <a:rPr lang="en-GB" sz="1400" b="1" dirty="0"/>
              <a:t>5. Select Historic Data </a:t>
            </a:r>
            <a:r>
              <a:rPr lang="en-GB" sz="1400" b="1" dirty="0" err="1"/>
              <a:t>Avaliable</a:t>
            </a:r>
            <a:endParaRPr lang="en-US" sz="1400" b="1" dirty="0"/>
          </a:p>
        </p:txBody>
      </p:sp>
      <p:pic>
        <p:nvPicPr>
          <p:cNvPr id="31" name="Picture 30">
            <a:extLst>
              <a:ext uri="{FF2B5EF4-FFF2-40B4-BE49-F238E27FC236}">
                <a16:creationId xmlns:a16="http://schemas.microsoft.com/office/drawing/2014/main" id="{E5CF82EB-C04D-0A58-0CF3-CE144F3D2B2F}"/>
              </a:ext>
            </a:extLst>
          </p:cNvPr>
          <p:cNvPicPr>
            <a:picLocks noChangeAspect="1"/>
          </p:cNvPicPr>
          <p:nvPr/>
        </p:nvPicPr>
        <p:blipFill>
          <a:blip r:embed="rId2"/>
          <a:stretch>
            <a:fillRect/>
          </a:stretch>
        </p:blipFill>
        <p:spPr>
          <a:xfrm>
            <a:off x="3825240" y="1437631"/>
            <a:ext cx="6415474" cy="1406131"/>
          </a:xfrm>
          <a:prstGeom prst="rect">
            <a:avLst/>
          </a:prstGeom>
        </p:spPr>
      </p:pic>
      <p:sp>
        <p:nvSpPr>
          <p:cNvPr id="33" name="TextBox 32">
            <a:extLst>
              <a:ext uri="{FF2B5EF4-FFF2-40B4-BE49-F238E27FC236}">
                <a16:creationId xmlns:a16="http://schemas.microsoft.com/office/drawing/2014/main" id="{328B88B4-850B-2E72-ABA2-E39279467D2E}"/>
              </a:ext>
            </a:extLst>
          </p:cNvPr>
          <p:cNvSpPr txBox="1"/>
          <p:nvPr/>
        </p:nvSpPr>
        <p:spPr>
          <a:xfrm>
            <a:off x="711803" y="3207827"/>
            <a:ext cx="2917011" cy="307777"/>
          </a:xfrm>
          <a:prstGeom prst="rect">
            <a:avLst/>
          </a:prstGeom>
          <a:noFill/>
        </p:spPr>
        <p:txBody>
          <a:bodyPr wrap="square">
            <a:spAutoFit/>
          </a:bodyPr>
          <a:lstStyle/>
          <a:p>
            <a:r>
              <a:rPr lang="en-GB" sz="1400" b="1" dirty="0">
                <a:highlight>
                  <a:srgbClr val="C0C0C0"/>
                </a:highlight>
              </a:rPr>
              <a:t>6. Run for Optimization results</a:t>
            </a:r>
            <a:endParaRPr lang="en-US" sz="1400" b="1" dirty="0">
              <a:highlight>
                <a:srgbClr val="C0C0C0"/>
              </a:highlight>
            </a:endParaRPr>
          </a:p>
        </p:txBody>
      </p:sp>
      <p:cxnSp>
        <p:nvCxnSpPr>
          <p:cNvPr id="51" name="Connector: Curved 50">
            <a:extLst>
              <a:ext uri="{FF2B5EF4-FFF2-40B4-BE49-F238E27FC236}">
                <a16:creationId xmlns:a16="http://schemas.microsoft.com/office/drawing/2014/main" id="{7E09B83C-9DF6-786A-F484-5F45D4912335}"/>
              </a:ext>
            </a:extLst>
          </p:cNvPr>
          <p:cNvCxnSpPr>
            <a:cxnSpLocks/>
            <a:stCxn id="23" idx="3"/>
          </p:cNvCxnSpPr>
          <p:nvPr/>
        </p:nvCxnSpPr>
        <p:spPr>
          <a:xfrm>
            <a:off x="3483967" y="1953116"/>
            <a:ext cx="776846" cy="187581"/>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C97CB9F3-F271-7111-4AEA-0DE9F1AADAE3}"/>
              </a:ext>
            </a:extLst>
          </p:cNvPr>
          <p:cNvCxnSpPr>
            <a:cxnSpLocks/>
          </p:cNvCxnSpPr>
          <p:nvPr/>
        </p:nvCxnSpPr>
        <p:spPr>
          <a:xfrm flipV="1">
            <a:off x="3187917" y="2185463"/>
            <a:ext cx="2023872" cy="319642"/>
          </a:xfrm>
          <a:prstGeom prst="curvedConnector3">
            <a:avLst>
              <a:gd name="adj1" fmla="val 7771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4" name="Connector: Curved 333">
            <a:extLst>
              <a:ext uri="{FF2B5EF4-FFF2-40B4-BE49-F238E27FC236}">
                <a16:creationId xmlns:a16="http://schemas.microsoft.com/office/drawing/2014/main" id="{54AF98D8-88A5-CA27-7693-5F4AAE9FD09B}"/>
              </a:ext>
            </a:extLst>
          </p:cNvPr>
          <p:cNvCxnSpPr>
            <a:cxnSpLocks/>
            <a:stCxn id="28" idx="3"/>
          </p:cNvCxnSpPr>
          <p:nvPr/>
        </p:nvCxnSpPr>
        <p:spPr>
          <a:xfrm flipV="1">
            <a:off x="3506894" y="1922665"/>
            <a:ext cx="5578511" cy="89889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8" name="Connector: Curved 337">
            <a:extLst>
              <a:ext uri="{FF2B5EF4-FFF2-40B4-BE49-F238E27FC236}">
                <a16:creationId xmlns:a16="http://schemas.microsoft.com/office/drawing/2014/main" id="{3ADFA628-38B6-0F8F-F881-A8B2B93AC412}"/>
              </a:ext>
            </a:extLst>
          </p:cNvPr>
          <p:cNvCxnSpPr/>
          <p:nvPr/>
        </p:nvCxnSpPr>
        <p:spPr>
          <a:xfrm flipV="1">
            <a:off x="3187917" y="2678650"/>
            <a:ext cx="3560064" cy="423297"/>
          </a:xfrm>
          <a:prstGeom prst="curvedConnector3">
            <a:avLst>
              <a:gd name="adj1" fmla="val 108561"/>
            </a:avLst>
          </a:prstGeom>
          <a:ln>
            <a:tailEnd type="triangle"/>
          </a:ln>
        </p:spPr>
        <p:style>
          <a:lnRef idx="1">
            <a:schemeClr val="accent1"/>
          </a:lnRef>
          <a:fillRef idx="0">
            <a:schemeClr val="accent1"/>
          </a:fillRef>
          <a:effectRef idx="0">
            <a:schemeClr val="accent1"/>
          </a:effectRef>
          <a:fontRef idx="minor">
            <a:schemeClr val="tx1"/>
          </a:fontRef>
        </p:style>
      </p:cxnSp>
      <p:sp>
        <p:nvSpPr>
          <p:cNvPr id="395" name="TextBox 394">
            <a:extLst>
              <a:ext uri="{FF2B5EF4-FFF2-40B4-BE49-F238E27FC236}">
                <a16:creationId xmlns:a16="http://schemas.microsoft.com/office/drawing/2014/main" id="{6AC593E9-3A44-57D9-D1A3-E1F96AB97040}"/>
              </a:ext>
            </a:extLst>
          </p:cNvPr>
          <p:cNvSpPr txBox="1"/>
          <p:nvPr/>
        </p:nvSpPr>
        <p:spPr>
          <a:xfrm>
            <a:off x="711803" y="3440202"/>
            <a:ext cx="2795091" cy="307777"/>
          </a:xfrm>
          <a:prstGeom prst="rect">
            <a:avLst/>
          </a:prstGeom>
          <a:noFill/>
        </p:spPr>
        <p:txBody>
          <a:bodyPr wrap="square">
            <a:spAutoFit/>
          </a:bodyPr>
          <a:lstStyle/>
          <a:p>
            <a:r>
              <a:rPr lang="en-GB" sz="1400" b="1" dirty="0">
                <a:solidFill>
                  <a:srgbClr val="FF0000"/>
                </a:solidFill>
              </a:rPr>
              <a:t>7. View results</a:t>
            </a:r>
            <a:endParaRPr lang="en-US" sz="1400" b="1" dirty="0">
              <a:solidFill>
                <a:srgbClr val="FF0000"/>
              </a:solidFill>
            </a:endParaRPr>
          </a:p>
        </p:txBody>
      </p:sp>
      <p:pic>
        <p:nvPicPr>
          <p:cNvPr id="397" name="Picture 396">
            <a:extLst>
              <a:ext uri="{FF2B5EF4-FFF2-40B4-BE49-F238E27FC236}">
                <a16:creationId xmlns:a16="http://schemas.microsoft.com/office/drawing/2014/main" id="{656F1A2A-AF42-D3A8-C08D-EE9079A5447B}"/>
              </a:ext>
            </a:extLst>
          </p:cNvPr>
          <p:cNvPicPr>
            <a:picLocks noChangeAspect="1"/>
          </p:cNvPicPr>
          <p:nvPr/>
        </p:nvPicPr>
        <p:blipFill>
          <a:blip r:embed="rId3"/>
          <a:stretch>
            <a:fillRect/>
          </a:stretch>
        </p:blipFill>
        <p:spPr>
          <a:xfrm>
            <a:off x="3749887" y="3264699"/>
            <a:ext cx="6449568" cy="1753608"/>
          </a:xfrm>
          <a:prstGeom prst="rect">
            <a:avLst/>
          </a:prstGeom>
        </p:spPr>
      </p:pic>
      <p:cxnSp>
        <p:nvCxnSpPr>
          <p:cNvPr id="392" name="Connector: Curved 391">
            <a:extLst>
              <a:ext uri="{FF2B5EF4-FFF2-40B4-BE49-F238E27FC236}">
                <a16:creationId xmlns:a16="http://schemas.microsoft.com/office/drawing/2014/main" id="{A7A39B60-CBA7-4952-6F83-91FA6AE4EF04}"/>
              </a:ext>
            </a:extLst>
          </p:cNvPr>
          <p:cNvCxnSpPr/>
          <p:nvPr/>
        </p:nvCxnSpPr>
        <p:spPr>
          <a:xfrm rot="5400000" flipH="1" flipV="1">
            <a:off x="7202192" y="2743328"/>
            <a:ext cx="1895739" cy="853440"/>
          </a:xfrm>
          <a:prstGeom prst="curvedConnector3">
            <a:avLst>
              <a:gd name="adj1" fmla="val 4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0" name="Connector: Curved 389">
            <a:extLst>
              <a:ext uri="{FF2B5EF4-FFF2-40B4-BE49-F238E27FC236}">
                <a16:creationId xmlns:a16="http://schemas.microsoft.com/office/drawing/2014/main" id="{29B6BE0E-48EE-7A9F-234D-64CDE5EC3778}"/>
              </a:ext>
            </a:extLst>
          </p:cNvPr>
          <p:cNvCxnSpPr/>
          <p:nvPr/>
        </p:nvCxnSpPr>
        <p:spPr>
          <a:xfrm>
            <a:off x="3187917" y="2222178"/>
            <a:ext cx="4535424" cy="1895739"/>
          </a:xfrm>
          <a:prstGeom prst="curvedConnector3">
            <a:avLst/>
          </a:prstGeom>
        </p:spPr>
        <p:style>
          <a:lnRef idx="1">
            <a:schemeClr val="accent1"/>
          </a:lnRef>
          <a:fillRef idx="0">
            <a:schemeClr val="accent1"/>
          </a:fillRef>
          <a:effectRef idx="0">
            <a:schemeClr val="accent1"/>
          </a:effectRef>
          <a:fontRef idx="minor">
            <a:schemeClr val="tx1"/>
          </a:fontRef>
        </p:style>
      </p:cxnSp>
      <p:cxnSp>
        <p:nvCxnSpPr>
          <p:cNvPr id="342" name="Connector: Curved 341">
            <a:extLst>
              <a:ext uri="{FF2B5EF4-FFF2-40B4-BE49-F238E27FC236}">
                <a16:creationId xmlns:a16="http://schemas.microsoft.com/office/drawing/2014/main" id="{3EA8D85B-1905-57AE-FB3A-C15E9B031AAC}"/>
              </a:ext>
            </a:extLst>
          </p:cNvPr>
          <p:cNvCxnSpPr/>
          <p:nvPr/>
        </p:nvCxnSpPr>
        <p:spPr>
          <a:xfrm flipV="1">
            <a:off x="3187917" y="2185463"/>
            <a:ext cx="6449568" cy="1176252"/>
          </a:xfrm>
          <a:prstGeom prst="curvedConnector3">
            <a:avLst>
              <a:gd name="adj1" fmla="val 83459"/>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4" name="Picture 393">
            <a:extLst>
              <a:ext uri="{FF2B5EF4-FFF2-40B4-BE49-F238E27FC236}">
                <a16:creationId xmlns:a16="http://schemas.microsoft.com/office/drawing/2014/main" id="{6649E6A5-FC67-1EEB-63DF-7BBE27071121}"/>
              </a:ext>
            </a:extLst>
          </p:cNvPr>
          <p:cNvPicPr>
            <a:picLocks noChangeAspect="1"/>
          </p:cNvPicPr>
          <p:nvPr/>
        </p:nvPicPr>
        <p:blipFill>
          <a:blip r:embed="rId4"/>
          <a:stretch>
            <a:fillRect/>
          </a:stretch>
        </p:blipFill>
        <p:spPr>
          <a:xfrm>
            <a:off x="1667698" y="4128892"/>
            <a:ext cx="4315084" cy="1441896"/>
          </a:xfrm>
          <a:prstGeom prst="rect">
            <a:avLst/>
          </a:prstGeom>
        </p:spPr>
      </p:pic>
      <p:cxnSp>
        <p:nvCxnSpPr>
          <p:cNvPr id="399" name="Connector: Curved 398">
            <a:extLst>
              <a:ext uri="{FF2B5EF4-FFF2-40B4-BE49-F238E27FC236}">
                <a16:creationId xmlns:a16="http://schemas.microsoft.com/office/drawing/2014/main" id="{2184FE09-239F-7D91-126D-DB1EE0501AC9}"/>
              </a:ext>
            </a:extLst>
          </p:cNvPr>
          <p:cNvCxnSpPr>
            <a:cxnSpLocks/>
          </p:cNvCxnSpPr>
          <p:nvPr/>
        </p:nvCxnSpPr>
        <p:spPr>
          <a:xfrm>
            <a:off x="2001888" y="3594090"/>
            <a:ext cx="1978509" cy="98029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5" name="Connector: Curved 404">
            <a:extLst>
              <a:ext uri="{FF2B5EF4-FFF2-40B4-BE49-F238E27FC236}">
                <a16:creationId xmlns:a16="http://schemas.microsoft.com/office/drawing/2014/main" id="{D64AC409-C699-A3D0-0EE2-BEA74AFA3BE3}"/>
              </a:ext>
            </a:extLst>
          </p:cNvPr>
          <p:cNvCxnSpPr/>
          <p:nvPr/>
        </p:nvCxnSpPr>
        <p:spPr>
          <a:xfrm>
            <a:off x="2001888" y="3581938"/>
            <a:ext cx="4648557" cy="72034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407" name="Picture 406">
            <a:extLst>
              <a:ext uri="{FF2B5EF4-FFF2-40B4-BE49-F238E27FC236}">
                <a16:creationId xmlns:a16="http://schemas.microsoft.com/office/drawing/2014/main" id="{E5061B9F-133A-A187-98B8-CCA53CAC16E8}"/>
              </a:ext>
            </a:extLst>
          </p:cNvPr>
          <p:cNvPicPr>
            <a:picLocks noChangeAspect="1"/>
          </p:cNvPicPr>
          <p:nvPr/>
        </p:nvPicPr>
        <p:blipFill>
          <a:blip r:embed="rId5"/>
          <a:stretch>
            <a:fillRect/>
          </a:stretch>
        </p:blipFill>
        <p:spPr>
          <a:xfrm>
            <a:off x="6454922" y="5267642"/>
            <a:ext cx="3744533" cy="1236621"/>
          </a:xfrm>
          <a:prstGeom prst="rect">
            <a:avLst/>
          </a:prstGeom>
        </p:spPr>
      </p:pic>
      <p:cxnSp>
        <p:nvCxnSpPr>
          <p:cNvPr id="409" name="Connector: Curved 408">
            <a:extLst>
              <a:ext uri="{FF2B5EF4-FFF2-40B4-BE49-F238E27FC236}">
                <a16:creationId xmlns:a16="http://schemas.microsoft.com/office/drawing/2014/main" id="{94F1B9D4-4A5A-5C9C-01F0-8C496B8F8DB1}"/>
              </a:ext>
            </a:extLst>
          </p:cNvPr>
          <p:cNvCxnSpPr/>
          <p:nvPr/>
        </p:nvCxnSpPr>
        <p:spPr>
          <a:xfrm>
            <a:off x="3187917" y="2222178"/>
            <a:ext cx="4432082" cy="38377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C884E22-0F85-4CD8-BD27-A22C116BA0E2}"/>
              </a:ext>
            </a:extLst>
          </p:cNvPr>
          <p:cNvSpPr txBox="1"/>
          <p:nvPr/>
        </p:nvSpPr>
        <p:spPr>
          <a:xfrm>
            <a:off x="745298" y="1310087"/>
            <a:ext cx="2513179" cy="380943"/>
          </a:xfrm>
          <a:prstGeom prst="rect">
            <a:avLst/>
          </a:prstGeom>
          <a:solidFill>
            <a:schemeClr val="bg1">
              <a:lumMod val="85000"/>
            </a:schemeClr>
          </a:solidFill>
        </p:spPr>
        <p:txBody>
          <a:bodyPr wrap="square">
            <a:spAutoFit/>
          </a:bodyPr>
          <a:lstStyle/>
          <a:p>
            <a:r>
              <a:rPr lang="en-GB" b="1" dirty="0"/>
              <a:t>Simulation Process</a:t>
            </a:r>
            <a:endParaRPr lang="en-US" b="1" dirty="0"/>
          </a:p>
        </p:txBody>
      </p:sp>
    </p:spTree>
    <p:extLst>
      <p:ext uri="{BB962C8B-B14F-4D97-AF65-F5344CB8AC3E}">
        <p14:creationId xmlns:p14="http://schemas.microsoft.com/office/powerpoint/2010/main" val="3173012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Simulation implementation</a:t>
            </a:r>
            <a:endParaRPr lang="es-ES" dirty="0"/>
          </a:p>
        </p:txBody>
      </p:sp>
      <p:sp>
        <p:nvSpPr>
          <p:cNvPr id="23" name="TextBox 22">
            <a:extLst>
              <a:ext uri="{FF2B5EF4-FFF2-40B4-BE49-F238E27FC236}">
                <a16:creationId xmlns:a16="http://schemas.microsoft.com/office/drawing/2014/main" id="{DADD98CA-FBA6-2342-4BCD-FA14BF9DF30F}"/>
              </a:ext>
            </a:extLst>
          </p:cNvPr>
          <p:cNvSpPr txBox="1"/>
          <p:nvPr/>
        </p:nvSpPr>
        <p:spPr>
          <a:xfrm>
            <a:off x="745298" y="1874253"/>
            <a:ext cx="2795091" cy="307777"/>
          </a:xfrm>
          <a:prstGeom prst="rect">
            <a:avLst/>
          </a:prstGeom>
          <a:noFill/>
        </p:spPr>
        <p:txBody>
          <a:bodyPr wrap="square">
            <a:spAutoFit/>
          </a:bodyPr>
          <a:lstStyle/>
          <a:p>
            <a:r>
              <a:rPr lang="en-GB" sz="1400" b="1" dirty="0"/>
              <a:t>1. Number of Simultaneous Teams </a:t>
            </a:r>
            <a:endParaRPr lang="en-US" sz="1400" b="1" dirty="0"/>
          </a:p>
        </p:txBody>
      </p:sp>
      <p:sp>
        <p:nvSpPr>
          <p:cNvPr id="25" name="TextBox 24">
            <a:extLst>
              <a:ext uri="{FF2B5EF4-FFF2-40B4-BE49-F238E27FC236}">
                <a16:creationId xmlns:a16="http://schemas.microsoft.com/office/drawing/2014/main" id="{AEDEF5BB-D92A-BC0E-89F6-27195B4C39E4}"/>
              </a:ext>
            </a:extLst>
          </p:cNvPr>
          <p:cNvSpPr txBox="1"/>
          <p:nvPr/>
        </p:nvSpPr>
        <p:spPr>
          <a:xfrm>
            <a:off x="756761" y="2143316"/>
            <a:ext cx="2795091" cy="307777"/>
          </a:xfrm>
          <a:prstGeom prst="rect">
            <a:avLst/>
          </a:prstGeom>
          <a:noFill/>
        </p:spPr>
        <p:txBody>
          <a:bodyPr wrap="square">
            <a:spAutoFit/>
          </a:bodyPr>
          <a:lstStyle/>
          <a:p>
            <a:r>
              <a:rPr lang="en-GB" sz="1400" b="1" dirty="0"/>
              <a:t>2. Change Init Station for a Team</a:t>
            </a:r>
            <a:endParaRPr lang="en-US" sz="1400" b="1" dirty="0"/>
          </a:p>
        </p:txBody>
      </p:sp>
      <p:sp>
        <p:nvSpPr>
          <p:cNvPr id="27" name="TextBox 26">
            <a:extLst>
              <a:ext uri="{FF2B5EF4-FFF2-40B4-BE49-F238E27FC236}">
                <a16:creationId xmlns:a16="http://schemas.microsoft.com/office/drawing/2014/main" id="{EA5CAB9A-A75D-DC46-413A-92D123DE4CAE}"/>
              </a:ext>
            </a:extLst>
          </p:cNvPr>
          <p:cNvSpPr txBox="1"/>
          <p:nvPr/>
        </p:nvSpPr>
        <p:spPr>
          <a:xfrm>
            <a:off x="768225" y="2445899"/>
            <a:ext cx="2795091" cy="307777"/>
          </a:xfrm>
          <a:prstGeom prst="rect">
            <a:avLst/>
          </a:prstGeom>
          <a:noFill/>
        </p:spPr>
        <p:txBody>
          <a:bodyPr wrap="square">
            <a:spAutoFit/>
          </a:bodyPr>
          <a:lstStyle/>
          <a:p>
            <a:r>
              <a:rPr lang="en-GB" sz="1400" b="1" dirty="0"/>
              <a:t>3. Fix Maximum Time Available</a:t>
            </a:r>
            <a:endParaRPr lang="en-US" sz="1400" b="1" dirty="0"/>
          </a:p>
        </p:txBody>
      </p:sp>
      <p:sp>
        <p:nvSpPr>
          <p:cNvPr id="28" name="TextBox 27">
            <a:extLst>
              <a:ext uri="{FF2B5EF4-FFF2-40B4-BE49-F238E27FC236}">
                <a16:creationId xmlns:a16="http://schemas.microsoft.com/office/drawing/2014/main" id="{D828B1D6-CD0C-0493-0171-919BD94BA30D}"/>
              </a:ext>
            </a:extLst>
          </p:cNvPr>
          <p:cNvSpPr txBox="1"/>
          <p:nvPr/>
        </p:nvSpPr>
        <p:spPr>
          <a:xfrm>
            <a:off x="768225" y="2742701"/>
            <a:ext cx="2795091" cy="307777"/>
          </a:xfrm>
          <a:prstGeom prst="rect">
            <a:avLst/>
          </a:prstGeom>
          <a:noFill/>
        </p:spPr>
        <p:txBody>
          <a:bodyPr wrap="square">
            <a:spAutoFit/>
          </a:bodyPr>
          <a:lstStyle/>
          <a:p>
            <a:r>
              <a:rPr lang="en-GB" sz="1400" b="1" dirty="0"/>
              <a:t>4. Select Real-Time / </a:t>
            </a:r>
            <a:r>
              <a:rPr lang="en-GB" sz="1400" b="1" dirty="0" err="1"/>
              <a:t>Historiic</a:t>
            </a:r>
            <a:r>
              <a:rPr lang="en-GB" sz="1400" b="1" dirty="0"/>
              <a:t> Data</a:t>
            </a:r>
            <a:endParaRPr lang="en-US" sz="1400" b="1" dirty="0"/>
          </a:p>
        </p:txBody>
      </p:sp>
      <p:sp>
        <p:nvSpPr>
          <p:cNvPr id="29" name="TextBox 28">
            <a:extLst>
              <a:ext uri="{FF2B5EF4-FFF2-40B4-BE49-F238E27FC236}">
                <a16:creationId xmlns:a16="http://schemas.microsoft.com/office/drawing/2014/main" id="{2251F967-88A6-87DC-D054-2073041A7275}"/>
              </a:ext>
            </a:extLst>
          </p:cNvPr>
          <p:cNvSpPr txBox="1"/>
          <p:nvPr/>
        </p:nvSpPr>
        <p:spPr>
          <a:xfrm>
            <a:off x="768225" y="3023085"/>
            <a:ext cx="2795091" cy="307777"/>
          </a:xfrm>
          <a:prstGeom prst="rect">
            <a:avLst/>
          </a:prstGeom>
          <a:noFill/>
        </p:spPr>
        <p:txBody>
          <a:bodyPr wrap="square">
            <a:spAutoFit/>
          </a:bodyPr>
          <a:lstStyle/>
          <a:p>
            <a:r>
              <a:rPr lang="en-GB" sz="1400" b="1" dirty="0"/>
              <a:t>5. Select Historic Data </a:t>
            </a:r>
            <a:r>
              <a:rPr lang="en-GB" sz="1400" b="1" dirty="0" err="1"/>
              <a:t>Avaliable</a:t>
            </a:r>
            <a:endParaRPr lang="en-US" sz="1400" b="1" dirty="0"/>
          </a:p>
        </p:txBody>
      </p:sp>
      <p:sp>
        <p:nvSpPr>
          <p:cNvPr id="33" name="TextBox 32">
            <a:extLst>
              <a:ext uri="{FF2B5EF4-FFF2-40B4-BE49-F238E27FC236}">
                <a16:creationId xmlns:a16="http://schemas.microsoft.com/office/drawing/2014/main" id="{328B88B4-850B-2E72-ABA2-E39279467D2E}"/>
              </a:ext>
            </a:extLst>
          </p:cNvPr>
          <p:cNvSpPr txBox="1"/>
          <p:nvPr/>
        </p:nvSpPr>
        <p:spPr>
          <a:xfrm>
            <a:off x="768225" y="3282853"/>
            <a:ext cx="2917011" cy="307777"/>
          </a:xfrm>
          <a:prstGeom prst="rect">
            <a:avLst/>
          </a:prstGeom>
          <a:noFill/>
        </p:spPr>
        <p:txBody>
          <a:bodyPr wrap="square">
            <a:spAutoFit/>
          </a:bodyPr>
          <a:lstStyle/>
          <a:p>
            <a:r>
              <a:rPr lang="en-GB" sz="1400" b="1" dirty="0">
                <a:highlight>
                  <a:srgbClr val="C0C0C0"/>
                </a:highlight>
              </a:rPr>
              <a:t>6. Run for Optimization results</a:t>
            </a:r>
            <a:endParaRPr lang="en-US" sz="1400" b="1" dirty="0">
              <a:highlight>
                <a:srgbClr val="C0C0C0"/>
              </a:highlight>
            </a:endParaRPr>
          </a:p>
        </p:txBody>
      </p:sp>
      <p:sp>
        <p:nvSpPr>
          <p:cNvPr id="4" name="TextBox 3">
            <a:extLst>
              <a:ext uri="{FF2B5EF4-FFF2-40B4-BE49-F238E27FC236}">
                <a16:creationId xmlns:a16="http://schemas.microsoft.com/office/drawing/2014/main" id="{D44F6715-0A7E-9294-A01B-E636F9EDBF16}"/>
              </a:ext>
            </a:extLst>
          </p:cNvPr>
          <p:cNvSpPr txBox="1"/>
          <p:nvPr/>
        </p:nvSpPr>
        <p:spPr>
          <a:xfrm>
            <a:off x="756761" y="4614121"/>
            <a:ext cx="2917011" cy="307777"/>
          </a:xfrm>
          <a:prstGeom prst="rect">
            <a:avLst/>
          </a:prstGeom>
          <a:noFill/>
        </p:spPr>
        <p:txBody>
          <a:bodyPr wrap="square">
            <a:spAutoFit/>
          </a:bodyPr>
          <a:lstStyle/>
          <a:p>
            <a:r>
              <a:rPr lang="en-GB" sz="1400" b="1" dirty="0">
                <a:solidFill>
                  <a:srgbClr val="0070C0"/>
                </a:solidFill>
              </a:rPr>
              <a:t>9. Use Station Identification Tool</a:t>
            </a:r>
            <a:endParaRPr lang="en-US" sz="1400" b="1" dirty="0">
              <a:solidFill>
                <a:srgbClr val="0070C0"/>
              </a:solidFill>
            </a:endParaRPr>
          </a:p>
        </p:txBody>
      </p:sp>
      <p:sp>
        <p:nvSpPr>
          <p:cNvPr id="9" name="TextBox 8">
            <a:extLst>
              <a:ext uri="{FF2B5EF4-FFF2-40B4-BE49-F238E27FC236}">
                <a16:creationId xmlns:a16="http://schemas.microsoft.com/office/drawing/2014/main" id="{04C90062-78D7-7A06-EA1E-592919AE1B0F}"/>
              </a:ext>
            </a:extLst>
          </p:cNvPr>
          <p:cNvSpPr txBox="1"/>
          <p:nvPr/>
        </p:nvSpPr>
        <p:spPr>
          <a:xfrm>
            <a:off x="768225" y="4354353"/>
            <a:ext cx="2254649" cy="307777"/>
          </a:xfrm>
          <a:prstGeom prst="rect">
            <a:avLst/>
          </a:prstGeom>
          <a:noFill/>
        </p:spPr>
        <p:txBody>
          <a:bodyPr wrap="square">
            <a:spAutoFit/>
          </a:bodyPr>
          <a:lstStyle/>
          <a:p>
            <a:r>
              <a:rPr lang="en-GB" sz="1400" b="1" dirty="0">
                <a:solidFill>
                  <a:srgbClr val="0070C0"/>
                </a:solidFill>
              </a:rPr>
              <a:t>8. Select Layers To Show</a:t>
            </a:r>
            <a:endParaRPr lang="en-US" sz="1400" b="1" dirty="0">
              <a:solidFill>
                <a:srgbClr val="0070C0"/>
              </a:solidFill>
            </a:endParaRPr>
          </a:p>
        </p:txBody>
      </p:sp>
      <p:pic>
        <p:nvPicPr>
          <p:cNvPr id="13" name="Picture 12">
            <a:extLst>
              <a:ext uri="{FF2B5EF4-FFF2-40B4-BE49-F238E27FC236}">
                <a16:creationId xmlns:a16="http://schemas.microsoft.com/office/drawing/2014/main" id="{F2F657F1-7557-3E80-835F-0BD12B1D1F59}"/>
              </a:ext>
            </a:extLst>
          </p:cNvPr>
          <p:cNvPicPr>
            <a:picLocks noChangeAspect="1"/>
          </p:cNvPicPr>
          <p:nvPr/>
        </p:nvPicPr>
        <p:blipFill>
          <a:blip r:embed="rId2"/>
          <a:stretch>
            <a:fillRect/>
          </a:stretch>
        </p:blipFill>
        <p:spPr>
          <a:xfrm>
            <a:off x="4036819" y="1691030"/>
            <a:ext cx="5571890" cy="3090177"/>
          </a:xfrm>
          <a:prstGeom prst="rect">
            <a:avLst/>
          </a:prstGeom>
        </p:spPr>
      </p:pic>
      <p:sp>
        <p:nvSpPr>
          <p:cNvPr id="15" name="TextBox 14">
            <a:extLst>
              <a:ext uri="{FF2B5EF4-FFF2-40B4-BE49-F238E27FC236}">
                <a16:creationId xmlns:a16="http://schemas.microsoft.com/office/drawing/2014/main" id="{8CE6F5FA-74F9-1957-0259-98324614E17E}"/>
              </a:ext>
            </a:extLst>
          </p:cNvPr>
          <p:cNvSpPr txBox="1"/>
          <p:nvPr/>
        </p:nvSpPr>
        <p:spPr>
          <a:xfrm>
            <a:off x="792169" y="3537470"/>
            <a:ext cx="2795091" cy="307777"/>
          </a:xfrm>
          <a:prstGeom prst="rect">
            <a:avLst/>
          </a:prstGeom>
          <a:noFill/>
        </p:spPr>
        <p:txBody>
          <a:bodyPr wrap="square">
            <a:spAutoFit/>
          </a:bodyPr>
          <a:lstStyle/>
          <a:p>
            <a:r>
              <a:rPr lang="en-GB" sz="1400" b="1" dirty="0">
                <a:solidFill>
                  <a:srgbClr val="FF0000"/>
                </a:solidFill>
              </a:rPr>
              <a:t>7. View results</a:t>
            </a:r>
            <a:endParaRPr lang="en-US" sz="1400" b="1" dirty="0">
              <a:solidFill>
                <a:srgbClr val="FF0000"/>
              </a:solidFill>
            </a:endParaRPr>
          </a:p>
        </p:txBody>
      </p:sp>
      <p:cxnSp>
        <p:nvCxnSpPr>
          <p:cNvPr id="11" name="Connector: Curved 10">
            <a:extLst>
              <a:ext uri="{FF2B5EF4-FFF2-40B4-BE49-F238E27FC236}">
                <a16:creationId xmlns:a16="http://schemas.microsoft.com/office/drawing/2014/main" id="{289DF40C-EF67-DCE6-19AC-24C4AE35BB7D}"/>
              </a:ext>
            </a:extLst>
          </p:cNvPr>
          <p:cNvCxnSpPr>
            <a:cxnSpLocks/>
          </p:cNvCxnSpPr>
          <p:nvPr/>
        </p:nvCxnSpPr>
        <p:spPr>
          <a:xfrm flipV="1">
            <a:off x="3385921" y="3027957"/>
            <a:ext cx="3519317" cy="175325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AABB7D10-A981-3AE2-2A57-44DC263B5599}"/>
              </a:ext>
            </a:extLst>
          </p:cNvPr>
          <p:cNvCxnSpPr/>
          <p:nvPr/>
        </p:nvCxnSpPr>
        <p:spPr>
          <a:xfrm flipV="1">
            <a:off x="2720083" y="3845247"/>
            <a:ext cx="1706880" cy="66299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00B1CA-B4DC-EF99-FD00-D33F98E65B03}"/>
              </a:ext>
            </a:extLst>
          </p:cNvPr>
          <p:cNvSpPr txBox="1"/>
          <p:nvPr/>
        </p:nvSpPr>
        <p:spPr>
          <a:xfrm>
            <a:off x="745298" y="1310087"/>
            <a:ext cx="2513179" cy="380943"/>
          </a:xfrm>
          <a:prstGeom prst="rect">
            <a:avLst/>
          </a:prstGeom>
          <a:solidFill>
            <a:schemeClr val="bg1">
              <a:lumMod val="85000"/>
            </a:schemeClr>
          </a:solidFill>
        </p:spPr>
        <p:txBody>
          <a:bodyPr wrap="square">
            <a:spAutoFit/>
          </a:bodyPr>
          <a:lstStyle/>
          <a:p>
            <a:r>
              <a:rPr lang="en-GB" b="1" dirty="0"/>
              <a:t>Simulation Process</a:t>
            </a:r>
            <a:endParaRPr lang="en-US" b="1" dirty="0"/>
          </a:p>
        </p:txBody>
      </p:sp>
    </p:spTree>
    <p:extLst>
      <p:ext uri="{BB962C8B-B14F-4D97-AF65-F5344CB8AC3E}">
        <p14:creationId xmlns:p14="http://schemas.microsoft.com/office/powerpoint/2010/main" val="3959994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Validation and verification of the DT</a:t>
            </a:r>
            <a:endParaRPr lang="es-ES" dirty="0"/>
          </a:p>
        </p:txBody>
      </p:sp>
      <p:sp>
        <p:nvSpPr>
          <p:cNvPr id="5" name="TextBox 4">
            <a:extLst>
              <a:ext uri="{FF2B5EF4-FFF2-40B4-BE49-F238E27FC236}">
                <a16:creationId xmlns:a16="http://schemas.microsoft.com/office/drawing/2014/main" id="{8605DE31-0493-6344-DD80-A1EB774AC364}"/>
              </a:ext>
            </a:extLst>
          </p:cNvPr>
          <p:cNvSpPr txBox="1"/>
          <p:nvPr/>
        </p:nvSpPr>
        <p:spPr>
          <a:xfrm>
            <a:off x="711199" y="1069592"/>
            <a:ext cx="10290629" cy="646331"/>
          </a:xfrm>
          <a:prstGeom prst="rect">
            <a:avLst/>
          </a:prstGeom>
          <a:noFill/>
        </p:spPr>
        <p:txBody>
          <a:bodyPr wrap="square">
            <a:spAutoFit/>
          </a:bodyPr>
          <a:lstStyle/>
          <a:p>
            <a:r>
              <a:rPr lang="en-GB" dirty="0"/>
              <a:t>To test and validate the </a:t>
            </a:r>
            <a:r>
              <a:rPr lang="en-GB" b="1" dirty="0"/>
              <a:t>prediction stage</a:t>
            </a:r>
            <a:r>
              <a:rPr lang="en-GB" dirty="0"/>
              <a:t>, we have compared predicted data of historic periods with the real data of those period.</a:t>
            </a:r>
            <a:endParaRPr lang="en-US" dirty="0"/>
          </a:p>
        </p:txBody>
      </p:sp>
      <p:sp>
        <p:nvSpPr>
          <p:cNvPr id="8" name="TextBox 7">
            <a:extLst>
              <a:ext uri="{FF2B5EF4-FFF2-40B4-BE49-F238E27FC236}">
                <a16:creationId xmlns:a16="http://schemas.microsoft.com/office/drawing/2014/main" id="{4395871C-9FAF-F965-319A-6BF403021B86}"/>
              </a:ext>
            </a:extLst>
          </p:cNvPr>
          <p:cNvSpPr txBox="1"/>
          <p:nvPr/>
        </p:nvSpPr>
        <p:spPr>
          <a:xfrm>
            <a:off x="506817" y="2188191"/>
            <a:ext cx="4979583" cy="1384995"/>
          </a:xfrm>
          <a:prstGeom prst="rect">
            <a:avLst/>
          </a:prstGeom>
          <a:noFill/>
        </p:spPr>
        <p:txBody>
          <a:bodyPr wrap="square">
            <a:spAutoFit/>
          </a:bodyPr>
          <a:lstStyle/>
          <a:p>
            <a:r>
              <a:rPr lang="en-GB" sz="1400" dirty="0">
                <a:solidFill>
                  <a:schemeClr val="bg1">
                    <a:lumMod val="50000"/>
                  </a:schemeClr>
                </a:solidFill>
              </a:rPr>
              <a:t>Interval 19:00-20:00: </a:t>
            </a:r>
          </a:p>
          <a:p>
            <a:r>
              <a:rPr lang="en-GB" sz="1400" dirty="0">
                <a:solidFill>
                  <a:schemeClr val="bg1">
                    <a:lumMod val="50000"/>
                  </a:schemeClr>
                </a:solidFill>
              </a:rPr>
              <a:t>       Real historic data, total increase of bikes in docks (406) </a:t>
            </a:r>
          </a:p>
          <a:p>
            <a:r>
              <a:rPr lang="en-GB" sz="1400" dirty="0">
                <a:solidFill>
                  <a:schemeClr val="bg1">
                    <a:lumMod val="50000"/>
                  </a:schemeClr>
                </a:solidFill>
              </a:rPr>
              <a:t>       Predicted historic data, total increase of bikes in docks (176) </a:t>
            </a:r>
          </a:p>
          <a:p>
            <a:r>
              <a:rPr lang="en-GB" sz="1400" dirty="0">
                <a:solidFill>
                  <a:schemeClr val="bg1">
                    <a:lumMod val="50000"/>
                  </a:schemeClr>
                </a:solidFill>
              </a:rPr>
              <a:t>Interval 20:00-21:00:  </a:t>
            </a:r>
          </a:p>
          <a:p>
            <a:r>
              <a:rPr lang="en-GB" sz="1400" dirty="0">
                <a:solidFill>
                  <a:schemeClr val="bg1">
                    <a:lumMod val="50000"/>
                  </a:schemeClr>
                </a:solidFill>
              </a:rPr>
              <a:t>      Real historic data, total increase of bikes in docks (-50) </a:t>
            </a:r>
          </a:p>
          <a:p>
            <a:r>
              <a:rPr lang="en-GB" sz="1400" dirty="0">
                <a:solidFill>
                  <a:schemeClr val="bg1">
                    <a:lumMod val="50000"/>
                  </a:schemeClr>
                </a:solidFill>
              </a:rPr>
              <a:t>      Predicted historic data, total increase of bikes in docks (190) </a:t>
            </a:r>
            <a:endParaRPr lang="en-US" sz="1400" dirty="0">
              <a:solidFill>
                <a:schemeClr val="bg1">
                  <a:lumMod val="50000"/>
                </a:schemeClr>
              </a:solidFill>
            </a:endParaRPr>
          </a:p>
        </p:txBody>
      </p:sp>
      <p:pic>
        <p:nvPicPr>
          <p:cNvPr id="10" name="Picture 9">
            <a:extLst>
              <a:ext uri="{FF2B5EF4-FFF2-40B4-BE49-F238E27FC236}">
                <a16:creationId xmlns:a16="http://schemas.microsoft.com/office/drawing/2014/main" id="{2093C6C2-10E9-C48E-AB4D-3F8CC68977A8}"/>
              </a:ext>
            </a:extLst>
          </p:cNvPr>
          <p:cNvPicPr>
            <a:picLocks noChangeAspect="1"/>
          </p:cNvPicPr>
          <p:nvPr/>
        </p:nvPicPr>
        <p:blipFill>
          <a:blip r:embed="rId2"/>
          <a:stretch>
            <a:fillRect/>
          </a:stretch>
        </p:blipFill>
        <p:spPr>
          <a:xfrm>
            <a:off x="5374334" y="1518813"/>
            <a:ext cx="6106467" cy="4631293"/>
          </a:xfrm>
          <a:prstGeom prst="rect">
            <a:avLst/>
          </a:prstGeom>
        </p:spPr>
      </p:pic>
      <p:sp>
        <p:nvSpPr>
          <p:cNvPr id="4" name="TextBox 3">
            <a:extLst>
              <a:ext uri="{FF2B5EF4-FFF2-40B4-BE49-F238E27FC236}">
                <a16:creationId xmlns:a16="http://schemas.microsoft.com/office/drawing/2014/main" id="{E94213C3-756F-A26C-EEC7-76258E049BCA}"/>
              </a:ext>
            </a:extLst>
          </p:cNvPr>
          <p:cNvSpPr txBox="1"/>
          <p:nvPr/>
        </p:nvSpPr>
        <p:spPr>
          <a:xfrm>
            <a:off x="506817" y="1852442"/>
            <a:ext cx="6096000" cy="307777"/>
          </a:xfrm>
          <a:prstGeom prst="rect">
            <a:avLst/>
          </a:prstGeom>
          <a:noFill/>
        </p:spPr>
        <p:txBody>
          <a:bodyPr wrap="square">
            <a:spAutoFit/>
          </a:bodyPr>
          <a:lstStyle/>
          <a:p>
            <a:r>
              <a:rPr lang="en-GB" sz="1400" u="sng" dirty="0">
                <a:solidFill>
                  <a:schemeClr val="bg1">
                    <a:lumMod val="50000"/>
                  </a:schemeClr>
                </a:solidFill>
              </a:rPr>
              <a:t>Data From 26/10/2022</a:t>
            </a:r>
            <a:endParaRPr lang="en-US" sz="1400" u="sng" dirty="0">
              <a:solidFill>
                <a:schemeClr val="bg1">
                  <a:lumMod val="50000"/>
                </a:schemeClr>
              </a:solidFill>
            </a:endParaRPr>
          </a:p>
        </p:txBody>
      </p:sp>
      <p:sp>
        <p:nvSpPr>
          <p:cNvPr id="11" name="TextBox 10">
            <a:extLst>
              <a:ext uri="{FF2B5EF4-FFF2-40B4-BE49-F238E27FC236}">
                <a16:creationId xmlns:a16="http://schemas.microsoft.com/office/drawing/2014/main" id="{BDBE3674-2A3F-8A4C-81BA-C14A51C04B9C}"/>
              </a:ext>
            </a:extLst>
          </p:cNvPr>
          <p:cNvSpPr txBox="1"/>
          <p:nvPr/>
        </p:nvSpPr>
        <p:spPr>
          <a:xfrm>
            <a:off x="609602" y="3817358"/>
            <a:ext cx="4586512" cy="1600438"/>
          </a:xfrm>
          <a:prstGeom prst="rect">
            <a:avLst/>
          </a:prstGeom>
          <a:noFill/>
        </p:spPr>
        <p:txBody>
          <a:bodyPr wrap="square">
            <a:spAutoFit/>
          </a:bodyPr>
          <a:lstStyle/>
          <a:p>
            <a:pPr algn="just"/>
            <a:r>
              <a:rPr lang="en-GB" sz="1400" dirty="0"/>
              <a:t>Aggregating both period reduces the difference to only 10 bikes, but then we have a huge increment in differences in a station level. As we can see in this histogram of differences between predicted and real data. The number of stations perfectly estimated is 34 (6,73%) ,more than 3 times minor than the number of stations with a difference of 10 or more bikes , that is 117 (23,17%) </a:t>
            </a:r>
            <a:endParaRPr lang="en-US" sz="1400" dirty="0"/>
          </a:p>
        </p:txBody>
      </p:sp>
    </p:spTree>
    <p:extLst>
      <p:ext uri="{BB962C8B-B14F-4D97-AF65-F5344CB8AC3E}">
        <p14:creationId xmlns:p14="http://schemas.microsoft.com/office/powerpoint/2010/main" val="2046514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Validation and verification of the DT</a:t>
            </a:r>
            <a:endParaRPr lang="es-ES" dirty="0"/>
          </a:p>
        </p:txBody>
      </p:sp>
      <p:sp>
        <p:nvSpPr>
          <p:cNvPr id="5" name="TextBox 4">
            <a:extLst>
              <a:ext uri="{FF2B5EF4-FFF2-40B4-BE49-F238E27FC236}">
                <a16:creationId xmlns:a16="http://schemas.microsoft.com/office/drawing/2014/main" id="{CB3687F0-9748-1C9D-87DE-15615AACB37A}"/>
              </a:ext>
            </a:extLst>
          </p:cNvPr>
          <p:cNvSpPr txBox="1"/>
          <p:nvPr/>
        </p:nvSpPr>
        <p:spPr>
          <a:xfrm>
            <a:off x="696685" y="1031981"/>
            <a:ext cx="6096000" cy="369332"/>
          </a:xfrm>
          <a:prstGeom prst="rect">
            <a:avLst/>
          </a:prstGeom>
          <a:noFill/>
        </p:spPr>
        <p:txBody>
          <a:bodyPr wrap="square">
            <a:spAutoFit/>
          </a:bodyPr>
          <a:lstStyle/>
          <a:p>
            <a:r>
              <a:rPr lang="en-GB" dirty="0"/>
              <a:t>To test the functionality of the DT in the </a:t>
            </a:r>
            <a:r>
              <a:rPr lang="en-GB" b="1" dirty="0"/>
              <a:t>Optimization stage</a:t>
            </a:r>
            <a:endParaRPr lang="en-US" b="1" dirty="0"/>
          </a:p>
        </p:txBody>
      </p:sp>
      <p:sp>
        <p:nvSpPr>
          <p:cNvPr id="8" name="TextBox 7">
            <a:extLst>
              <a:ext uri="{FF2B5EF4-FFF2-40B4-BE49-F238E27FC236}">
                <a16:creationId xmlns:a16="http://schemas.microsoft.com/office/drawing/2014/main" id="{90B8C5BA-AB97-9630-3914-8B75B91642A5}"/>
              </a:ext>
            </a:extLst>
          </p:cNvPr>
          <p:cNvSpPr txBox="1"/>
          <p:nvPr/>
        </p:nvSpPr>
        <p:spPr>
          <a:xfrm>
            <a:off x="856343" y="1470068"/>
            <a:ext cx="6096000" cy="738664"/>
          </a:xfrm>
          <a:prstGeom prst="rect">
            <a:avLst/>
          </a:prstGeom>
          <a:noFill/>
        </p:spPr>
        <p:txBody>
          <a:bodyPr wrap="square">
            <a:spAutoFit/>
          </a:bodyPr>
          <a:lstStyle/>
          <a:p>
            <a:r>
              <a:rPr lang="en-GB" sz="1400" dirty="0"/>
              <a:t>-  Direct single test performing throw the GUI </a:t>
            </a:r>
          </a:p>
          <a:p>
            <a:r>
              <a:rPr lang="en-GB" sz="1400" dirty="0"/>
              <a:t>-  Indirect multiple tests doing though an evaluation of the </a:t>
            </a:r>
            <a:r>
              <a:rPr lang="en-GB" sz="1400" dirty="0" err="1"/>
              <a:t>bach</a:t>
            </a:r>
            <a:r>
              <a:rPr lang="en-GB" sz="1400" dirty="0"/>
              <a:t> module in python (batch_proccesin.py)</a:t>
            </a:r>
            <a:endParaRPr lang="en-US" sz="1400" dirty="0"/>
          </a:p>
        </p:txBody>
      </p:sp>
      <p:sp>
        <p:nvSpPr>
          <p:cNvPr id="10" name="TextBox 9">
            <a:extLst>
              <a:ext uri="{FF2B5EF4-FFF2-40B4-BE49-F238E27FC236}">
                <a16:creationId xmlns:a16="http://schemas.microsoft.com/office/drawing/2014/main" id="{65AF7620-E363-EDDF-F551-73632A5D9ECA}"/>
              </a:ext>
            </a:extLst>
          </p:cNvPr>
          <p:cNvSpPr txBox="1"/>
          <p:nvPr/>
        </p:nvSpPr>
        <p:spPr>
          <a:xfrm>
            <a:off x="696685" y="2360115"/>
            <a:ext cx="6096000" cy="369332"/>
          </a:xfrm>
          <a:prstGeom prst="rect">
            <a:avLst/>
          </a:prstGeom>
          <a:noFill/>
        </p:spPr>
        <p:txBody>
          <a:bodyPr wrap="square">
            <a:spAutoFit/>
          </a:bodyPr>
          <a:lstStyle/>
          <a:p>
            <a:r>
              <a:rPr lang="en-GB" sz="1800" dirty="0">
                <a:highlight>
                  <a:srgbClr val="C0C0C0"/>
                </a:highlight>
              </a:rPr>
              <a:t>Test with the GUI  </a:t>
            </a:r>
            <a:r>
              <a:rPr lang="en-GB" sz="1800" dirty="0"/>
              <a:t>-&gt;   </a:t>
            </a:r>
            <a:r>
              <a:rPr lang="en-GB" sz="1800" dirty="0">
                <a:solidFill>
                  <a:schemeClr val="accent6"/>
                </a:solidFill>
                <a:highlight>
                  <a:srgbClr val="FFFF00"/>
                </a:highlight>
              </a:rPr>
              <a:t>VIDEO DEMO</a:t>
            </a:r>
            <a:endParaRPr lang="en-US" dirty="0">
              <a:solidFill>
                <a:schemeClr val="accent6"/>
              </a:solidFill>
              <a:highlight>
                <a:srgbClr val="FFFF00"/>
              </a:highlight>
            </a:endParaRPr>
          </a:p>
        </p:txBody>
      </p:sp>
      <p:pic>
        <p:nvPicPr>
          <p:cNvPr id="12" name="Picture 11">
            <a:extLst>
              <a:ext uri="{FF2B5EF4-FFF2-40B4-BE49-F238E27FC236}">
                <a16:creationId xmlns:a16="http://schemas.microsoft.com/office/drawing/2014/main" id="{5C552BB8-7A76-380F-A158-ECFBF420F6CF}"/>
              </a:ext>
            </a:extLst>
          </p:cNvPr>
          <p:cNvPicPr>
            <a:picLocks noChangeAspect="1"/>
          </p:cNvPicPr>
          <p:nvPr/>
        </p:nvPicPr>
        <p:blipFill>
          <a:blip r:embed="rId2"/>
          <a:stretch>
            <a:fillRect/>
          </a:stretch>
        </p:blipFill>
        <p:spPr>
          <a:xfrm>
            <a:off x="696685" y="2844278"/>
            <a:ext cx="9697803" cy="2981741"/>
          </a:xfrm>
          <a:prstGeom prst="rect">
            <a:avLst/>
          </a:prstGeom>
        </p:spPr>
      </p:pic>
      <p:pic>
        <p:nvPicPr>
          <p:cNvPr id="14" name="Picture 13">
            <a:extLst>
              <a:ext uri="{FF2B5EF4-FFF2-40B4-BE49-F238E27FC236}">
                <a16:creationId xmlns:a16="http://schemas.microsoft.com/office/drawing/2014/main" id="{B4CAA086-F24E-BAB0-2232-22CD1C22326E}"/>
              </a:ext>
            </a:extLst>
          </p:cNvPr>
          <p:cNvPicPr>
            <a:picLocks noChangeAspect="1"/>
          </p:cNvPicPr>
          <p:nvPr/>
        </p:nvPicPr>
        <p:blipFill>
          <a:blip r:embed="rId3"/>
          <a:stretch>
            <a:fillRect/>
          </a:stretch>
        </p:blipFill>
        <p:spPr>
          <a:xfrm>
            <a:off x="696685" y="2930015"/>
            <a:ext cx="4763165" cy="2896004"/>
          </a:xfrm>
          <a:prstGeom prst="rect">
            <a:avLst/>
          </a:prstGeom>
        </p:spPr>
      </p:pic>
    </p:spTree>
    <p:extLst>
      <p:ext uri="{BB962C8B-B14F-4D97-AF65-F5344CB8AC3E}">
        <p14:creationId xmlns:p14="http://schemas.microsoft.com/office/powerpoint/2010/main" val="1815866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Validation and verification of the DT</a:t>
            </a:r>
            <a:endParaRPr lang="es-ES" dirty="0"/>
          </a:p>
        </p:txBody>
      </p:sp>
      <p:pic>
        <p:nvPicPr>
          <p:cNvPr id="4" name="Picture 3">
            <a:extLst>
              <a:ext uri="{FF2B5EF4-FFF2-40B4-BE49-F238E27FC236}">
                <a16:creationId xmlns:a16="http://schemas.microsoft.com/office/drawing/2014/main" id="{67926CC1-3AE4-022C-7763-274ADBB618C7}"/>
              </a:ext>
            </a:extLst>
          </p:cNvPr>
          <p:cNvPicPr>
            <a:picLocks noChangeAspect="1"/>
          </p:cNvPicPr>
          <p:nvPr/>
        </p:nvPicPr>
        <p:blipFill>
          <a:blip r:embed="rId2"/>
          <a:stretch>
            <a:fillRect/>
          </a:stretch>
        </p:blipFill>
        <p:spPr>
          <a:xfrm>
            <a:off x="707136" y="1922711"/>
            <a:ext cx="6096000" cy="4669276"/>
          </a:xfrm>
          <a:prstGeom prst="rect">
            <a:avLst/>
          </a:prstGeom>
        </p:spPr>
      </p:pic>
      <p:sp>
        <p:nvSpPr>
          <p:cNvPr id="6" name="TextBox 5">
            <a:extLst>
              <a:ext uri="{FF2B5EF4-FFF2-40B4-BE49-F238E27FC236}">
                <a16:creationId xmlns:a16="http://schemas.microsoft.com/office/drawing/2014/main" id="{F13C32CA-1C29-739E-F708-C06630B313E9}"/>
              </a:ext>
            </a:extLst>
          </p:cNvPr>
          <p:cNvSpPr txBox="1"/>
          <p:nvPr/>
        </p:nvSpPr>
        <p:spPr>
          <a:xfrm>
            <a:off x="707136" y="1405061"/>
            <a:ext cx="10338235" cy="369332"/>
          </a:xfrm>
          <a:prstGeom prst="rect">
            <a:avLst/>
          </a:prstGeom>
          <a:noFill/>
        </p:spPr>
        <p:txBody>
          <a:bodyPr wrap="square">
            <a:spAutoFit/>
          </a:bodyPr>
          <a:lstStyle/>
          <a:p>
            <a:r>
              <a:rPr lang="en-GB" dirty="0"/>
              <a:t>o Number of vehicles: 8 o Starting points for all vehicles: Station 34 / Station 1000 / Station 388</a:t>
            </a:r>
            <a:endParaRPr lang="en-US" dirty="0"/>
          </a:p>
        </p:txBody>
      </p:sp>
      <p:sp>
        <p:nvSpPr>
          <p:cNvPr id="8" name="TextBox 7">
            <a:extLst>
              <a:ext uri="{FF2B5EF4-FFF2-40B4-BE49-F238E27FC236}">
                <a16:creationId xmlns:a16="http://schemas.microsoft.com/office/drawing/2014/main" id="{785B48B6-0757-AD83-BB69-F53BF314470E}"/>
              </a:ext>
            </a:extLst>
          </p:cNvPr>
          <p:cNvSpPr txBox="1"/>
          <p:nvPr/>
        </p:nvSpPr>
        <p:spPr>
          <a:xfrm>
            <a:off x="707136" y="1031981"/>
            <a:ext cx="6096000" cy="369332"/>
          </a:xfrm>
          <a:prstGeom prst="rect">
            <a:avLst/>
          </a:prstGeom>
          <a:noFill/>
        </p:spPr>
        <p:txBody>
          <a:bodyPr wrap="square">
            <a:spAutoFit/>
          </a:bodyPr>
          <a:lstStyle/>
          <a:p>
            <a:r>
              <a:rPr lang="en-GB" sz="1800" dirty="0">
                <a:highlight>
                  <a:srgbClr val="C0C0C0"/>
                </a:highlight>
              </a:rPr>
              <a:t>Test with the Batch Processing Module</a:t>
            </a:r>
            <a:endParaRPr lang="en-US" dirty="0">
              <a:highlight>
                <a:srgbClr val="C0C0C0"/>
              </a:highlight>
            </a:endParaRPr>
          </a:p>
        </p:txBody>
      </p:sp>
      <p:sp>
        <p:nvSpPr>
          <p:cNvPr id="10" name="TextBox 9">
            <a:extLst>
              <a:ext uri="{FF2B5EF4-FFF2-40B4-BE49-F238E27FC236}">
                <a16:creationId xmlns:a16="http://schemas.microsoft.com/office/drawing/2014/main" id="{1AE635EE-8D9F-A678-4986-2F0E915E915C}"/>
              </a:ext>
            </a:extLst>
          </p:cNvPr>
          <p:cNvSpPr txBox="1"/>
          <p:nvPr/>
        </p:nvSpPr>
        <p:spPr>
          <a:xfrm>
            <a:off x="6803136" y="2630492"/>
            <a:ext cx="6096000" cy="1323439"/>
          </a:xfrm>
          <a:prstGeom prst="rect">
            <a:avLst/>
          </a:prstGeom>
          <a:noFill/>
        </p:spPr>
        <p:txBody>
          <a:bodyPr wrap="square">
            <a:spAutoFit/>
          </a:bodyPr>
          <a:lstStyle/>
          <a:p>
            <a:r>
              <a:rPr lang="en-GB" sz="1600" dirty="0"/>
              <a:t>o Complimentary KPIs value (docks KPI and </a:t>
            </a:r>
            <a:r>
              <a:rPr lang="en-GB" sz="1600" dirty="0">
                <a:solidFill>
                  <a:srgbClr val="0070C0"/>
                </a:solidFill>
              </a:rPr>
              <a:t>Bikes KP</a:t>
            </a:r>
            <a:r>
              <a:rPr lang="en-GB" sz="1600" dirty="0"/>
              <a:t>I) </a:t>
            </a:r>
          </a:p>
          <a:p>
            <a:r>
              <a:rPr lang="en-GB" sz="1600" dirty="0"/>
              <a:t>o </a:t>
            </a:r>
            <a:r>
              <a:rPr lang="en-GB" sz="1600" dirty="0">
                <a:solidFill>
                  <a:srgbClr val="0070C0"/>
                </a:solidFill>
              </a:rPr>
              <a:t>Time Operation </a:t>
            </a:r>
          </a:p>
          <a:p>
            <a:r>
              <a:rPr lang="en-GB" sz="1600" dirty="0"/>
              <a:t>o Number of vehicles</a:t>
            </a:r>
          </a:p>
          <a:p>
            <a:r>
              <a:rPr lang="en-GB" sz="1600" dirty="0"/>
              <a:t>o Station Departure</a:t>
            </a:r>
          </a:p>
          <a:p>
            <a:endParaRPr lang="en-US" sz="1600" dirty="0"/>
          </a:p>
        </p:txBody>
      </p:sp>
      <p:sp>
        <p:nvSpPr>
          <p:cNvPr id="12" name="TextBox 11">
            <a:extLst>
              <a:ext uri="{FF2B5EF4-FFF2-40B4-BE49-F238E27FC236}">
                <a16:creationId xmlns:a16="http://schemas.microsoft.com/office/drawing/2014/main" id="{0D2121AF-B1F1-3F57-3FA4-3D77CCDA5967}"/>
              </a:ext>
            </a:extLst>
          </p:cNvPr>
          <p:cNvSpPr txBox="1"/>
          <p:nvPr/>
        </p:nvSpPr>
        <p:spPr>
          <a:xfrm>
            <a:off x="6803136" y="2297508"/>
            <a:ext cx="4865746" cy="369332"/>
          </a:xfrm>
          <a:prstGeom prst="rect">
            <a:avLst/>
          </a:prstGeom>
          <a:noFill/>
        </p:spPr>
        <p:txBody>
          <a:bodyPr wrap="square">
            <a:spAutoFit/>
          </a:bodyPr>
          <a:lstStyle/>
          <a:p>
            <a:r>
              <a:rPr lang="en-GB" dirty="0">
                <a:highlight>
                  <a:srgbClr val="C0C0C0"/>
                </a:highlight>
              </a:rPr>
              <a:t>4</a:t>
            </a:r>
            <a:r>
              <a:rPr lang="en-GB" sz="1800" dirty="0">
                <a:highlight>
                  <a:srgbClr val="C0C0C0"/>
                </a:highlight>
              </a:rPr>
              <a:t> variables (FIX 2 -&gt; Relation Between the other 2</a:t>
            </a:r>
            <a:endParaRPr lang="en-US" dirty="0">
              <a:highlight>
                <a:srgbClr val="C0C0C0"/>
              </a:highlight>
            </a:endParaRPr>
          </a:p>
        </p:txBody>
      </p:sp>
    </p:spTree>
    <p:extLst>
      <p:ext uri="{BB962C8B-B14F-4D97-AF65-F5344CB8AC3E}">
        <p14:creationId xmlns:p14="http://schemas.microsoft.com/office/powerpoint/2010/main" val="751793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Validation and verification of the DT</a:t>
            </a:r>
            <a:endParaRPr lang="es-ES" dirty="0"/>
          </a:p>
        </p:txBody>
      </p:sp>
      <p:sp>
        <p:nvSpPr>
          <p:cNvPr id="5" name="TextBox 4">
            <a:extLst>
              <a:ext uri="{FF2B5EF4-FFF2-40B4-BE49-F238E27FC236}">
                <a16:creationId xmlns:a16="http://schemas.microsoft.com/office/drawing/2014/main" id="{6A38E197-3CA6-55B5-C739-D9472508797C}"/>
              </a:ext>
            </a:extLst>
          </p:cNvPr>
          <p:cNvSpPr txBox="1"/>
          <p:nvPr/>
        </p:nvSpPr>
        <p:spPr>
          <a:xfrm>
            <a:off x="725714" y="981278"/>
            <a:ext cx="10566400" cy="923330"/>
          </a:xfrm>
          <a:prstGeom prst="rect">
            <a:avLst/>
          </a:prstGeom>
          <a:noFill/>
        </p:spPr>
        <p:txBody>
          <a:bodyPr wrap="square">
            <a:spAutoFit/>
          </a:bodyPr>
          <a:lstStyle/>
          <a:p>
            <a:r>
              <a:rPr lang="en-GB" dirty="0"/>
              <a:t>For a more in – deep validation is necessary to define a result (aggregate function) to manage the different situations of variables on the whole. For this reason we have adopted the following aggregated function: </a:t>
            </a:r>
          </a:p>
          <a:p>
            <a:r>
              <a:rPr lang="en-GB" dirty="0"/>
              <a:t>	o Number of Starting Points (Stations) that meets the requirements</a:t>
            </a:r>
            <a:endParaRPr lang="en-US" dirty="0"/>
          </a:p>
        </p:txBody>
      </p:sp>
      <p:sp>
        <p:nvSpPr>
          <p:cNvPr id="9" name="TextBox 8">
            <a:extLst>
              <a:ext uri="{FF2B5EF4-FFF2-40B4-BE49-F238E27FC236}">
                <a16:creationId xmlns:a16="http://schemas.microsoft.com/office/drawing/2014/main" id="{D750C9BA-5EB0-104C-080A-5001A0C8C4E7}"/>
              </a:ext>
            </a:extLst>
          </p:cNvPr>
          <p:cNvSpPr txBox="1"/>
          <p:nvPr/>
        </p:nvSpPr>
        <p:spPr>
          <a:xfrm>
            <a:off x="725714" y="2138739"/>
            <a:ext cx="8011886" cy="2585323"/>
          </a:xfrm>
          <a:prstGeom prst="rect">
            <a:avLst/>
          </a:prstGeom>
          <a:noFill/>
        </p:spPr>
        <p:txBody>
          <a:bodyPr wrap="square">
            <a:spAutoFit/>
          </a:bodyPr>
          <a:lstStyle/>
          <a:p>
            <a:pPr marL="342900" indent="-342900" algn="just">
              <a:buAutoNum type="arabicPeriod"/>
            </a:pPr>
            <a:r>
              <a:rPr lang="en-GB" dirty="0"/>
              <a:t>Show the </a:t>
            </a:r>
            <a:r>
              <a:rPr lang="en-GB" dirty="0">
                <a:solidFill>
                  <a:srgbClr val="0070C0"/>
                </a:solidFill>
              </a:rPr>
              <a:t>number of stations </a:t>
            </a:r>
            <a:r>
              <a:rPr lang="en-GB" dirty="0"/>
              <a:t>(aggregate function) that for the selected number of teams (constant) reach the required dock KPI (constant) in function of the </a:t>
            </a:r>
            <a:r>
              <a:rPr lang="en-GB" dirty="0">
                <a:solidFill>
                  <a:schemeClr val="accent6"/>
                </a:solidFill>
              </a:rPr>
              <a:t>operational time </a:t>
            </a:r>
            <a:r>
              <a:rPr lang="en-GB" dirty="0"/>
              <a:t>(independent variable) </a:t>
            </a:r>
          </a:p>
          <a:p>
            <a:pPr marL="342900" indent="-342900" algn="just">
              <a:buAutoNum type="arabicPeriod"/>
            </a:pPr>
            <a:r>
              <a:rPr lang="en-GB" dirty="0"/>
              <a:t>Show the </a:t>
            </a:r>
            <a:r>
              <a:rPr lang="en-GB" dirty="0">
                <a:solidFill>
                  <a:srgbClr val="0070C0"/>
                </a:solidFill>
              </a:rPr>
              <a:t>number of stations </a:t>
            </a:r>
            <a:r>
              <a:rPr lang="en-GB" dirty="0"/>
              <a:t>(aggregate function) that for the selected time operation (constant) reach the required dock KPI (constant) in function of the </a:t>
            </a:r>
            <a:r>
              <a:rPr lang="en-GB" dirty="0">
                <a:solidFill>
                  <a:schemeClr val="accent6"/>
                </a:solidFill>
              </a:rPr>
              <a:t>number of teams </a:t>
            </a:r>
            <a:r>
              <a:rPr lang="en-GB" dirty="0"/>
              <a:t>involved (independent variable) </a:t>
            </a:r>
          </a:p>
          <a:p>
            <a:pPr marL="342900" indent="-342900" algn="just">
              <a:buAutoNum type="arabicPeriod"/>
            </a:pPr>
            <a:r>
              <a:rPr lang="en-GB" dirty="0"/>
              <a:t> Show the </a:t>
            </a:r>
            <a:r>
              <a:rPr lang="en-GB" dirty="0">
                <a:solidFill>
                  <a:srgbClr val="0070C0"/>
                </a:solidFill>
              </a:rPr>
              <a:t>number of stations </a:t>
            </a:r>
            <a:r>
              <a:rPr lang="en-GB" dirty="0"/>
              <a:t>(aggregate function) that for the selected time operation (constant) and number of teams (constant) in function of the </a:t>
            </a:r>
            <a:r>
              <a:rPr lang="en-GB" dirty="0">
                <a:solidFill>
                  <a:schemeClr val="accent6"/>
                </a:solidFill>
              </a:rPr>
              <a:t>dock KPI </a:t>
            </a:r>
            <a:r>
              <a:rPr lang="en-GB" dirty="0"/>
              <a:t>fixed value (independent variable)</a:t>
            </a:r>
            <a:endParaRPr lang="en-US" dirty="0"/>
          </a:p>
        </p:txBody>
      </p:sp>
    </p:spTree>
    <p:extLst>
      <p:ext uri="{BB962C8B-B14F-4D97-AF65-F5344CB8AC3E}">
        <p14:creationId xmlns:p14="http://schemas.microsoft.com/office/powerpoint/2010/main" val="2455861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2C92C9-3902-D617-194D-EB7B3CA674F2}"/>
              </a:ext>
            </a:extLst>
          </p:cNvPr>
          <p:cNvSpPr>
            <a:spLocks noGrp="1"/>
          </p:cNvSpPr>
          <p:nvPr>
            <p:ph type="title"/>
          </p:nvPr>
        </p:nvSpPr>
        <p:spPr/>
        <p:txBody>
          <a:bodyPr/>
          <a:lstStyle/>
          <a:p>
            <a:r>
              <a:rPr lang="es-ES" dirty="0" err="1"/>
              <a:t>Results</a:t>
            </a:r>
            <a:r>
              <a:rPr lang="es-ES" dirty="0"/>
              <a:t> and </a:t>
            </a:r>
            <a:r>
              <a:rPr lang="es-ES" dirty="0" err="1"/>
              <a:t>Analysis</a:t>
            </a:r>
            <a:br>
              <a:rPr lang="es-ES" dirty="0">
                <a:latin typeface="Poppins" pitchFamily="2" charset="77"/>
                <a:cs typeface="Poppins" pitchFamily="2" charset="77"/>
              </a:rPr>
            </a:br>
            <a:endParaRPr lang="es-ES" dirty="0"/>
          </a:p>
        </p:txBody>
      </p:sp>
    </p:spTree>
    <p:extLst>
      <p:ext uri="{BB962C8B-B14F-4D97-AF65-F5344CB8AC3E}">
        <p14:creationId xmlns:p14="http://schemas.microsoft.com/office/powerpoint/2010/main" val="29616307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Results</a:t>
            </a:r>
            <a:endParaRPr lang="es-ES" dirty="0"/>
          </a:p>
        </p:txBody>
      </p:sp>
      <p:sp>
        <p:nvSpPr>
          <p:cNvPr id="5" name="TextBox 4">
            <a:extLst>
              <a:ext uri="{FF2B5EF4-FFF2-40B4-BE49-F238E27FC236}">
                <a16:creationId xmlns:a16="http://schemas.microsoft.com/office/drawing/2014/main" id="{095389EC-25FB-6978-B915-CA0B3859D6F6}"/>
              </a:ext>
            </a:extLst>
          </p:cNvPr>
          <p:cNvSpPr txBox="1"/>
          <p:nvPr/>
        </p:nvSpPr>
        <p:spPr>
          <a:xfrm>
            <a:off x="560246" y="938963"/>
            <a:ext cx="4969697" cy="738664"/>
          </a:xfrm>
          <a:prstGeom prst="rect">
            <a:avLst/>
          </a:prstGeom>
          <a:noFill/>
        </p:spPr>
        <p:txBody>
          <a:bodyPr wrap="square">
            <a:spAutoFit/>
          </a:bodyPr>
          <a:lstStyle/>
          <a:p>
            <a:pPr algn="just"/>
            <a:r>
              <a:rPr lang="en-GB" sz="1400" dirty="0">
                <a:solidFill>
                  <a:srgbClr val="0070C0"/>
                </a:solidFill>
              </a:rPr>
              <a:t>1 </a:t>
            </a:r>
            <a:r>
              <a:rPr lang="en-GB" sz="1400" dirty="0" err="1">
                <a:solidFill>
                  <a:srgbClr val="0070C0"/>
                </a:solidFill>
              </a:rPr>
              <a:t>vehicule</a:t>
            </a:r>
            <a:r>
              <a:rPr lang="en-GB" sz="1400" dirty="0">
                <a:solidFill>
                  <a:srgbClr val="0070C0"/>
                </a:solidFill>
              </a:rPr>
              <a:t>– 60’ operation time – start from depot (</a:t>
            </a:r>
            <a:r>
              <a:rPr lang="en-GB" sz="1400" dirty="0" err="1">
                <a:solidFill>
                  <a:srgbClr val="0070C0"/>
                </a:solidFill>
              </a:rPr>
              <a:t>id.station</a:t>
            </a:r>
            <a:r>
              <a:rPr lang="en-GB" sz="1400" dirty="0">
                <a:solidFill>
                  <a:srgbClr val="0070C0"/>
                </a:solidFill>
              </a:rPr>
              <a:t>: 1000) showing all the stations(green) and the stations that needs relocations (red)</a:t>
            </a:r>
            <a:endParaRPr lang="en-US" sz="1400" dirty="0">
              <a:solidFill>
                <a:srgbClr val="0070C0"/>
              </a:solidFill>
            </a:endParaRPr>
          </a:p>
        </p:txBody>
      </p:sp>
      <p:pic>
        <p:nvPicPr>
          <p:cNvPr id="9" name="Picture 8">
            <a:extLst>
              <a:ext uri="{FF2B5EF4-FFF2-40B4-BE49-F238E27FC236}">
                <a16:creationId xmlns:a16="http://schemas.microsoft.com/office/drawing/2014/main" id="{95155272-883A-CD6D-3AC0-8CEA6688B43A}"/>
              </a:ext>
            </a:extLst>
          </p:cNvPr>
          <p:cNvPicPr>
            <a:picLocks noChangeAspect="1"/>
          </p:cNvPicPr>
          <p:nvPr/>
        </p:nvPicPr>
        <p:blipFill>
          <a:blip r:embed="rId2"/>
          <a:stretch>
            <a:fillRect/>
          </a:stretch>
        </p:blipFill>
        <p:spPr>
          <a:xfrm>
            <a:off x="523118" y="1649467"/>
            <a:ext cx="5006825" cy="4643293"/>
          </a:xfrm>
          <a:prstGeom prst="rect">
            <a:avLst/>
          </a:prstGeom>
        </p:spPr>
      </p:pic>
      <p:sp>
        <p:nvSpPr>
          <p:cNvPr id="12" name="TextBox 11">
            <a:extLst>
              <a:ext uri="{FF2B5EF4-FFF2-40B4-BE49-F238E27FC236}">
                <a16:creationId xmlns:a16="http://schemas.microsoft.com/office/drawing/2014/main" id="{060935F7-CB0E-68D5-A1E4-7F952FCA935A}"/>
              </a:ext>
            </a:extLst>
          </p:cNvPr>
          <p:cNvSpPr txBox="1"/>
          <p:nvPr/>
        </p:nvSpPr>
        <p:spPr>
          <a:xfrm>
            <a:off x="5820229" y="938963"/>
            <a:ext cx="6096000" cy="523220"/>
          </a:xfrm>
          <a:prstGeom prst="rect">
            <a:avLst/>
          </a:prstGeom>
          <a:noFill/>
        </p:spPr>
        <p:txBody>
          <a:bodyPr wrap="square">
            <a:spAutoFit/>
          </a:bodyPr>
          <a:lstStyle/>
          <a:p>
            <a:pPr algn="just"/>
            <a:r>
              <a:rPr lang="en-GB" sz="1400" dirty="0">
                <a:solidFill>
                  <a:srgbClr val="0070C0"/>
                </a:solidFill>
              </a:rPr>
              <a:t>2 </a:t>
            </a:r>
            <a:r>
              <a:rPr lang="en-GB" sz="1400" dirty="0" err="1">
                <a:solidFill>
                  <a:srgbClr val="0070C0"/>
                </a:solidFill>
              </a:rPr>
              <a:t>vehicule</a:t>
            </a:r>
            <a:r>
              <a:rPr lang="en-GB" sz="1400" dirty="0">
                <a:solidFill>
                  <a:srgbClr val="0070C0"/>
                </a:solidFill>
              </a:rPr>
              <a:t>– 50’ operation time – start from depot (</a:t>
            </a:r>
            <a:r>
              <a:rPr lang="en-GB" sz="1400" dirty="0" err="1">
                <a:solidFill>
                  <a:srgbClr val="0070C0"/>
                </a:solidFill>
              </a:rPr>
              <a:t>id.station</a:t>
            </a:r>
            <a:r>
              <a:rPr lang="en-GB" sz="1400" dirty="0">
                <a:solidFill>
                  <a:srgbClr val="0070C0"/>
                </a:solidFill>
              </a:rPr>
              <a:t>: 1000) showing all the only the stations that needs relocations (red) </a:t>
            </a:r>
            <a:endParaRPr lang="en-US" sz="1400" dirty="0">
              <a:solidFill>
                <a:srgbClr val="0070C0"/>
              </a:solidFill>
            </a:endParaRPr>
          </a:p>
        </p:txBody>
      </p:sp>
      <p:pic>
        <p:nvPicPr>
          <p:cNvPr id="14" name="Picture 13">
            <a:extLst>
              <a:ext uri="{FF2B5EF4-FFF2-40B4-BE49-F238E27FC236}">
                <a16:creationId xmlns:a16="http://schemas.microsoft.com/office/drawing/2014/main" id="{C6B3F782-F251-F909-B99C-504483476A34}"/>
              </a:ext>
            </a:extLst>
          </p:cNvPr>
          <p:cNvPicPr>
            <a:picLocks noChangeAspect="1"/>
          </p:cNvPicPr>
          <p:nvPr/>
        </p:nvPicPr>
        <p:blipFill>
          <a:blip r:embed="rId3"/>
          <a:stretch>
            <a:fillRect/>
          </a:stretch>
        </p:blipFill>
        <p:spPr>
          <a:xfrm>
            <a:off x="6023430" y="1649467"/>
            <a:ext cx="5194282" cy="4829189"/>
          </a:xfrm>
          <a:prstGeom prst="rect">
            <a:avLst/>
          </a:prstGeom>
        </p:spPr>
      </p:pic>
    </p:spTree>
    <p:extLst>
      <p:ext uri="{BB962C8B-B14F-4D97-AF65-F5344CB8AC3E}">
        <p14:creationId xmlns:p14="http://schemas.microsoft.com/office/powerpoint/2010/main" val="421840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Results</a:t>
            </a:r>
            <a:endParaRPr lang="es-ES" dirty="0"/>
          </a:p>
        </p:txBody>
      </p:sp>
      <p:sp>
        <p:nvSpPr>
          <p:cNvPr id="5" name="TextBox 4">
            <a:extLst>
              <a:ext uri="{FF2B5EF4-FFF2-40B4-BE49-F238E27FC236}">
                <a16:creationId xmlns:a16="http://schemas.microsoft.com/office/drawing/2014/main" id="{11A9C721-A0D3-FBD7-6BA8-789AEE4825B3}"/>
              </a:ext>
            </a:extLst>
          </p:cNvPr>
          <p:cNvSpPr txBox="1"/>
          <p:nvPr/>
        </p:nvSpPr>
        <p:spPr>
          <a:xfrm>
            <a:off x="560246" y="1069591"/>
            <a:ext cx="5376097" cy="738664"/>
          </a:xfrm>
          <a:prstGeom prst="rect">
            <a:avLst/>
          </a:prstGeom>
          <a:noFill/>
        </p:spPr>
        <p:txBody>
          <a:bodyPr wrap="square">
            <a:spAutoFit/>
          </a:bodyPr>
          <a:lstStyle/>
          <a:p>
            <a:pPr algn="just"/>
            <a:r>
              <a:rPr lang="en-GB" sz="1400" dirty="0">
                <a:solidFill>
                  <a:srgbClr val="0070C0"/>
                </a:solidFill>
              </a:rPr>
              <a:t>3 </a:t>
            </a:r>
            <a:r>
              <a:rPr lang="en-GB" sz="1400" dirty="0" err="1">
                <a:solidFill>
                  <a:srgbClr val="0070C0"/>
                </a:solidFill>
              </a:rPr>
              <a:t>vehicule</a:t>
            </a:r>
            <a:r>
              <a:rPr lang="en-GB" sz="1400" dirty="0">
                <a:solidFill>
                  <a:srgbClr val="0070C0"/>
                </a:solidFill>
              </a:rPr>
              <a:t>– 70’ operation time – start from different points showing only routes and the starting point of each route (first vehicle out of the current zoo,)</a:t>
            </a:r>
            <a:endParaRPr lang="en-US" sz="1400" dirty="0">
              <a:solidFill>
                <a:srgbClr val="0070C0"/>
              </a:solidFill>
            </a:endParaRPr>
          </a:p>
        </p:txBody>
      </p:sp>
      <p:sp>
        <p:nvSpPr>
          <p:cNvPr id="9" name="TextBox 8">
            <a:extLst>
              <a:ext uri="{FF2B5EF4-FFF2-40B4-BE49-F238E27FC236}">
                <a16:creationId xmlns:a16="http://schemas.microsoft.com/office/drawing/2014/main" id="{51E071CC-F6E6-7890-96B2-2558A48A5C21}"/>
              </a:ext>
            </a:extLst>
          </p:cNvPr>
          <p:cNvSpPr txBox="1"/>
          <p:nvPr/>
        </p:nvSpPr>
        <p:spPr>
          <a:xfrm>
            <a:off x="6096000" y="1069591"/>
            <a:ext cx="5776684" cy="523220"/>
          </a:xfrm>
          <a:prstGeom prst="rect">
            <a:avLst/>
          </a:prstGeom>
          <a:noFill/>
        </p:spPr>
        <p:txBody>
          <a:bodyPr wrap="square">
            <a:spAutoFit/>
          </a:bodyPr>
          <a:lstStyle/>
          <a:p>
            <a:pPr algn="just"/>
            <a:r>
              <a:rPr lang="en-GB" sz="1400" dirty="0">
                <a:solidFill>
                  <a:srgbClr val="0070C0"/>
                </a:solidFill>
              </a:rPr>
              <a:t>12 </a:t>
            </a:r>
            <a:r>
              <a:rPr lang="en-GB" sz="1400" dirty="0" err="1">
                <a:solidFill>
                  <a:srgbClr val="0070C0"/>
                </a:solidFill>
              </a:rPr>
              <a:t>vehicule</a:t>
            </a:r>
            <a:r>
              <a:rPr lang="en-GB" sz="1400" dirty="0">
                <a:solidFill>
                  <a:srgbClr val="0070C0"/>
                </a:solidFill>
              </a:rPr>
              <a:t>– 90’ operation time – start from depot (</a:t>
            </a:r>
            <a:r>
              <a:rPr lang="en-GB" sz="1400" dirty="0" err="1">
                <a:solidFill>
                  <a:srgbClr val="0070C0"/>
                </a:solidFill>
              </a:rPr>
              <a:t>id.station</a:t>
            </a:r>
            <a:r>
              <a:rPr lang="en-GB" sz="1400" dirty="0">
                <a:solidFill>
                  <a:srgbClr val="0070C0"/>
                </a:solidFill>
              </a:rPr>
              <a:t>: 34) showing only the </a:t>
            </a:r>
            <a:r>
              <a:rPr lang="en-GB" sz="1400" dirty="0" err="1">
                <a:solidFill>
                  <a:srgbClr val="0070C0"/>
                </a:solidFill>
              </a:rPr>
              <a:t>riutes</a:t>
            </a:r>
            <a:r>
              <a:rPr lang="en-GB" sz="1400" dirty="0">
                <a:solidFill>
                  <a:srgbClr val="0070C0"/>
                </a:solidFill>
              </a:rPr>
              <a:t> (Complete Relocation: KPIs = 0)</a:t>
            </a:r>
            <a:endParaRPr lang="en-US" sz="1400" dirty="0">
              <a:solidFill>
                <a:srgbClr val="0070C0"/>
              </a:solidFill>
            </a:endParaRPr>
          </a:p>
        </p:txBody>
      </p:sp>
      <p:pic>
        <p:nvPicPr>
          <p:cNvPr id="12" name="Picture 11">
            <a:extLst>
              <a:ext uri="{FF2B5EF4-FFF2-40B4-BE49-F238E27FC236}">
                <a16:creationId xmlns:a16="http://schemas.microsoft.com/office/drawing/2014/main" id="{6512705E-8F0F-6441-AB57-604AA0B19C0B}"/>
              </a:ext>
            </a:extLst>
          </p:cNvPr>
          <p:cNvPicPr>
            <a:picLocks noChangeAspect="1"/>
          </p:cNvPicPr>
          <p:nvPr/>
        </p:nvPicPr>
        <p:blipFill>
          <a:blip r:embed="rId2"/>
          <a:stretch>
            <a:fillRect/>
          </a:stretch>
        </p:blipFill>
        <p:spPr>
          <a:xfrm>
            <a:off x="6255659" y="1617153"/>
            <a:ext cx="5231190" cy="4889663"/>
          </a:xfrm>
          <a:prstGeom prst="rect">
            <a:avLst/>
          </a:prstGeom>
        </p:spPr>
      </p:pic>
      <p:pic>
        <p:nvPicPr>
          <p:cNvPr id="14" name="Picture 13">
            <a:extLst>
              <a:ext uri="{FF2B5EF4-FFF2-40B4-BE49-F238E27FC236}">
                <a16:creationId xmlns:a16="http://schemas.microsoft.com/office/drawing/2014/main" id="{60834E7B-B583-0C3F-103D-11C4C1EAE484}"/>
              </a:ext>
            </a:extLst>
          </p:cNvPr>
          <p:cNvPicPr>
            <a:picLocks noChangeAspect="1"/>
          </p:cNvPicPr>
          <p:nvPr/>
        </p:nvPicPr>
        <p:blipFill>
          <a:blip r:embed="rId3"/>
          <a:stretch>
            <a:fillRect/>
          </a:stretch>
        </p:blipFill>
        <p:spPr>
          <a:xfrm>
            <a:off x="705151" y="1808255"/>
            <a:ext cx="4905830" cy="4630663"/>
          </a:xfrm>
          <a:prstGeom prst="rect">
            <a:avLst/>
          </a:prstGeom>
        </p:spPr>
      </p:pic>
    </p:spTree>
    <p:extLst>
      <p:ext uri="{BB962C8B-B14F-4D97-AF65-F5344CB8AC3E}">
        <p14:creationId xmlns:p14="http://schemas.microsoft.com/office/powerpoint/2010/main" val="375931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Analysis of the Results</a:t>
            </a:r>
            <a:endParaRPr lang="es-ES" dirty="0"/>
          </a:p>
        </p:txBody>
      </p:sp>
      <p:sp>
        <p:nvSpPr>
          <p:cNvPr id="4" name="TextBox 3">
            <a:extLst>
              <a:ext uri="{FF2B5EF4-FFF2-40B4-BE49-F238E27FC236}">
                <a16:creationId xmlns:a16="http://schemas.microsoft.com/office/drawing/2014/main" id="{524EEF68-73D3-DCA7-3D77-66E6EC553E0A}"/>
              </a:ext>
            </a:extLst>
          </p:cNvPr>
          <p:cNvSpPr txBox="1"/>
          <p:nvPr/>
        </p:nvSpPr>
        <p:spPr>
          <a:xfrm>
            <a:off x="560245" y="1041458"/>
            <a:ext cx="11108635" cy="369332"/>
          </a:xfrm>
          <a:prstGeom prst="rect">
            <a:avLst/>
          </a:prstGeom>
          <a:noFill/>
        </p:spPr>
        <p:txBody>
          <a:bodyPr wrap="square">
            <a:spAutoFit/>
          </a:bodyPr>
          <a:lstStyle/>
          <a:p>
            <a:r>
              <a:rPr lang="en-GB" b="1" dirty="0"/>
              <a:t>1. Number of departure stations that require a specified operational time to reach the required dock KPI</a:t>
            </a:r>
            <a:endParaRPr lang="en-US" b="1" dirty="0"/>
          </a:p>
        </p:txBody>
      </p:sp>
      <p:pic>
        <p:nvPicPr>
          <p:cNvPr id="6" name="Picture 5">
            <a:extLst>
              <a:ext uri="{FF2B5EF4-FFF2-40B4-BE49-F238E27FC236}">
                <a16:creationId xmlns:a16="http://schemas.microsoft.com/office/drawing/2014/main" id="{BCBEBC46-A248-4CCB-8AC5-D6220A1CD8B8}"/>
              </a:ext>
            </a:extLst>
          </p:cNvPr>
          <p:cNvPicPr>
            <a:picLocks noChangeAspect="1"/>
          </p:cNvPicPr>
          <p:nvPr/>
        </p:nvPicPr>
        <p:blipFill>
          <a:blip r:embed="rId2"/>
          <a:stretch>
            <a:fillRect/>
          </a:stretch>
        </p:blipFill>
        <p:spPr>
          <a:xfrm>
            <a:off x="4907071" y="1828907"/>
            <a:ext cx="5951670" cy="3676495"/>
          </a:xfrm>
          <a:prstGeom prst="rect">
            <a:avLst/>
          </a:prstGeom>
        </p:spPr>
      </p:pic>
      <p:sp>
        <p:nvSpPr>
          <p:cNvPr id="8" name="TextBox 7">
            <a:extLst>
              <a:ext uri="{FF2B5EF4-FFF2-40B4-BE49-F238E27FC236}">
                <a16:creationId xmlns:a16="http://schemas.microsoft.com/office/drawing/2014/main" id="{F83A9A49-F66C-D18C-E53C-643195E59C5D}"/>
              </a:ext>
            </a:extLst>
          </p:cNvPr>
          <p:cNvSpPr txBox="1"/>
          <p:nvPr/>
        </p:nvSpPr>
        <p:spPr>
          <a:xfrm>
            <a:off x="560245" y="2054897"/>
            <a:ext cx="4100655" cy="738664"/>
          </a:xfrm>
          <a:prstGeom prst="rect">
            <a:avLst/>
          </a:prstGeom>
          <a:noFill/>
        </p:spPr>
        <p:txBody>
          <a:bodyPr wrap="square">
            <a:spAutoFit/>
          </a:bodyPr>
          <a:lstStyle/>
          <a:p>
            <a:pPr algn="just"/>
            <a:r>
              <a:rPr lang="en-GB" sz="1400" dirty="0"/>
              <a:t>The KPI chosen is that the number of stations without any available dock is at most 5 (1% of the total available stations). </a:t>
            </a:r>
            <a:endParaRPr lang="en-US" sz="1400" dirty="0"/>
          </a:p>
        </p:txBody>
      </p:sp>
      <p:sp>
        <p:nvSpPr>
          <p:cNvPr id="10" name="TextBox 9">
            <a:extLst>
              <a:ext uri="{FF2B5EF4-FFF2-40B4-BE49-F238E27FC236}">
                <a16:creationId xmlns:a16="http://schemas.microsoft.com/office/drawing/2014/main" id="{8BC984A9-C58C-8A61-3394-DA37127CD1A7}"/>
              </a:ext>
            </a:extLst>
          </p:cNvPr>
          <p:cNvSpPr txBox="1"/>
          <p:nvPr/>
        </p:nvSpPr>
        <p:spPr>
          <a:xfrm>
            <a:off x="560245" y="2899059"/>
            <a:ext cx="4208571" cy="307777"/>
          </a:xfrm>
          <a:prstGeom prst="rect">
            <a:avLst/>
          </a:prstGeom>
          <a:noFill/>
        </p:spPr>
        <p:txBody>
          <a:bodyPr wrap="square">
            <a:spAutoFit/>
          </a:bodyPr>
          <a:lstStyle/>
          <a:p>
            <a:pPr algn="just"/>
            <a:r>
              <a:rPr lang="en-GB" sz="1400" dirty="0"/>
              <a:t>The number of vehicles of eight has been taken</a:t>
            </a:r>
            <a:endParaRPr lang="en-US" sz="1400" dirty="0"/>
          </a:p>
        </p:txBody>
      </p:sp>
    </p:spTree>
    <p:extLst>
      <p:ext uri="{BB962C8B-B14F-4D97-AF65-F5344CB8AC3E}">
        <p14:creationId xmlns:p14="http://schemas.microsoft.com/office/powerpoint/2010/main" val="4895648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Analysis of the Results</a:t>
            </a:r>
            <a:endParaRPr lang="es-ES" dirty="0"/>
          </a:p>
        </p:txBody>
      </p:sp>
      <p:sp>
        <p:nvSpPr>
          <p:cNvPr id="4" name="TextBox 3">
            <a:extLst>
              <a:ext uri="{FF2B5EF4-FFF2-40B4-BE49-F238E27FC236}">
                <a16:creationId xmlns:a16="http://schemas.microsoft.com/office/drawing/2014/main" id="{524EEF68-73D3-DCA7-3D77-66E6EC553E0A}"/>
              </a:ext>
            </a:extLst>
          </p:cNvPr>
          <p:cNvSpPr txBox="1"/>
          <p:nvPr/>
        </p:nvSpPr>
        <p:spPr>
          <a:xfrm>
            <a:off x="560245" y="1041458"/>
            <a:ext cx="11108635" cy="646331"/>
          </a:xfrm>
          <a:prstGeom prst="rect">
            <a:avLst/>
          </a:prstGeom>
          <a:noFill/>
        </p:spPr>
        <p:txBody>
          <a:bodyPr wrap="square">
            <a:spAutoFit/>
          </a:bodyPr>
          <a:lstStyle/>
          <a:p>
            <a:r>
              <a:rPr lang="en-GB" b="1" dirty="0"/>
              <a:t>2. Number of departure stations that for a given time operation reach the required dock KPI in function of the number of vehicles</a:t>
            </a:r>
            <a:r>
              <a:rPr lang="en-GB" dirty="0"/>
              <a:t>:</a:t>
            </a:r>
            <a:endParaRPr lang="en-US" b="1" dirty="0"/>
          </a:p>
        </p:txBody>
      </p:sp>
      <p:sp>
        <p:nvSpPr>
          <p:cNvPr id="8" name="TextBox 7">
            <a:extLst>
              <a:ext uri="{FF2B5EF4-FFF2-40B4-BE49-F238E27FC236}">
                <a16:creationId xmlns:a16="http://schemas.microsoft.com/office/drawing/2014/main" id="{F83A9A49-F66C-D18C-E53C-643195E59C5D}"/>
              </a:ext>
            </a:extLst>
          </p:cNvPr>
          <p:cNvSpPr txBox="1"/>
          <p:nvPr/>
        </p:nvSpPr>
        <p:spPr>
          <a:xfrm>
            <a:off x="560245" y="2054897"/>
            <a:ext cx="4100655" cy="738664"/>
          </a:xfrm>
          <a:prstGeom prst="rect">
            <a:avLst/>
          </a:prstGeom>
          <a:noFill/>
        </p:spPr>
        <p:txBody>
          <a:bodyPr wrap="square">
            <a:spAutoFit/>
          </a:bodyPr>
          <a:lstStyle/>
          <a:p>
            <a:pPr algn="just"/>
            <a:r>
              <a:rPr lang="en-GB" sz="1400" dirty="0"/>
              <a:t>The KPI chosen is that the number of stations without any available dock is at most 5 (1% of the total available stations). </a:t>
            </a:r>
            <a:endParaRPr lang="en-US" sz="1400" dirty="0"/>
          </a:p>
        </p:txBody>
      </p:sp>
      <p:sp>
        <p:nvSpPr>
          <p:cNvPr id="10" name="TextBox 9">
            <a:extLst>
              <a:ext uri="{FF2B5EF4-FFF2-40B4-BE49-F238E27FC236}">
                <a16:creationId xmlns:a16="http://schemas.microsoft.com/office/drawing/2014/main" id="{8BC984A9-C58C-8A61-3394-DA37127CD1A7}"/>
              </a:ext>
            </a:extLst>
          </p:cNvPr>
          <p:cNvSpPr txBox="1"/>
          <p:nvPr/>
        </p:nvSpPr>
        <p:spPr>
          <a:xfrm>
            <a:off x="560245" y="2899059"/>
            <a:ext cx="4208571" cy="307777"/>
          </a:xfrm>
          <a:prstGeom prst="rect">
            <a:avLst/>
          </a:prstGeom>
          <a:noFill/>
        </p:spPr>
        <p:txBody>
          <a:bodyPr wrap="square">
            <a:spAutoFit/>
          </a:bodyPr>
          <a:lstStyle/>
          <a:p>
            <a:pPr algn="just"/>
            <a:r>
              <a:rPr lang="en-GB" sz="1400" dirty="0"/>
              <a:t>The Time Operation is  4000 seconds</a:t>
            </a:r>
            <a:endParaRPr lang="en-US" sz="1400" dirty="0"/>
          </a:p>
        </p:txBody>
      </p:sp>
      <p:pic>
        <p:nvPicPr>
          <p:cNvPr id="5" name="Picture 4">
            <a:extLst>
              <a:ext uri="{FF2B5EF4-FFF2-40B4-BE49-F238E27FC236}">
                <a16:creationId xmlns:a16="http://schemas.microsoft.com/office/drawing/2014/main" id="{AEF6C34B-92B1-3CBA-5450-3014654B19B7}"/>
              </a:ext>
            </a:extLst>
          </p:cNvPr>
          <p:cNvPicPr>
            <a:picLocks noChangeAspect="1"/>
          </p:cNvPicPr>
          <p:nvPr/>
        </p:nvPicPr>
        <p:blipFill>
          <a:blip r:embed="rId2"/>
          <a:stretch>
            <a:fillRect/>
          </a:stretch>
        </p:blipFill>
        <p:spPr>
          <a:xfrm>
            <a:off x="4925786" y="1906921"/>
            <a:ext cx="6148522" cy="3464643"/>
          </a:xfrm>
          <a:prstGeom prst="rect">
            <a:avLst/>
          </a:prstGeom>
        </p:spPr>
      </p:pic>
      <p:sp>
        <p:nvSpPr>
          <p:cNvPr id="7" name="TextBox 6">
            <a:extLst>
              <a:ext uri="{FF2B5EF4-FFF2-40B4-BE49-F238E27FC236}">
                <a16:creationId xmlns:a16="http://schemas.microsoft.com/office/drawing/2014/main" id="{23C50E03-8A99-F346-88C3-AAF7C475DA3A}"/>
              </a:ext>
            </a:extLst>
          </p:cNvPr>
          <p:cNvSpPr txBox="1"/>
          <p:nvPr/>
        </p:nvSpPr>
        <p:spPr>
          <a:xfrm>
            <a:off x="6096000" y="2008731"/>
            <a:ext cx="4395562" cy="369332"/>
          </a:xfrm>
          <a:prstGeom prst="rect">
            <a:avLst/>
          </a:prstGeom>
          <a:solidFill>
            <a:schemeClr val="bg1"/>
          </a:solidFill>
        </p:spPr>
        <p:txBody>
          <a:bodyPr wrap="none" rtlCol="0">
            <a:spAutoFit/>
          </a:bodyPr>
          <a:lstStyle/>
          <a:p>
            <a:r>
              <a:rPr lang="en-US" dirty="0">
                <a:solidFill>
                  <a:schemeClr val="bg1">
                    <a:lumMod val="65000"/>
                  </a:schemeClr>
                </a:solidFill>
              </a:rPr>
              <a:t>Vehicles Needed Changing Departure Station</a:t>
            </a:r>
          </a:p>
        </p:txBody>
      </p:sp>
    </p:spTree>
    <p:extLst>
      <p:ext uri="{BB962C8B-B14F-4D97-AF65-F5344CB8AC3E}">
        <p14:creationId xmlns:p14="http://schemas.microsoft.com/office/powerpoint/2010/main" val="9027393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n-GB" dirty="0"/>
              <a:t>Analysis of the Results</a:t>
            </a:r>
            <a:endParaRPr lang="es-ES" dirty="0"/>
          </a:p>
        </p:txBody>
      </p:sp>
      <p:sp>
        <p:nvSpPr>
          <p:cNvPr id="4" name="TextBox 3">
            <a:extLst>
              <a:ext uri="{FF2B5EF4-FFF2-40B4-BE49-F238E27FC236}">
                <a16:creationId xmlns:a16="http://schemas.microsoft.com/office/drawing/2014/main" id="{524EEF68-73D3-DCA7-3D77-66E6EC553E0A}"/>
              </a:ext>
            </a:extLst>
          </p:cNvPr>
          <p:cNvSpPr txBox="1"/>
          <p:nvPr/>
        </p:nvSpPr>
        <p:spPr>
          <a:xfrm>
            <a:off x="560245" y="1041458"/>
            <a:ext cx="11108635" cy="646331"/>
          </a:xfrm>
          <a:prstGeom prst="rect">
            <a:avLst/>
          </a:prstGeom>
          <a:noFill/>
        </p:spPr>
        <p:txBody>
          <a:bodyPr wrap="square">
            <a:spAutoFit/>
          </a:bodyPr>
          <a:lstStyle/>
          <a:p>
            <a:r>
              <a:rPr lang="en-GB" b="1" dirty="0"/>
              <a:t>3. Number of stations that for a given number of vehicles reach the required dock KPI in function of the operational time specified</a:t>
            </a:r>
            <a:endParaRPr lang="en-US" b="1" dirty="0"/>
          </a:p>
        </p:txBody>
      </p:sp>
      <p:sp>
        <p:nvSpPr>
          <p:cNvPr id="10" name="TextBox 9">
            <a:extLst>
              <a:ext uri="{FF2B5EF4-FFF2-40B4-BE49-F238E27FC236}">
                <a16:creationId xmlns:a16="http://schemas.microsoft.com/office/drawing/2014/main" id="{8BC984A9-C58C-8A61-3394-DA37127CD1A7}"/>
              </a:ext>
            </a:extLst>
          </p:cNvPr>
          <p:cNvSpPr txBox="1"/>
          <p:nvPr/>
        </p:nvSpPr>
        <p:spPr>
          <a:xfrm>
            <a:off x="560245" y="2899059"/>
            <a:ext cx="4208571" cy="307777"/>
          </a:xfrm>
          <a:prstGeom prst="rect">
            <a:avLst/>
          </a:prstGeom>
          <a:noFill/>
        </p:spPr>
        <p:txBody>
          <a:bodyPr wrap="square">
            <a:spAutoFit/>
          </a:bodyPr>
          <a:lstStyle/>
          <a:p>
            <a:pPr algn="just"/>
            <a:r>
              <a:rPr lang="en-GB" sz="1400" dirty="0"/>
              <a:t>The number of vehicles of eight has been taken</a:t>
            </a:r>
            <a:endParaRPr lang="en-US" sz="1400" dirty="0"/>
          </a:p>
        </p:txBody>
      </p:sp>
      <p:pic>
        <p:nvPicPr>
          <p:cNvPr id="5" name="Picture 4">
            <a:extLst>
              <a:ext uri="{FF2B5EF4-FFF2-40B4-BE49-F238E27FC236}">
                <a16:creationId xmlns:a16="http://schemas.microsoft.com/office/drawing/2014/main" id="{AB9BE46F-952E-F123-B756-880F74D666CC}"/>
              </a:ext>
            </a:extLst>
          </p:cNvPr>
          <p:cNvPicPr>
            <a:picLocks noChangeAspect="1"/>
          </p:cNvPicPr>
          <p:nvPr/>
        </p:nvPicPr>
        <p:blipFill>
          <a:blip r:embed="rId2"/>
          <a:stretch>
            <a:fillRect/>
          </a:stretch>
        </p:blipFill>
        <p:spPr>
          <a:xfrm>
            <a:off x="4768816" y="1687789"/>
            <a:ext cx="6577171" cy="3892138"/>
          </a:xfrm>
          <a:prstGeom prst="rect">
            <a:avLst/>
          </a:prstGeom>
        </p:spPr>
      </p:pic>
      <p:sp>
        <p:nvSpPr>
          <p:cNvPr id="7" name="TextBox 6">
            <a:extLst>
              <a:ext uri="{FF2B5EF4-FFF2-40B4-BE49-F238E27FC236}">
                <a16:creationId xmlns:a16="http://schemas.microsoft.com/office/drawing/2014/main" id="{0F395E3D-BE07-1850-AE7D-B5A929B64604}"/>
              </a:ext>
            </a:extLst>
          </p:cNvPr>
          <p:cNvSpPr txBox="1"/>
          <p:nvPr/>
        </p:nvSpPr>
        <p:spPr>
          <a:xfrm>
            <a:off x="560244" y="2591282"/>
            <a:ext cx="4208571" cy="307777"/>
          </a:xfrm>
          <a:prstGeom prst="rect">
            <a:avLst/>
          </a:prstGeom>
          <a:noFill/>
        </p:spPr>
        <p:txBody>
          <a:bodyPr wrap="square">
            <a:spAutoFit/>
          </a:bodyPr>
          <a:lstStyle/>
          <a:p>
            <a:pPr algn="just"/>
            <a:r>
              <a:rPr lang="en-GB" sz="1400" dirty="0"/>
              <a:t>The Time Operation is  4000 seconds</a:t>
            </a:r>
            <a:endParaRPr lang="en-US" sz="1400" dirty="0"/>
          </a:p>
        </p:txBody>
      </p:sp>
    </p:spTree>
    <p:extLst>
      <p:ext uri="{BB962C8B-B14F-4D97-AF65-F5344CB8AC3E}">
        <p14:creationId xmlns:p14="http://schemas.microsoft.com/office/powerpoint/2010/main" val="11517669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s-ES" sz="4000" dirty="0" err="1"/>
              <a:t>Limitations</a:t>
            </a:r>
            <a:endParaRPr lang="es-ES" sz="4000" dirty="0"/>
          </a:p>
        </p:txBody>
      </p:sp>
      <p:sp>
        <p:nvSpPr>
          <p:cNvPr id="4" name="TextBox 3">
            <a:extLst>
              <a:ext uri="{FF2B5EF4-FFF2-40B4-BE49-F238E27FC236}">
                <a16:creationId xmlns:a16="http://schemas.microsoft.com/office/drawing/2014/main" id="{D31D04B1-9AEF-4059-7597-3F56D53ED323}"/>
              </a:ext>
            </a:extLst>
          </p:cNvPr>
          <p:cNvSpPr txBox="1"/>
          <p:nvPr/>
        </p:nvSpPr>
        <p:spPr>
          <a:xfrm>
            <a:off x="560246" y="989922"/>
            <a:ext cx="10802698" cy="738664"/>
          </a:xfrm>
          <a:prstGeom prst="rect">
            <a:avLst/>
          </a:prstGeom>
          <a:noFill/>
        </p:spPr>
        <p:txBody>
          <a:bodyPr wrap="square">
            <a:spAutoFit/>
          </a:bodyPr>
          <a:lstStyle/>
          <a:p>
            <a:pPr algn="just"/>
            <a:r>
              <a:rPr lang="en-GB" sz="1400" b="1" dirty="0">
                <a:highlight>
                  <a:srgbClr val="C0C0C0"/>
                </a:highlight>
              </a:rPr>
              <a:t>QGIS: </a:t>
            </a:r>
            <a:r>
              <a:rPr lang="en-GB" sz="1400" dirty="0"/>
              <a:t>DT has been developed as </a:t>
            </a:r>
            <a:r>
              <a:rPr lang="en-GB" sz="1400" b="1" dirty="0"/>
              <a:t>a standalone QGIS App</a:t>
            </a:r>
            <a:r>
              <a:rPr lang="en-GB" sz="1400" dirty="0"/>
              <a:t>, which allows a much more compact and problem-oriented integration in addition to being much lighter in load. On the other side, it lacks all the geoprocessing and presentation tools that are already incorporated into the QGIS Application. There is the option to propose the DT as an additional geoprocessing tool to the QGIS toolbox as a plugin. </a:t>
            </a:r>
            <a:endParaRPr lang="en-US" sz="1400" dirty="0"/>
          </a:p>
        </p:txBody>
      </p:sp>
      <p:sp>
        <p:nvSpPr>
          <p:cNvPr id="6" name="TextBox 5">
            <a:extLst>
              <a:ext uri="{FF2B5EF4-FFF2-40B4-BE49-F238E27FC236}">
                <a16:creationId xmlns:a16="http://schemas.microsoft.com/office/drawing/2014/main" id="{280568AB-22A2-CFE6-D51D-5CAA88D52DC8}"/>
              </a:ext>
            </a:extLst>
          </p:cNvPr>
          <p:cNvSpPr txBox="1"/>
          <p:nvPr/>
        </p:nvSpPr>
        <p:spPr>
          <a:xfrm>
            <a:off x="560246" y="1773515"/>
            <a:ext cx="10802698" cy="738664"/>
          </a:xfrm>
          <a:prstGeom prst="rect">
            <a:avLst/>
          </a:prstGeom>
          <a:noFill/>
        </p:spPr>
        <p:txBody>
          <a:bodyPr wrap="square">
            <a:spAutoFit/>
          </a:bodyPr>
          <a:lstStyle/>
          <a:p>
            <a:pPr algn="just"/>
            <a:r>
              <a:rPr lang="en-GB" sz="1400" b="1" dirty="0">
                <a:highlight>
                  <a:srgbClr val="C0C0C0"/>
                </a:highlight>
              </a:rPr>
              <a:t>OR-Tools: </a:t>
            </a:r>
            <a:r>
              <a:rPr lang="en-GB" sz="1400" dirty="0"/>
              <a:t>If the vehicles starts at a </a:t>
            </a:r>
            <a:r>
              <a:rPr lang="en-GB" sz="1400" b="1" dirty="0"/>
              <a:t>station that currently have a demand for bicycles</a:t>
            </a:r>
            <a:r>
              <a:rPr lang="en-GB" sz="1400" dirty="0"/>
              <a:t>, it never finds the solution because is not avoid a penalty for a station where the vehicle is currently and also cannot bring bikes to it because the vehicles doesn’t have bikes on the beginning of the route, so it must be forced that this station does not have a demand for bicycles. </a:t>
            </a:r>
            <a:endParaRPr lang="en-US" sz="1400" dirty="0"/>
          </a:p>
        </p:txBody>
      </p:sp>
      <p:sp>
        <p:nvSpPr>
          <p:cNvPr id="8" name="TextBox 7">
            <a:extLst>
              <a:ext uri="{FF2B5EF4-FFF2-40B4-BE49-F238E27FC236}">
                <a16:creationId xmlns:a16="http://schemas.microsoft.com/office/drawing/2014/main" id="{63CA76BC-20FB-C1D7-64BC-B499F7EE1249}"/>
              </a:ext>
            </a:extLst>
          </p:cNvPr>
          <p:cNvSpPr txBox="1"/>
          <p:nvPr/>
        </p:nvSpPr>
        <p:spPr>
          <a:xfrm>
            <a:off x="560246" y="2682693"/>
            <a:ext cx="10802698" cy="2893100"/>
          </a:xfrm>
          <a:prstGeom prst="rect">
            <a:avLst/>
          </a:prstGeom>
          <a:noFill/>
        </p:spPr>
        <p:txBody>
          <a:bodyPr wrap="square">
            <a:spAutoFit/>
          </a:bodyPr>
          <a:lstStyle/>
          <a:p>
            <a:pPr algn="just"/>
            <a:r>
              <a:rPr lang="en-GB" sz="1400" b="1" dirty="0">
                <a:highlight>
                  <a:srgbClr val="C0C0C0"/>
                </a:highlight>
              </a:rPr>
              <a:t>Google API: </a:t>
            </a:r>
            <a:r>
              <a:rPr lang="en-GB" sz="1400" dirty="0"/>
              <a:t>Currently there are some limitations for obtain real time data use the Time Matrix Google API. </a:t>
            </a:r>
          </a:p>
          <a:p>
            <a:pPr algn="just"/>
            <a:r>
              <a:rPr lang="en-GB" sz="1400" dirty="0"/>
              <a:t>	</a:t>
            </a:r>
            <a:r>
              <a:rPr lang="en-GB" sz="1400" u="sng" dirty="0"/>
              <a:t>The first one </a:t>
            </a:r>
            <a:r>
              <a:rPr lang="en-GB" sz="1400" dirty="0"/>
              <a:t>is related to the </a:t>
            </a:r>
            <a:r>
              <a:rPr lang="en-GB" sz="1400" b="1" dirty="0"/>
              <a:t>simultaneous request </a:t>
            </a:r>
            <a:r>
              <a:rPr lang="en-GB" sz="1400" dirty="0"/>
              <a:t>we can do for </a:t>
            </a:r>
            <a:r>
              <a:rPr lang="en-GB" sz="1400" dirty="0" err="1"/>
              <a:t>cumpte</a:t>
            </a:r>
            <a:r>
              <a:rPr lang="en-GB" sz="1400" dirty="0"/>
              <a:t> time-distance matrix. For an initial station inventory of 500 	stations a new one needs to compute 500 requests to the API (distance for the new station to each of the current stations) but the API 	is restricted to 100. So we need to make multiples request or use a static time distance matrix.</a:t>
            </a:r>
          </a:p>
          <a:p>
            <a:pPr algn="just"/>
            <a:r>
              <a:rPr lang="en-GB" sz="1400" dirty="0"/>
              <a:t>	</a:t>
            </a:r>
            <a:r>
              <a:rPr lang="en-GB" sz="1400" u="sng" dirty="0"/>
              <a:t>The second one </a:t>
            </a:r>
            <a:r>
              <a:rPr lang="en-GB" sz="1400" dirty="0"/>
              <a:t>is related to the </a:t>
            </a:r>
            <a:r>
              <a:rPr lang="en-GB" sz="1400" b="1" dirty="0"/>
              <a:t>cost of using the API</a:t>
            </a:r>
            <a:r>
              <a:rPr lang="en-GB" sz="1400" dirty="0"/>
              <a:t>, that is available as trial for a short period of time (90 days) and for a cost  	</a:t>
            </a:r>
            <a:r>
              <a:rPr lang="en-GB" sz="1400" dirty="0" err="1"/>
              <a:t>imited</a:t>
            </a:r>
            <a:r>
              <a:rPr lang="en-GB" sz="1400" dirty="0"/>
              <a:t> number of requests. This is OK for a business purpose but maybe not for academic one. </a:t>
            </a:r>
          </a:p>
          <a:p>
            <a:pPr algn="just"/>
            <a:r>
              <a:rPr lang="en-GB" sz="1400" dirty="0"/>
              <a:t>	</a:t>
            </a:r>
            <a:r>
              <a:rPr lang="en-GB" sz="1400" u="sng" dirty="0"/>
              <a:t>The third </a:t>
            </a:r>
            <a:r>
              <a:rPr lang="en-GB" sz="1400" dirty="0"/>
              <a:t>is related to the </a:t>
            </a:r>
            <a:r>
              <a:rPr lang="en-GB" sz="1400" b="1" dirty="0"/>
              <a:t>static time distance recorded</a:t>
            </a:r>
            <a:r>
              <a:rPr lang="en-GB" sz="1400" dirty="0"/>
              <a:t>. Since the time from one station to another differs from one hour to another 	and depends on the day of the week, and weather conditions. In a realist environment we would need to make a new OD-Time Matrix 	for any daytime involve in the analyses that means as related in the first limitation a matrix of 500x500 = 250.000 request. And if we 	take care of the second limitations, this could be a prohibitive one. The compromise solution is using a static OD- Time Matrix and 	estimate new time distances taken as an average of the nearest previous stations. For future development and with little more time 	we have planned change the Google API for the </a:t>
            </a:r>
            <a:r>
              <a:rPr lang="en-GB" sz="1400" dirty="0">
                <a:solidFill>
                  <a:srgbClr val="0070C0"/>
                </a:solidFill>
              </a:rPr>
              <a:t>OpenStreetMap API </a:t>
            </a:r>
            <a:r>
              <a:rPr lang="en-GB" sz="1400" dirty="0"/>
              <a:t>together with the Open Source Routing Machine (Project OSRM · 	GitHub)</a:t>
            </a:r>
            <a:endParaRPr lang="en-US" sz="1400" dirty="0"/>
          </a:p>
        </p:txBody>
      </p:sp>
    </p:spTree>
    <p:extLst>
      <p:ext uri="{BB962C8B-B14F-4D97-AF65-F5344CB8AC3E}">
        <p14:creationId xmlns:p14="http://schemas.microsoft.com/office/powerpoint/2010/main" val="19503931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s-ES" sz="4000" dirty="0" err="1"/>
              <a:t>Limitations</a:t>
            </a:r>
            <a:endParaRPr lang="es-ES" sz="4000" dirty="0"/>
          </a:p>
        </p:txBody>
      </p:sp>
      <p:sp>
        <p:nvSpPr>
          <p:cNvPr id="4" name="TextBox 3">
            <a:extLst>
              <a:ext uri="{FF2B5EF4-FFF2-40B4-BE49-F238E27FC236}">
                <a16:creationId xmlns:a16="http://schemas.microsoft.com/office/drawing/2014/main" id="{D31D04B1-9AEF-4059-7597-3F56D53ED323}"/>
              </a:ext>
            </a:extLst>
          </p:cNvPr>
          <p:cNvSpPr txBox="1"/>
          <p:nvPr/>
        </p:nvSpPr>
        <p:spPr>
          <a:xfrm>
            <a:off x="560246" y="989922"/>
            <a:ext cx="10802698" cy="1384995"/>
          </a:xfrm>
          <a:prstGeom prst="rect">
            <a:avLst/>
          </a:prstGeom>
          <a:noFill/>
        </p:spPr>
        <p:txBody>
          <a:bodyPr wrap="square">
            <a:spAutoFit/>
          </a:bodyPr>
          <a:lstStyle/>
          <a:p>
            <a:pPr algn="just"/>
            <a:r>
              <a:rPr lang="en-GB" sz="1400" b="1" dirty="0">
                <a:highlight>
                  <a:srgbClr val="C0C0C0"/>
                </a:highlight>
              </a:rPr>
              <a:t>DT Implementation</a:t>
            </a:r>
            <a:r>
              <a:rPr lang="en-GB" sz="1400" dirty="0"/>
              <a:t>: The DT makes a </a:t>
            </a:r>
            <a:r>
              <a:rPr lang="en-GB" sz="1400" dirty="0">
                <a:solidFill>
                  <a:srgbClr val="0070C0"/>
                </a:solidFill>
              </a:rPr>
              <a:t>simplification by only taking stations that can be visited by vehicles </a:t>
            </a:r>
            <a:r>
              <a:rPr lang="en-GB" sz="1400" dirty="0"/>
              <a:t>that have a demand for either docks or bicycles. This is necessary since imposing a search for the entire set of stations, in many cases leads to non resolution of the problem. This simplification works in the sense that for the reduced number of stations it normally finds a solution, but on the other hand the solution found may not be the most efficient in the sense that  the vehicles  cannot visit stations without a shortage of bicycles or docks, and they can’t be used. as the closest bicycle collection or delivery points, in case it was necessary for the vehicle to avoid having to make greater trips in case the stations that they were allowed to visit were further away.</a:t>
            </a:r>
            <a:endParaRPr lang="en-US" sz="1400" dirty="0"/>
          </a:p>
        </p:txBody>
      </p:sp>
      <p:sp>
        <p:nvSpPr>
          <p:cNvPr id="5" name="TextBox 4">
            <a:extLst>
              <a:ext uri="{FF2B5EF4-FFF2-40B4-BE49-F238E27FC236}">
                <a16:creationId xmlns:a16="http://schemas.microsoft.com/office/drawing/2014/main" id="{21F1A085-8CB0-7CFD-4BE5-65B86BAF4713}"/>
              </a:ext>
            </a:extLst>
          </p:cNvPr>
          <p:cNvSpPr txBox="1"/>
          <p:nvPr/>
        </p:nvSpPr>
        <p:spPr>
          <a:xfrm>
            <a:off x="560246" y="2374917"/>
            <a:ext cx="10802698" cy="1600438"/>
          </a:xfrm>
          <a:prstGeom prst="rect">
            <a:avLst/>
          </a:prstGeom>
          <a:noFill/>
        </p:spPr>
        <p:txBody>
          <a:bodyPr wrap="square">
            <a:spAutoFit/>
          </a:bodyPr>
          <a:lstStyle/>
          <a:p>
            <a:pPr algn="just"/>
            <a:r>
              <a:rPr lang="en-GB" sz="1400" dirty="0"/>
              <a:t>There is also </a:t>
            </a:r>
            <a:r>
              <a:rPr lang="en-GB" sz="1400" b="1" dirty="0">
                <a:solidFill>
                  <a:srgbClr val="0070C0"/>
                </a:solidFill>
              </a:rPr>
              <a:t>no continuity between simulation cycles </a:t>
            </a:r>
            <a:r>
              <a:rPr lang="en-GB" sz="1400" dirty="0"/>
              <a:t>in the sense that the state of the vehicles in terms of the number of bicycles inside and the station where they finish the cycle are not incorporated into the next simulation cycle, but rather they begin the next cycle of simulation from the starting point defined for each vehicle and with its total capacity (that is, without bicycles inside). In real conditions, a calculation of the state of the vehicles at the end of the simulation would have to be developed in the processing module to take these variables as a starting point for the next cycle. The Real-Time mode can do an on-line transmission of the current state of the stations but do a very simple simulated prediction due to the time necessary to perform a complete prediction analysis. Is necessary to upload the files for the current day to have an input of real prediction data but this has not actually resulted for a real time development since the prediction stage take a lot of time. </a:t>
            </a:r>
            <a:endParaRPr lang="en-US" sz="1400" dirty="0"/>
          </a:p>
        </p:txBody>
      </p:sp>
    </p:spTree>
    <p:extLst>
      <p:ext uri="{BB962C8B-B14F-4D97-AF65-F5344CB8AC3E}">
        <p14:creationId xmlns:p14="http://schemas.microsoft.com/office/powerpoint/2010/main" val="6649606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s-ES" dirty="0" err="1"/>
              <a:t>Potential</a:t>
            </a:r>
            <a:r>
              <a:rPr lang="es-ES" dirty="0"/>
              <a:t> </a:t>
            </a:r>
            <a:r>
              <a:rPr lang="es-ES" dirty="0" err="1"/>
              <a:t>Improvements</a:t>
            </a:r>
            <a:endParaRPr lang="es-ES" dirty="0"/>
          </a:p>
        </p:txBody>
      </p:sp>
      <p:sp>
        <p:nvSpPr>
          <p:cNvPr id="4" name="TextBox 3">
            <a:extLst>
              <a:ext uri="{FF2B5EF4-FFF2-40B4-BE49-F238E27FC236}">
                <a16:creationId xmlns:a16="http://schemas.microsoft.com/office/drawing/2014/main" id="{7B720243-D947-6AF0-9DD6-71A10FD38108}"/>
              </a:ext>
            </a:extLst>
          </p:cNvPr>
          <p:cNvSpPr txBox="1"/>
          <p:nvPr/>
        </p:nvSpPr>
        <p:spPr>
          <a:xfrm>
            <a:off x="508793" y="967643"/>
            <a:ext cx="11071508" cy="523220"/>
          </a:xfrm>
          <a:prstGeom prst="rect">
            <a:avLst/>
          </a:prstGeom>
          <a:noFill/>
        </p:spPr>
        <p:txBody>
          <a:bodyPr wrap="square">
            <a:spAutoFit/>
          </a:bodyPr>
          <a:lstStyle/>
          <a:p>
            <a:pPr algn="just"/>
            <a:r>
              <a:rPr lang="en-GB" sz="1400" dirty="0"/>
              <a:t> Adaptation of the DT for the Consumption of </a:t>
            </a:r>
            <a:r>
              <a:rPr lang="en-GB" sz="1400" b="1" dirty="0"/>
              <a:t>live data according to ‘</a:t>
            </a:r>
            <a:r>
              <a:rPr lang="en-GB" sz="1400" b="1" dirty="0" err="1"/>
              <a:t>mds</a:t>
            </a:r>
            <a:r>
              <a:rPr lang="en-GB" sz="1400" b="1" dirty="0"/>
              <a:t>’ </a:t>
            </a:r>
            <a:r>
              <a:rPr lang="en-GB" sz="1400" dirty="0"/>
              <a:t>specifications that is the standard for communication between operator and public administrators: https://www.openmobilityfoundation.org/about-mds/</a:t>
            </a:r>
            <a:endParaRPr lang="en-US" sz="1400" dirty="0"/>
          </a:p>
        </p:txBody>
      </p:sp>
      <p:sp>
        <p:nvSpPr>
          <p:cNvPr id="6" name="TextBox 5">
            <a:extLst>
              <a:ext uri="{FF2B5EF4-FFF2-40B4-BE49-F238E27FC236}">
                <a16:creationId xmlns:a16="http://schemas.microsoft.com/office/drawing/2014/main" id="{A429DDBA-C927-F55B-12C5-F07AF5B3A747}"/>
              </a:ext>
            </a:extLst>
          </p:cNvPr>
          <p:cNvSpPr txBox="1"/>
          <p:nvPr/>
        </p:nvSpPr>
        <p:spPr>
          <a:xfrm>
            <a:off x="523244" y="1490182"/>
            <a:ext cx="10968608" cy="523220"/>
          </a:xfrm>
          <a:prstGeom prst="rect">
            <a:avLst/>
          </a:prstGeom>
          <a:noFill/>
        </p:spPr>
        <p:txBody>
          <a:bodyPr wrap="square">
            <a:spAutoFit/>
          </a:bodyPr>
          <a:lstStyle/>
          <a:p>
            <a:pPr algn="just"/>
            <a:r>
              <a:rPr lang="en-GB" sz="1400" dirty="0"/>
              <a:t>Introduce </a:t>
            </a:r>
            <a:r>
              <a:rPr lang="en-GB" sz="1400" b="1" dirty="0"/>
              <a:t>parameters related to the costs </a:t>
            </a:r>
            <a:r>
              <a:rPr lang="en-GB" sz="1400" dirty="0"/>
              <a:t>associated with both the non compliance of KPIs (in terms of penalization) and the cost of the number of vehicles available for optimization (in terms of CAPEX and in terms of OPEX)</a:t>
            </a:r>
            <a:endParaRPr lang="en-US" sz="1400" dirty="0"/>
          </a:p>
        </p:txBody>
      </p:sp>
      <p:sp>
        <p:nvSpPr>
          <p:cNvPr id="8" name="TextBox 7">
            <a:extLst>
              <a:ext uri="{FF2B5EF4-FFF2-40B4-BE49-F238E27FC236}">
                <a16:creationId xmlns:a16="http://schemas.microsoft.com/office/drawing/2014/main" id="{DC13E37B-F315-0C6A-2579-C8351ABFDF9A}"/>
              </a:ext>
            </a:extLst>
          </p:cNvPr>
          <p:cNvSpPr txBox="1"/>
          <p:nvPr/>
        </p:nvSpPr>
        <p:spPr>
          <a:xfrm>
            <a:off x="523244" y="2003528"/>
            <a:ext cx="10807973" cy="523220"/>
          </a:xfrm>
          <a:prstGeom prst="rect">
            <a:avLst/>
          </a:prstGeom>
          <a:noFill/>
        </p:spPr>
        <p:txBody>
          <a:bodyPr wrap="square">
            <a:spAutoFit/>
          </a:bodyPr>
          <a:lstStyle/>
          <a:p>
            <a:pPr algn="just"/>
            <a:r>
              <a:rPr lang="en-GB" sz="1400" dirty="0"/>
              <a:t>Adapt the Background Processing Module (Bach_processing.py) so it can be called directly through </a:t>
            </a:r>
            <a:r>
              <a:rPr lang="en-GB" sz="1400" b="1" dirty="0"/>
              <a:t>the command line </a:t>
            </a:r>
            <a:r>
              <a:rPr lang="en-GB" sz="1400" dirty="0"/>
              <a:t>with the appropriate specific parameters for by used for external scripts.</a:t>
            </a:r>
            <a:endParaRPr lang="en-US" sz="1400" dirty="0"/>
          </a:p>
        </p:txBody>
      </p:sp>
      <p:sp>
        <p:nvSpPr>
          <p:cNvPr id="10" name="TextBox 9">
            <a:extLst>
              <a:ext uri="{FF2B5EF4-FFF2-40B4-BE49-F238E27FC236}">
                <a16:creationId xmlns:a16="http://schemas.microsoft.com/office/drawing/2014/main" id="{13A35EE1-127D-F147-A368-B7FF30F72D81}"/>
              </a:ext>
            </a:extLst>
          </p:cNvPr>
          <p:cNvSpPr txBox="1"/>
          <p:nvPr/>
        </p:nvSpPr>
        <p:spPr>
          <a:xfrm>
            <a:off x="560246" y="2585741"/>
            <a:ext cx="4864370" cy="1600438"/>
          </a:xfrm>
          <a:prstGeom prst="rect">
            <a:avLst/>
          </a:prstGeom>
          <a:noFill/>
        </p:spPr>
        <p:txBody>
          <a:bodyPr wrap="square">
            <a:spAutoFit/>
          </a:bodyPr>
          <a:lstStyle/>
          <a:p>
            <a:pPr algn="just"/>
            <a:r>
              <a:rPr lang="en-GB" sz="1400" b="1" dirty="0"/>
              <a:t>Integration with other platforms</a:t>
            </a:r>
            <a:r>
              <a:rPr lang="en-GB" sz="1400" dirty="0"/>
              <a:t>. An example of integration with mosquito broker(to capture and send direct station status data from the stations), </a:t>
            </a:r>
            <a:r>
              <a:rPr lang="en-GB" sz="1400" dirty="0" err="1"/>
              <a:t>telegraf</a:t>
            </a:r>
            <a:r>
              <a:rPr lang="en-GB" sz="1400" dirty="0"/>
              <a:t> (to consume data form mosquito and do the transformations require), </a:t>
            </a:r>
            <a:r>
              <a:rPr lang="en-GB" sz="1400" dirty="0" err="1"/>
              <a:t>influxDb</a:t>
            </a:r>
            <a:r>
              <a:rPr lang="en-GB" sz="1400" dirty="0"/>
              <a:t> as online database storage of the data and Grafana (to show online data on a dashboard operator panel) (Tested for the Big Data in Digital Twin Course). </a:t>
            </a:r>
            <a:endParaRPr lang="en-US" sz="1400" dirty="0"/>
          </a:p>
        </p:txBody>
      </p:sp>
      <p:pic>
        <p:nvPicPr>
          <p:cNvPr id="12" name="Picture 11">
            <a:extLst>
              <a:ext uri="{FF2B5EF4-FFF2-40B4-BE49-F238E27FC236}">
                <a16:creationId xmlns:a16="http://schemas.microsoft.com/office/drawing/2014/main" id="{D8DD7039-CA22-5168-9E42-2A261A550BCD}"/>
              </a:ext>
            </a:extLst>
          </p:cNvPr>
          <p:cNvPicPr>
            <a:picLocks noChangeAspect="1"/>
          </p:cNvPicPr>
          <p:nvPr/>
        </p:nvPicPr>
        <p:blipFill>
          <a:blip r:embed="rId2"/>
          <a:stretch>
            <a:fillRect/>
          </a:stretch>
        </p:blipFill>
        <p:spPr>
          <a:xfrm>
            <a:off x="663904" y="4459280"/>
            <a:ext cx="4657053" cy="908538"/>
          </a:xfrm>
          <a:prstGeom prst="rect">
            <a:avLst/>
          </a:prstGeom>
        </p:spPr>
      </p:pic>
      <p:pic>
        <p:nvPicPr>
          <p:cNvPr id="14" name="Picture 13">
            <a:extLst>
              <a:ext uri="{FF2B5EF4-FFF2-40B4-BE49-F238E27FC236}">
                <a16:creationId xmlns:a16="http://schemas.microsoft.com/office/drawing/2014/main" id="{E5FA52F4-7B35-9E74-94AC-1F9823AAF7E4}"/>
              </a:ext>
            </a:extLst>
          </p:cNvPr>
          <p:cNvPicPr>
            <a:picLocks noChangeAspect="1"/>
          </p:cNvPicPr>
          <p:nvPr/>
        </p:nvPicPr>
        <p:blipFill>
          <a:blip r:embed="rId3"/>
          <a:stretch>
            <a:fillRect/>
          </a:stretch>
        </p:blipFill>
        <p:spPr>
          <a:xfrm>
            <a:off x="5659395" y="2711212"/>
            <a:ext cx="5920906" cy="2743103"/>
          </a:xfrm>
          <a:prstGeom prst="rect">
            <a:avLst/>
          </a:prstGeom>
        </p:spPr>
      </p:pic>
    </p:spTree>
    <p:extLst>
      <p:ext uri="{BB962C8B-B14F-4D97-AF65-F5344CB8AC3E}">
        <p14:creationId xmlns:p14="http://schemas.microsoft.com/office/powerpoint/2010/main" val="10894257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7744A-C6BB-DBCF-CF2D-95523D515D62}"/>
              </a:ext>
            </a:extLst>
          </p:cNvPr>
          <p:cNvSpPr>
            <a:spLocks noGrp="1"/>
          </p:cNvSpPr>
          <p:nvPr>
            <p:ph type="ctrTitle"/>
          </p:nvPr>
        </p:nvSpPr>
        <p:spPr>
          <a:xfrm>
            <a:off x="560246" y="351184"/>
            <a:ext cx="11108636" cy="865463"/>
          </a:xfrm>
        </p:spPr>
        <p:txBody>
          <a:bodyPr/>
          <a:lstStyle/>
          <a:p>
            <a:r>
              <a:rPr lang="es-ES" dirty="0" err="1"/>
              <a:t>Other</a:t>
            </a:r>
            <a:r>
              <a:rPr lang="es-ES" dirty="0"/>
              <a:t> Posible </a:t>
            </a:r>
            <a:r>
              <a:rPr lang="es-ES" dirty="0" err="1"/>
              <a:t>Researchs</a:t>
            </a:r>
            <a:endParaRPr lang="es-ES" dirty="0"/>
          </a:p>
        </p:txBody>
      </p:sp>
      <p:sp>
        <p:nvSpPr>
          <p:cNvPr id="4" name="TextBox 3">
            <a:extLst>
              <a:ext uri="{FF2B5EF4-FFF2-40B4-BE49-F238E27FC236}">
                <a16:creationId xmlns:a16="http://schemas.microsoft.com/office/drawing/2014/main" id="{14CFEC3D-DA5D-150B-E083-B1B039C6EDDB}"/>
              </a:ext>
            </a:extLst>
          </p:cNvPr>
          <p:cNvSpPr txBox="1"/>
          <p:nvPr/>
        </p:nvSpPr>
        <p:spPr>
          <a:xfrm>
            <a:off x="560246" y="1216647"/>
            <a:ext cx="4777873" cy="800219"/>
          </a:xfrm>
          <a:prstGeom prst="rect">
            <a:avLst/>
          </a:prstGeom>
          <a:noFill/>
        </p:spPr>
        <p:txBody>
          <a:bodyPr wrap="square">
            <a:spAutoFit/>
          </a:bodyPr>
          <a:lstStyle/>
          <a:p>
            <a:pPr algn="just"/>
            <a:r>
              <a:rPr lang="en-GB" sz="1400" dirty="0"/>
              <a:t>Possible </a:t>
            </a:r>
            <a:r>
              <a:rPr lang="en-GB" sz="1400" dirty="0">
                <a:solidFill>
                  <a:srgbClr val="0070C0"/>
                </a:solidFill>
              </a:rPr>
              <a:t>AI integration for data mining </a:t>
            </a:r>
            <a:r>
              <a:rPr lang="en-GB" sz="1400" dirty="0"/>
              <a:t>from the thousand of files that can be generating from the batch processing module within all the possible combinations of the input parameters</a:t>
            </a:r>
            <a:r>
              <a:rPr lang="en-GB" dirty="0"/>
              <a:t>.</a:t>
            </a:r>
            <a:endParaRPr lang="en-US" dirty="0"/>
          </a:p>
        </p:txBody>
      </p:sp>
      <p:pic>
        <p:nvPicPr>
          <p:cNvPr id="6" name="Picture 5">
            <a:extLst>
              <a:ext uri="{FF2B5EF4-FFF2-40B4-BE49-F238E27FC236}">
                <a16:creationId xmlns:a16="http://schemas.microsoft.com/office/drawing/2014/main" id="{CBD0C2D0-E960-3ACF-4A44-9A7445C5FAA1}"/>
              </a:ext>
            </a:extLst>
          </p:cNvPr>
          <p:cNvPicPr>
            <a:picLocks noChangeAspect="1"/>
          </p:cNvPicPr>
          <p:nvPr/>
        </p:nvPicPr>
        <p:blipFill>
          <a:blip r:embed="rId2"/>
          <a:stretch>
            <a:fillRect/>
          </a:stretch>
        </p:blipFill>
        <p:spPr>
          <a:xfrm>
            <a:off x="646744" y="2082110"/>
            <a:ext cx="1907175" cy="2639733"/>
          </a:xfrm>
          <a:prstGeom prst="rect">
            <a:avLst/>
          </a:prstGeom>
        </p:spPr>
      </p:pic>
      <p:pic>
        <p:nvPicPr>
          <p:cNvPr id="8" name="Picture 7">
            <a:extLst>
              <a:ext uri="{FF2B5EF4-FFF2-40B4-BE49-F238E27FC236}">
                <a16:creationId xmlns:a16="http://schemas.microsoft.com/office/drawing/2014/main" id="{8B3BEF77-2D5C-588F-C690-F5C04CBD5726}"/>
              </a:ext>
            </a:extLst>
          </p:cNvPr>
          <p:cNvPicPr>
            <a:picLocks noChangeAspect="1"/>
          </p:cNvPicPr>
          <p:nvPr/>
        </p:nvPicPr>
        <p:blipFill>
          <a:blip r:embed="rId3"/>
          <a:stretch>
            <a:fillRect/>
          </a:stretch>
        </p:blipFill>
        <p:spPr>
          <a:xfrm>
            <a:off x="2784821" y="2421924"/>
            <a:ext cx="2532228" cy="460405"/>
          </a:xfrm>
          <a:prstGeom prst="rect">
            <a:avLst/>
          </a:prstGeom>
        </p:spPr>
      </p:pic>
      <p:sp>
        <p:nvSpPr>
          <p:cNvPr id="10" name="TextBox 9">
            <a:extLst>
              <a:ext uri="{FF2B5EF4-FFF2-40B4-BE49-F238E27FC236}">
                <a16:creationId xmlns:a16="http://schemas.microsoft.com/office/drawing/2014/main" id="{962B08EB-EB36-9629-754D-07B11B73FE41}"/>
              </a:ext>
            </a:extLst>
          </p:cNvPr>
          <p:cNvSpPr txBox="1"/>
          <p:nvPr/>
        </p:nvSpPr>
        <p:spPr>
          <a:xfrm>
            <a:off x="5687176" y="1216647"/>
            <a:ext cx="5944578" cy="1169551"/>
          </a:xfrm>
          <a:prstGeom prst="rect">
            <a:avLst/>
          </a:prstGeom>
          <a:noFill/>
        </p:spPr>
        <p:txBody>
          <a:bodyPr wrap="square">
            <a:spAutoFit/>
          </a:bodyPr>
          <a:lstStyle/>
          <a:p>
            <a:pPr algn="just"/>
            <a:r>
              <a:rPr lang="en-GB" sz="1400" dirty="0"/>
              <a:t>The treatment of </a:t>
            </a:r>
            <a:r>
              <a:rPr lang="en-GB" sz="1400" dirty="0">
                <a:solidFill>
                  <a:srgbClr val="0070C0"/>
                </a:solidFill>
              </a:rPr>
              <a:t>more of one category </a:t>
            </a:r>
            <a:r>
              <a:rPr lang="en-GB" sz="1400" dirty="0"/>
              <a:t>of bike (mechanical and electrical) at the same time is also a research point. The current DT takes the total number of bikes in the station without analyses the category and thus the implication of this for the planification of the relocation task, like different vehicle types, different KPIs and penalizations. </a:t>
            </a:r>
            <a:endParaRPr lang="en-US" sz="1400" dirty="0"/>
          </a:p>
        </p:txBody>
      </p:sp>
      <p:pic>
        <p:nvPicPr>
          <p:cNvPr id="2050" name="Picture 2">
            <a:extLst>
              <a:ext uri="{FF2B5EF4-FFF2-40B4-BE49-F238E27FC236}">
                <a16:creationId xmlns:a16="http://schemas.microsoft.com/office/drawing/2014/main" id="{648C1731-C6E2-BE18-A072-9F10A73184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0623" y="2621234"/>
            <a:ext cx="1388339" cy="138833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36197E8-8957-C9DD-BF32-5F0202DD98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6973" y="2178788"/>
            <a:ext cx="2145744" cy="2145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4060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2C92C9-3902-D617-194D-EB7B3CA674F2}"/>
              </a:ext>
            </a:extLst>
          </p:cNvPr>
          <p:cNvSpPr>
            <a:spLocks noGrp="1"/>
          </p:cNvSpPr>
          <p:nvPr>
            <p:ph type="title"/>
          </p:nvPr>
        </p:nvSpPr>
        <p:spPr/>
        <p:txBody>
          <a:bodyPr/>
          <a:lstStyle/>
          <a:p>
            <a:r>
              <a:rPr lang="es-ES" dirty="0" err="1">
                <a:latin typeface="Poppins" pitchFamily="2" charset="77"/>
                <a:cs typeface="Poppins" pitchFamily="2" charset="77"/>
              </a:rPr>
              <a:t>Conclusions</a:t>
            </a:r>
            <a:br>
              <a:rPr lang="es-ES" dirty="0">
                <a:latin typeface="Poppins" pitchFamily="2" charset="77"/>
                <a:cs typeface="Poppins" pitchFamily="2" charset="77"/>
              </a:rPr>
            </a:br>
            <a:endParaRPr lang="es-ES" dirty="0"/>
          </a:p>
        </p:txBody>
      </p:sp>
    </p:spTree>
    <p:extLst>
      <p:ext uri="{BB962C8B-B14F-4D97-AF65-F5344CB8AC3E}">
        <p14:creationId xmlns:p14="http://schemas.microsoft.com/office/powerpoint/2010/main" val="851892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2656E20-985F-B689-9CB6-429CF4A792F9}"/>
              </a:ext>
            </a:extLst>
          </p:cNvPr>
          <p:cNvPicPr>
            <a:picLocks noChangeAspect="1"/>
          </p:cNvPicPr>
          <p:nvPr/>
        </p:nvPicPr>
        <p:blipFill>
          <a:blip r:embed="rId2"/>
          <a:stretch>
            <a:fillRect/>
          </a:stretch>
        </p:blipFill>
        <p:spPr>
          <a:xfrm>
            <a:off x="0" y="-126887"/>
            <a:ext cx="12263542" cy="6984887"/>
          </a:xfrm>
          <a:prstGeom prst="rect">
            <a:avLst/>
          </a:prstGeom>
        </p:spPr>
      </p:pic>
      <p:sp>
        <p:nvSpPr>
          <p:cNvPr id="5" name="Rectángulo 4">
            <a:extLst>
              <a:ext uri="{FF2B5EF4-FFF2-40B4-BE49-F238E27FC236}">
                <a16:creationId xmlns:a16="http://schemas.microsoft.com/office/drawing/2014/main" id="{DB9B4DD0-BEFE-57F2-03D4-FB4D7D95AFF3}"/>
              </a:ext>
            </a:extLst>
          </p:cNvPr>
          <p:cNvSpPr/>
          <p:nvPr/>
        </p:nvSpPr>
        <p:spPr>
          <a:xfrm>
            <a:off x="-740229" y="-638629"/>
            <a:ext cx="14107886" cy="9158514"/>
          </a:xfrm>
          <a:prstGeom prst="rect">
            <a:avLst/>
          </a:prstGeom>
          <a:solidFill>
            <a:schemeClr val="accent1">
              <a:lumMod val="50000"/>
              <a:alpha val="66000"/>
            </a:schemeClr>
          </a:solidFill>
          <a:ln>
            <a:solidFill>
              <a:schemeClr val="accent1">
                <a:shade val="15000"/>
                <a:alpha val="6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3200" dirty="0">
              <a:solidFill>
                <a:schemeClr val="bg1"/>
              </a:solidFill>
            </a:endParaRPr>
          </a:p>
        </p:txBody>
      </p:sp>
      <p:sp>
        <p:nvSpPr>
          <p:cNvPr id="3" name="Rectángulo: esquinas redondeadas 2">
            <a:extLst>
              <a:ext uri="{FF2B5EF4-FFF2-40B4-BE49-F238E27FC236}">
                <a16:creationId xmlns:a16="http://schemas.microsoft.com/office/drawing/2014/main" id="{91A46030-8AE7-4F7D-A1DD-BBBB8299AE08}"/>
              </a:ext>
            </a:extLst>
          </p:cNvPr>
          <p:cNvSpPr/>
          <p:nvPr/>
        </p:nvSpPr>
        <p:spPr>
          <a:xfrm>
            <a:off x="1191864" y="2241755"/>
            <a:ext cx="10012048" cy="2591502"/>
          </a:xfrm>
          <a:prstGeom prst="roundRect">
            <a:avLst/>
          </a:prstGeom>
          <a:solidFill>
            <a:schemeClr val="bg1">
              <a:alpha val="18000"/>
            </a:schemeClr>
          </a:solidFill>
          <a:ln>
            <a:solidFill>
              <a:schemeClr val="bg1">
                <a:lumMod val="9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ítulo 1">
            <a:extLst>
              <a:ext uri="{FF2B5EF4-FFF2-40B4-BE49-F238E27FC236}">
                <a16:creationId xmlns:a16="http://schemas.microsoft.com/office/drawing/2014/main" id="{B9678FAF-0FE7-CA6B-7DE8-BBF444283D66}"/>
              </a:ext>
            </a:extLst>
          </p:cNvPr>
          <p:cNvSpPr>
            <a:spLocks noGrp="1"/>
          </p:cNvSpPr>
          <p:nvPr>
            <p:ph type="ctrTitle"/>
          </p:nvPr>
        </p:nvSpPr>
        <p:spPr/>
        <p:txBody>
          <a:bodyPr/>
          <a:lstStyle/>
          <a:p>
            <a:r>
              <a:rPr lang="es-ES" dirty="0" err="1">
                <a:solidFill>
                  <a:schemeClr val="bg1"/>
                </a:solidFill>
              </a:rPr>
              <a:t>Conclusions</a:t>
            </a:r>
            <a:endParaRPr lang="es-ES" dirty="0">
              <a:solidFill>
                <a:schemeClr val="bg1"/>
              </a:solidFill>
            </a:endParaRPr>
          </a:p>
        </p:txBody>
      </p:sp>
      <p:sp>
        <p:nvSpPr>
          <p:cNvPr id="6" name="CuadroTexto 5">
            <a:extLst>
              <a:ext uri="{FF2B5EF4-FFF2-40B4-BE49-F238E27FC236}">
                <a16:creationId xmlns:a16="http://schemas.microsoft.com/office/drawing/2014/main" id="{431BF135-3BFA-3FBC-3670-E34212678328}"/>
              </a:ext>
            </a:extLst>
          </p:cNvPr>
          <p:cNvSpPr txBox="1"/>
          <p:nvPr/>
        </p:nvSpPr>
        <p:spPr>
          <a:xfrm>
            <a:off x="1654627" y="2438400"/>
            <a:ext cx="9681029" cy="1846659"/>
          </a:xfrm>
          <a:prstGeom prst="rect">
            <a:avLst/>
          </a:prstGeom>
          <a:noFill/>
        </p:spPr>
        <p:txBody>
          <a:bodyPr wrap="square" rtlCol="0">
            <a:spAutoFit/>
          </a:bodyPr>
          <a:lstStyle/>
          <a:p>
            <a:pPr marL="457200" indent="-457200">
              <a:buFont typeface="Wingdings" panose="05000000000000000000" pitchFamily="2" charset="2"/>
              <a:buChar char="ü"/>
            </a:pP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Tool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with</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great</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potential</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escalable</a:t>
            </a:r>
          </a:p>
          <a:p>
            <a:pPr marL="457200" indent="-457200">
              <a:buFont typeface="Wingdings" panose="05000000000000000000" pitchFamily="2" charset="2"/>
              <a:buChar char="ü"/>
            </a:pP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To</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be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standarized</a:t>
            </a:r>
            <a:endPar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endParaRPr>
          </a:p>
          <a:p>
            <a:pPr marL="457200" indent="-457200">
              <a:buFont typeface="Wingdings" panose="05000000000000000000" pitchFamily="2" charset="2"/>
              <a:buChar char="ü"/>
            </a:pP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Way</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to</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go</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to</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improve</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hourly</a:t>
            </a:r>
            <a:r>
              <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rPr>
              <a:t> </a:t>
            </a:r>
            <a:r>
              <a:rPr lang="es-ES" sz="3200" b="1" dirty="0" err="1">
                <a:solidFill>
                  <a:schemeClr val="bg1"/>
                </a:solidFill>
                <a:latin typeface="Poppins" panose="00000500000000000000" pitchFamily="2" charset="0"/>
                <a:ea typeface="Roboto Light" panose="02000000000000000000" pitchFamily="2" charset="0"/>
                <a:cs typeface="Poppins" panose="00000500000000000000" pitchFamily="2" charset="0"/>
              </a:rPr>
              <a:t>predictions</a:t>
            </a:r>
            <a:endParaRPr lang="es-ES" sz="3200" b="1" dirty="0">
              <a:solidFill>
                <a:schemeClr val="bg1"/>
              </a:solidFill>
              <a:latin typeface="Poppins" panose="00000500000000000000" pitchFamily="2" charset="0"/>
              <a:ea typeface="Roboto Light" panose="02000000000000000000" pitchFamily="2" charset="0"/>
              <a:cs typeface="Poppins" panose="00000500000000000000" pitchFamily="2" charset="0"/>
            </a:endParaRPr>
          </a:p>
          <a:p>
            <a:endParaRPr lang="es-ES" dirty="0"/>
          </a:p>
        </p:txBody>
      </p:sp>
    </p:spTree>
    <p:extLst>
      <p:ext uri="{BB962C8B-B14F-4D97-AF65-F5344CB8AC3E}">
        <p14:creationId xmlns:p14="http://schemas.microsoft.com/office/powerpoint/2010/main" val="2958823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2FD113-3481-6252-BABB-A908A991BACA}"/>
              </a:ext>
            </a:extLst>
          </p:cNvPr>
          <p:cNvSpPr>
            <a:spLocks noGrp="1"/>
          </p:cNvSpPr>
          <p:nvPr>
            <p:ph type="title"/>
          </p:nvPr>
        </p:nvSpPr>
        <p:spPr>
          <a:xfrm>
            <a:off x="1301994" y="3429000"/>
            <a:ext cx="9829801" cy="888140"/>
          </a:xfrm>
        </p:spPr>
        <p:txBody>
          <a:bodyPr/>
          <a:lstStyle/>
          <a:p>
            <a:r>
              <a:rPr lang="es-ES" sz="3600"/>
              <a:t>Thank you!</a:t>
            </a:r>
          </a:p>
        </p:txBody>
      </p:sp>
      <p:sp>
        <p:nvSpPr>
          <p:cNvPr id="3" name="Marcador de texto 2">
            <a:extLst>
              <a:ext uri="{FF2B5EF4-FFF2-40B4-BE49-F238E27FC236}">
                <a16:creationId xmlns:a16="http://schemas.microsoft.com/office/drawing/2014/main" id="{62EBC146-6C4B-294B-7B8F-8DB3C507177A}"/>
              </a:ext>
            </a:extLst>
          </p:cNvPr>
          <p:cNvSpPr>
            <a:spLocks noGrp="1"/>
          </p:cNvSpPr>
          <p:nvPr>
            <p:ph type="body" sz="quarter" idx="10"/>
          </p:nvPr>
        </p:nvSpPr>
        <p:spPr>
          <a:xfrm>
            <a:off x="3996260" y="4488450"/>
            <a:ext cx="4199479" cy="824464"/>
          </a:xfrm>
        </p:spPr>
        <p:txBody>
          <a:bodyPr/>
          <a:lstStyle/>
          <a:p>
            <a:pPr marL="0" indent="0" algn="ctr">
              <a:buNone/>
            </a:pPr>
            <a:r>
              <a:rPr lang="es-ES" sz="2000"/>
              <a:t>contact@digitaltwins.eu</a:t>
            </a:r>
          </a:p>
          <a:p>
            <a:pPr marL="0" indent="0" algn="ctr">
              <a:buNone/>
            </a:pPr>
            <a:r>
              <a:rPr lang="es-ES" sz="2000"/>
              <a:t>www.digitaltwins.eu</a:t>
            </a:r>
          </a:p>
        </p:txBody>
      </p:sp>
      <p:pic>
        <p:nvPicPr>
          <p:cNvPr id="4" name="Gráfico 3">
            <a:extLst>
              <a:ext uri="{FF2B5EF4-FFF2-40B4-BE49-F238E27FC236}">
                <a16:creationId xmlns:a16="http://schemas.microsoft.com/office/drawing/2014/main" id="{DF47B682-E0B1-3E18-CD9B-681A6855EF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48461" y="5484224"/>
            <a:ext cx="360000" cy="360000"/>
          </a:xfrm>
          <a:prstGeom prst="rect">
            <a:avLst/>
          </a:prstGeom>
        </p:spPr>
      </p:pic>
      <p:pic>
        <p:nvPicPr>
          <p:cNvPr id="5" name="Gráfico 4">
            <a:extLst>
              <a:ext uri="{FF2B5EF4-FFF2-40B4-BE49-F238E27FC236}">
                <a16:creationId xmlns:a16="http://schemas.microsoft.com/office/drawing/2014/main" id="{AB6B4968-F6D6-AC07-E93A-F40EBAD379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6896" y="5484224"/>
            <a:ext cx="360000" cy="360000"/>
          </a:xfrm>
          <a:prstGeom prst="rect">
            <a:avLst/>
          </a:prstGeom>
        </p:spPr>
      </p:pic>
      <p:pic>
        <p:nvPicPr>
          <p:cNvPr id="6" name="Imagen 5">
            <a:extLst>
              <a:ext uri="{FF2B5EF4-FFF2-40B4-BE49-F238E27FC236}">
                <a16:creationId xmlns:a16="http://schemas.microsoft.com/office/drawing/2014/main" id="{D2F6CC33-AC75-1F73-9D7D-7B8800654649}"/>
              </a:ext>
            </a:extLst>
          </p:cNvPr>
          <p:cNvPicPr>
            <a:picLocks noChangeAspect="1"/>
          </p:cNvPicPr>
          <p:nvPr/>
        </p:nvPicPr>
        <p:blipFill>
          <a:blip r:embed="rId6"/>
          <a:stretch>
            <a:fillRect/>
          </a:stretch>
        </p:blipFill>
        <p:spPr>
          <a:xfrm>
            <a:off x="4028629" y="1661542"/>
            <a:ext cx="4376532" cy="1502392"/>
          </a:xfrm>
          <a:prstGeom prst="rect">
            <a:avLst/>
          </a:prstGeom>
        </p:spPr>
      </p:pic>
    </p:spTree>
    <p:extLst>
      <p:ext uri="{BB962C8B-B14F-4D97-AF65-F5344CB8AC3E}">
        <p14:creationId xmlns:p14="http://schemas.microsoft.com/office/powerpoint/2010/main" val="398219937"/>
      </p:ext>
    </p:extLst>
  </p:cSld>
  <p:clrMapOvr>
    <a:masterClrMapping/>
  </p:clrMapOvr>
</p:sld>
</file>

<file path=ppt/theme/theme1.xml><?xml version="1.0" encoding="utf-8"?>
<a:theme xmlns:a="http://schemas.openxmlformats.org/drawingml/2006/main" name="Digital Twins - Cover">
  <a:themeElements>
    <a:clrScheme name="Personalizados 51">
      <a:dk1>
        <a:srgbClr val="000000"/>
      </a:dk1>
      <a:lt1>
        <a:srgbClr val="FFFFFF"/>
      </a:lt1>
      <a:dk2>
        <a:srgbClr val="1D1D18"/>
      </a:dk2>
      <a:lt2>
        <a:srgbClr val="E7E6E6"/>
      </a:lt2>
      <a:accent1>
        <a:srgbClr val="09A8AF"/>
      </a:accent1>
      <a:accent2>
        <a:srgbClr val="69EAE5"/>
      </a:accent2>
      <a:accent3>
        <a:srgbClr val="838383"/>
      </a:accent3>
      <a:accent4>
        <a:srgbClr val="B7B7B7"/>
      </a:accent4>
      <a:accent5>
        <a:srgbClr val="FCB326"/>
      </a:accent5>
      <a:accent6>
        <a:srgbClr val="FC3C26"/>
      </a:accent6>
      <a:hlink>
        <a:srgbClr val="09A8AF"/>
      </a:hlink>
      <a:folHlink>
        <a:srgbClr val="B073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Digital Twins - Subsection">
  <a:themeElements>
    <a:clrScheme name="Personalizados 49">
      <a:dk1>
        <a:srgbClr val="000000"/>
      </a:dk1>
      <a:lt1>
        <a:srgbClr val="FFFFFF"/>
      </a:lt1>
      <a:dk2>
        <a:srgbClr val="1D1D18"/>
      </a:dk2>
      <a:lt2>
        <a:srgbClr val="E7E6E6"/>
      </a:lt2>
      <a:accent1>
        <a:srgbClr val="69EAE5"/>
      </a:accent1>
      <a:accent2>
        <a:srgbClr val="09A8AF"/>
      </a:accent2>
      <a:accent3>
        <a:srgbClr val="838383"/>
      </a:accent3>
      <a:accent4>
        <a:srgbClr val="B7B7B7"/>
      </a:accent4>
      <a:accent5>
        <a:srgbClr val="FCB326"/>
      </a:accent5>
      <a:accent6>
        <a:srgbClr val="FC3C26"/>
      </a:accent6>
      <a:hlink>
        <a:srgbClr val="09A8AF"/>
      </a:hlink>
      <a:folHlink>
        <a:srgbClr val="B073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Digital Twins - End">
  <a:themeElements>
    <a:clrScheme name="Personalizados 53">
      <a:dk1>
        <a:srgbClr val="000000"/>
      </a:dk1>
      <a:lt1>
        <a:srgbClr val="FFFFFF"/>
      </a:lt1>
      <a:dk2>
        <a:srgbClr val="1D1D18"/>
      </a:dk2>
      <a:lt2>
        <a:srgbClr val="E7E6E6"/>
      </a:lt2>
      <a:accent1>
        <a:srgbClr val="09A8AF"/>
      </a:accent1>
      <a:accent2>
        <a:srgbClr val="69EAE5"/>
      </a:accent2>
      <a:accent3>
        <a:srgbClr val="838383"/>
      </a:accent3>
      <a:accent4>
        <a:srgbClr val="B7B7B7"/>
      </a:accent4>
      <a:accent5>
        <a:srgbClr val="FCB326"/>
      </a:accent5>
      <a:accent6>
        <a:srgbClr val="FC3C26"/>
      </a:accent6>
      <a:hlink>
        <a:srgbClr val="09A8AF"/>
      </a:hlink>
      <a:folHlink>
        <a:srgbClr val="B073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Digital Twins - Inner slides">
  <a:themeElements>
    <a:clrScheme name="Personalizados 52">
      <a:dk1>
        <a:srgbClr val="000000"/>
      </a:dk1>
      <a:lt1>
        <a:srgbClr val="FFFFFF"/>
      </a:lt1>
      <a:dk2>
        <a:srgbClr val="1D1D18"/>
      </a:dk2>
      <a:lt2>
        <a:srgbClr val="E7E6E6"/>
      </a:lt2>
      <a:accent1>
        <a:srgbClr val="09A8AF"/>
      </a:accent1>
      <a:accent2>
        <a:srgbClr val="69EAE5"/>
      </a:accent2>
      <a:accent3>
        <a:srgbClr val="838383"/>
      </a:accent3>
      <a:accent4>
        <a:srgbClr val="B7B7B7"/>
      </a:accent4>
      <a:accent5>
        <a:srgbClr val="FCB326"/>
      </a:accent5>
      <a:accent6>
        <a:srgbClr val="FC3C26"/>
      </a:accent6>
      <a:hlink>
        <a:srgbClr val="09A8AF"/>
      </a:hlink>
      <a:folHlink>
        <a:srgbClr val="B073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Tema d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9F78FCB3E60087409C8682BCE031F2A6" ma:contentTypeVersion="10" ma:contentTypeDescription="Crear nuevo documento." ma:contentTypeScope="" ma:versionID="ebb81c98c4d51b5cc49e54296e1da3b8">
  <xsd:schema xmlns:xsd="http://www.w3.org/2001/XMLSchema" xmlns:xs="http://www.w3.org/2001/XMLSchema" xmlns:p="http://schemas.microsoft.com/office/2006/metadata/properties" xmlns:ns2="daae047f-355a-4ed3-9e3b-1b531fd56c40" xmlns:ns3="5eefa0c7-2954-425f-804e-83406e51b2ce" targetNamespace="http://schemas.microsoft.com/office/2006/metadata/properties" ma:root="true" ma:fieldsID="53ca0ced48cfa7c2fc44887c31ebd1ac" ns2:_="" ns3:_="">
    <xsd:import namespace="daae047f-355a-4ed3-9e3b-1b531fd56c40"/>
    <xsd:import namespace="5eefa0c7-2954-425f-804e-83406e51b2c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ae047f-355a-4ed3-9e3b-1b531fd56c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eefa0c7-2954-425f-804e-83406e51b2ce"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BE3706-A51B-4BE2-8534-D38371E1F64E}">
  <ds:schemaRefs>
    <ds:schemaRef ds:uri="daae047f-355a-4ed3-9e3b-1b531fd56c40"/>
    <ds:schemaRef ds:uri="http://purl.org/dc/terms/"/>
    <ds:schemaRef ds:uri="http://schemas.openxmlformats.org/package/2006/metadata/core-properties"/>
    <ds:schemaRef ds:uri="http://schemas.microsoft.com/office/infopath/2007/PartnerControls"/>
    <ds:schemaRef ds:uri="http://purl.org/dc/elements/1.1/"/>
    <ds:schemaRef ds:uri="http://schemas.microsoft.com/office/2006/documentManagement/types"/>
    <ds:schemaRef ds:uri="http://schemas.microsoft.com/office/2006/metadata/properties"/>
    <ds:schemaRef ds:uri="5eefa0c7-2954-425f-804e-83406e51b2ce"/>
    <ds:schemaRef ds:uri="http://www.w3.org/XML/1998/namespace"/>
    <ds:schemaRef ds:uri="http://purl.org/dc/dcmitype/"/>
  </ds:schemaRefs>
</ds:datastoreItem>
</file>

<file path=customXml/itemProps2.xml><?xml version="1.0" encoding="utf-8"?>
<ds:datastoreItem xmlns:ds="http://schemas.openxmlformats.org/officeDocument/2006/customXml" ds:itemID="{420DD0A2-BE4F-4686-A393-C5C97A35E2D5}">
  <ds:schemaRefs>
    <ds:schemaRef ds:uri="http://schemas.microsoft.com/sharepoint/v3/contenttype/forms"/>
  </ds:schemaRefs>
</ds:datastoreItem>
</file>

<file path=customXml/itemProps3.xml><?xml version="1.0" encoding="utf-8"?>
<ds:datastoreItem xmlns:ds="http://schemas.openxmlformats.org/officeDocument/2006/customXml" ds:itemID="{62F24A3B-1A01-45CB-B8C1-79875A1051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ae047f-355a-4ed3-9e3b-1b531fd56c40"/>
    <ds:schemaRef ds:uri="5eefa0c7-2954-425f-804e-83406e51b2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bd3ba00-5fc5-4f23-a44f-e2ec4fcb3aca}" enabled="1" method="Privileged" siteId="{f752ca51-e762-497a-939c-e7b7813268af}" contentBits="0" removed="0"/>
</clbl:labelList>
</file>

<file path=docProps/app.xml><?xml version="1.0" encoding="utf-8"?>
<Properties xmlns="http://schemas.openxmlformats.org/officeDocument/2006/extended-properties" xmlns:vt="http://schemas.openxmlformats.org/officeDocument/2006/docPropsVTypes">
  <TotalTime>958</TotalTime>
  <Words>3144</Words>
  <Application>Microsoft Office PowerPoint</Application>
  <PresentationFormat>Widescreen</PresentationFormat>
  <Paragraphs>270</Paragraphs>
  <Slides>46</Slides>
  <Notes>1</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46</vt:i4>
      </vt:variant>
    </vt:vector>
  </HeadingPairs>
  <TitlesOfParts>
    <vt:vector size="62" baseType="lpstr">
      <vt:lpstr>Aptos</vt:lpstr>
      <vt:lpstr>Aptos Narrow</vt:lpstr>
      <vt:lpstr>Arial</vt:lpstr>
      <vt:lpstr>Calibri</vt:lpstr>
      <vt:lpstr>Calibri Light</vt:lpstr>
      <vt:lpstr>Encode Sans Light</vt:lpstr>
      <vt:lpstr>Nunito Sans</vt:lpstr>
      <vt:lpstr>Poppins</vt:lpstr>
      <vt:lpstr>Poppins SemiBold</vt:lpstr>
      <vt:lpstr>Roboto</vt:lpstr>
      <vt:lpstr>Roboto Light</vt:lpstr>
      <vt:lpstr>Wingdings</vt:lpstr>
      <vt:lpstr>Digital Twins - Cover</vt:lpstr>
      <vt:lpstr>Digital Twins - Subsection</vt:lpstr>
      <vt:lpstr>Digital Twins - End</vt:lpstr>
      <vt:lpstr>Digital Twins - Inner slides</vt:lpstr>
      <vt:lpstr>Project Bike Sharing Service</vt:lpstr>
      <vt:lpstr>Contents</vt:lpstr>
      <vt:lpstr>Introduction</vt:lpstr>
      <vt:lpstr>Team</vt:lpstr>
      <vt:lpstr>Bike Sharing Project</vt:lpstr>
      <vt:lpstr>Objectives  </vt:lpstr>
      <vt:lpstr>Main Objectives</vt:lpstr>
      <vt:lpstr>Technical Objectives</vt:lpstr>
      <vt:lpstr>Methodology </vt:lpstr>
      <vt:lpstr>Project Phases</vt:lpstr>
      <vt:lpstr>Existing Tenders Research</vt:lpstr>
      <vt:lpstr>KPIs Selection</vt:lpstr>
      <vt:lpstr>Selection of Tools</vt:lpstr>
      <vt:lpstr>Schedule</vt:lpstr>
      <vt:lpstr>DT development </vt:lpstr>
      <vt:lpstr>Development Phases</vt:lpstr>
      <vt:lpstr>Data collection and processing</vt:lpstr>
      <vt:lpstr>Data collection and processing</vt:lpstr>
      <vt:lpstr>Modelling of the physical system</vt:lpstr>
      <vt:lpstr>Modelling of the physical system</vt:lpstr>
      <vt:lpstr>Modelling of the physical system</vt:lpstr>
      <vt:lpstr>Modelling of the physical system</vt:lpstr>
      <vt:lpstr>Modelling of the physical system</vt:lpstr>
      <vt:lpstr>Modelling of the physical system</vt:lpstr>
      <vt:lpstr>Modelling of the physical system</vt:lpstr>
      <vt:lpstr>Modelling of the physical system</vt:lpstr>
      <vt:lpstr>Modelling of the physical system</vt:lpstr>
      <vt:lpstr>Simulation implementation</vt:lpstr>
      <vt:lpstr>Simulation implementation</vt:lpstr>
      <vt:lpstr>Validation and verification of the DT</vt:lpstr>
      <vt:lpstr>Validation and verification of the DT</vt:lpstr>
      <vt:lpstr>Validation and verification of the DT</vt:lpstr>
      <vt:lpstr>Validation and verification of the DT</vt:lpstr>
      <vt:lpstr>Results and Analysis </vt:lpstr>
      <vt:lpstr>Results</vt:lpstr>
      <vt:lpstr>Results</vt:lpstr>
      <vt:lpstr>Analysis of the Results</vt:lpstr>
      <vt:lpstr>Analysis of the Results</vt:lpstr>
      <vt:lpstr>Analysis of the Results</vt:lpstr>
      <vt:lpstr>Limitations</vt:lpstr>
      <vt:lpstr>Limitations</vt:lpstr>
      <vt:lpstr>Potential Improvements</vt:lpstr>
      <vt:lpstr>Other Posible Researchs</vt:lpstr>
      <vt:lpstr>Conclusions </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Gorka Areta</dc:creator>
  <cp:lastModifiedBy>ALBERTO NAVAS RUBIO</cp:lastModifiedBy>
  <cp:revision>20</cp:revision>
  <dcterms:created xsi:type="dcterms:W3CDTF">2023-01-09T09:00:02Z</dcterms:created>
  <dcterms:modified xsi:type="dcterms:W3CDTF">2024-09-20T08:12:50Z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0x0101009F78FCB3E60087409C8682BCE031F2A6</vt:lpwstr>
  </property>
  <property fmtid="{D5CDD505-2E9C-101B-9397-08002B2CF9AE}" pid="3" name="MediaServiceImageTags">
    <vt:lpwstr/>
  </property>
</Properties>
</file>